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e86fc5-7660-f058-b6cf-1f54392fbc94}">
          <p14:sldIdLst>
            <p14:sldId id="256"/>
            <p14:sldId id="257"/>
          </p14:sldIdLst>
        </p14:section>
        <p14:section name="Completed work" id="{ec886628-aefd-af6f-def6-b09f87bacca6}">
          <p14:sldIdLst>
            <p14:sldId id="258"/>
            <p14:sldId id="259"/>
            <p14:sldId id="260"/>
            <p14:sldId id="261"/>
            <p14:sldId id="262"/>
            <p14:sldId id="263"/>
            <p14:sldId id="264"/>
            <p14:sldId id="265"/>
            <p14:sldId id="266"/>
            <p14:sldId id="267"/>
          </p14:sldIdLst>
        </p14:section>
        <p14:section name="Plan" id="{38ac450e-0cce-1e64-2ade-2186724df604}">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Model load</c:v>
                </c:pt>
              </c:strCache>
            </c:strRef>
          </c:tx>
          <c:spPr>
            <a:solidFill>
              <a:srgbClr val="7FB3B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MASt3R · 266 s</c:v>
                  </c:pt>
                  <c:pt idx="1">
                    <c:v>VGGT · 80 s</c:v>
                  </c:pt>
                </c:lvl>
              </c:multiLvlStrCache>
            </c:multiLvlStrRef>
          </c:cat>
          <c:val>
            <c:numRef>
              <c:f>Sheet1!$B$2:$B$3</c:f>
              <c:numCache>
                <c:formatCode>General</c:formatCode>
                <c:ptCount val="2"/>
                <c:pt idx="0">
                  <c:v>22.93</c:v>
                </c:pt>
                <c:pt idx="1">
                  <c:v>36.12</c:v>
                </c:pt>
              </c:numCache>
            </c:numRef>
          </c:val>
        </c:ser>
        <c:ser>
          <c:idx val="1"/>
          <c:order val="1"/>
          <c:tx>
            <c:strRef>
              <c:f>Sheet1!$C$1</c:f>
              <c:strCache>
                <c:ptCount val="1"/>
                <c:pt idx="0">
                  <c:v>Preprocess</c:v>
                </c:pt>
              </c:strCache>
            </c:strRef>
          </c:tx>
          <c:spPr>
            <a:solidFill>
              <a:srgbClr val="CDD6D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MASt3R · 266 s</c:v>
                  </c:pt>
                  <c:pt idx="1">
                    <c:v>VGGT · 80 s</c:v>
                  </c:pt>
                </c:lvl>
              </c:multiLvlStrCache>
            </c:multiLvlStrRef>
          </c:cat>
          <c:val>
            <c:numRef>
              <c:f>Sheet1!$C$2:$C$3</c:f>
              <c:numCache>
                <c:formatCode>General</c:formatCode>
                <c:ptCount val="2"/>
                <c:pt idx="0">
                  <c:v>21</c:v>
                </c:pt>
                <c:pt idx="1">
                  <c:v>19.72</c:v>
                </c:pt>
              </c:numCache>
            </c:numRef>
          </c:val>
        </c:ser>
        <c:ser>
          <c:idx val="2"/>
          <c:order val="2"/>
          <c:tx>
            <c:strRef>
              <c:f>Sheet1!$D$1</c:f>
              <c:strCache>
                <c:ptCount val="1"/>
                <c:pt idx="0">
                  <c:v>Inference / global alignment</c:v>
                </c:pt>
              </c:strCache>
            </c:strRef>
          </c:tx>
          <c:spPr>
            <a:solidFill>
              <a:srgbClr val="1669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MASt3R · 266 s</c:v>
                  </c:pt>
                  <c:pt idx="1">
                    <c:v>VGGT · 80 s</c:v>
                  </c:pt>
                </c:lvl>
              </c:multiLvlStrCache>
            </c:multiLvlStrRef>
          </c:cat>
          <c:val>
            <c:numRef>
              <c:f>Sheet1!$D$2:$D$3</c:f>
              <c:numCache>
                <c:formatCode>General</c:formatCode>
                <c:ptCount val="2"/>
                <c:pt idx="0">
                  <c:v>211.58</c:v>
                </c:pt>
                <c:pt idx="1">
                  <c:v>16.61</c:v>
                </c:pt>
              </c:numCache>
            </c:numRef>
          </c:val>
        </c:ser>
        <c:ser>
          <c:idx val="3"/>
          <c:order val="3"/>
          <c:tx>
            <c:strRef>
              <c:f>Sheet1!$E$1</c:f>
              <c:strCache>
                <c:ptCount val="1"/>
                <c:pt idx="0">
                  <c:v>Other (unproject, write, overhead)</c:v>
                </c:pt>
              </c:strCache>
            </c:strRef>
          </c:tx>
          <c:spPr>
            <a:solidFill>
              <a:srgbClr val="D98A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MASt3R · 266 s</c:v>
                  </c:pt>
                  <c:pt idx="1">
                    <c:v>VGGT · 80 s</c:v>
                  </c:pt>
                </c:lvl>
              </c:multiLvlStrCache>
            </c:multiLvlStrRef>
          </c:cat>
          <c:val>
            <c:numRef>
              <c:f>Sheet1!$E$2:$E$3</c:f>
              <c:numCache>
                <c:formatCode>General</c:formatCode>
                <c:ptCount val="2"/>
                <c:pt idx="0">
                  <c:v>10.39</c:v>
                </c:pt>
                <c:pt idx="1">
                  <c:v>7.76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2326"/>
                </a:solidFill>
                <a:latin typeface="+mn-lt"/>
              </a:defRPr>
            </a:pPr>
            <a:endParaRPr lang="en-US"/>
          </a:p>
        </c:txPr>
        <c:crossAx val="2094734552"/>
        <c:crosses val="autoZero"/>
        <c:auto val="1"/>
        <c:lblAlgn val="ctr"/>
        <c:noMultiLvlLbl val="1"/>
      </c:catAx>
      <c:valAx>
        <c:axId val="2094734552"/>
        <c:scaling>
          <c:orientation val="minMax"/>
          <c:max val="280"/>
        </c:scaling>
        <c:delete val="0"/>
        <c:axPos val="b"/>
        <c:majorGridlines>
          <c:spPr>
            <a:ln w="9525" cap="flat">
              <a:solidFill>
                <a:srgbClr val="E3E9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E74"/>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050">
              <a:solidFill>
                <a:srgbClr val="5F6E7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Board measured in the reconstruction (true size = 1.00)</c:v>
                </c:pt>
              </c:strCache>
            </c:strRef>
          </c:tx>
          <c:spPr>
            <a:solidFill>
              <a:srgbClr val="1669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s-01</c:v>
                  </c:pt>
                  <c:pt idx="1">
                    <c:v>s-02</c:v>
                  </c:pt>
                  <c:pt idx="2">
                    <c:v>s-03</c:v>
                  </c:pt>
                  <c:pt idx="3">
                    <c:v>s-04</c:v>
                  </c:pt>
                  <c:pt idx="4">
                    <c:v>s-05</c:v>
                  </c:pt>
                </c:lvl>
              </c:multiLvlStrCache>
            </c:multiLvlStrRef>
          </c:cat>
          <c:val>
            <c:numRef>
              <c:f>Sheet1!$B$2:$B$6</c:f>
              <c:numCache>
                <c:formatCode>General</c:formatCode>
                <c:ptCount val="5"/>
                <c:pt idx="0">
                  <c:v>0.928</c:v>
                </c:pt>
                <c:pt idx="1">
                  <c:v>0.907</c:v>
                </c:pt>
                <c:pt idx="2">
                  <c:v>0.938</c:v>
                </c:pt>
                <c:pt idx="3">
                  <c:v>0.958</c:v>
                </c:pt>
                <c:pt idx="4">
                  <c:v>0.943</c:v>
                </c:pt>
              </c:numCache>
            </c:numRef>
          </c:val>
        </c:ser>
        <c:ser>
          <c:idx val="1"/>
          <c:order val="1"/>
          <c:tx>
            <c:strRef>
              <c:f>Sheet1!$C$1</c:f>
              <c:strCache>
                <c:ptCount val="1"/>
                <c:pt idx="0">
                  <c:v>Focal-length ratio, board poses ÷ VGGT</c:v>
                </c:pt>
              </c:strCache>
            </c:strRef>
          </c:tx>
          <c:spPr>
            <a:solidFill>
              <a:srgbClr val="7FB3B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s-01</c:v>
                  </c:pt>
                  <c:pt idx="1">
                    <c:v>s-02</c:v>
                  </c:pt>
                  <c:pt idx="2">
                    <c:v>s-03</c:v>
                  </c:pt>
                  <c:pt idx="3">
                    <c:v>s-04</c:v>
                  </c:pt>
                  <c:pt idx="4">
                    <c:v>s-05</c:v>
                  </c:pt>
                </c:lvl>
              </c:multiLvlStrCache>
            </c:multiLvlStrRef>
          </c:cat>
          <c:val>
            <c:numRef>
              <c:f>Sheet1!$C$2:$C$6</c:f>
              <c:numCache>
                <c:formatCode>General</c:formatCode>
                <c:ptCount val="5"/>
                <c:pt idx="0">
                  <c:v>0.935</c:v>
                </c:pt>
                <c:pt idx="1">
                  <c:v>0.918</c:v>
                </c:pt>
                <c:pt idx="2">
                  <c:v>0.938</c:v>
                </c:pt>
                <c:pt idx="3">
                  <c:v>0.956</c:v>
                </c:pt>
                <c:pt idx="4">
                  <c:v>0.944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2326"/>
                </a:solidFill>
                <a:latin typeface="+mn-lt"/>
              </a:defRPr>
            </a:pPr>
            <a:endParaRPr lang="en-US"/>
          </a:p>
        </c:txPr>
        <c:crossAx val="2094734552"/>
        <c:crosses val="autoZero"/>
        <c:auto val="1"/>
        <c:lblAlgn val="ctr"/>
        <c:noMultiLvlLbl val="1"/>
      </c:catAx>
      <c:valAx>
        <c:axId val="2094734552"/>
        <c:scaling>
          <c:orientation val="minMax"/>
          <c:max val="1"/>
          <c:min val="0.85"/>
        </c:scaling>
        <c:delete val="0"/>
        <c:axPos val="l"/>
        <c:majorGridlines>
          <c:spPr>
            <a:ln w="9525" cap="flat">
              <a:solidFill>
                <a:srgbClr val="E3E9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E74"/>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000">
              <a:solidFill>
                <a:srgbClr val="5F6E7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Mamadou · 0:30
Good morning, we are ProofShape: Tabeen, Mamadou and Yashi.
ProofShape turns a phone into a coarse 3D inspection tool. A supplier puts a part on a printed reference board, photographs it from about 30 angles, and gets back a 3D model in real millimetres. Later in the term that model is checked against the buyer's CAD, and the part gets Pass, Fail, Rescan or Unverifiable. The photo is one of our real test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Mamadou · 0:45
We work from one shared backlog: anyone can take any story, and a different teammate always reviews it.
I set up our cloud GPU, shot the test photos with Tabeen, calibrated the camera, added two alternative reconstruction backbones, and built the API service plus the app's result screen, 3D viewer and colouring.
Yashi built the CI and dev setup, most of the geometry chain, and most of the phone app, including the live capture loop and the app's connection to the service.
Tabeen froze the API contract and built board detection, the cloud deployment, the real-data fixes and next-view scoring, and ran our first phone attempt.
I present to slide 5, Yashi 6 to 9, Tabeen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Mamadou · 1:15
This is the whole system. The capture app runs in the phone's browser, so there is nothing to install. It sends photos and gyroscope readings over HTTPS to our reconstruction service.
The service is eight stages. It finds the printed board in each photo, which tells us where the camera was in millimetres. A large learned model, VGGT, reconstructs 3D from all the photos at once. The board converts that into real millimetres. Then we cut the part away from the board, fuse a mesh, clean it, label every vertex as observed or not with an uncertainty, and send a labelled model back to the phone.
As of this week every box here is built. What is not yet proven is the live connection between the two: the capture app talking to this service on a real phone, which we cover in slide 10.
The bottom row is what we built first, so three people could work in parallel: a frozen API contract, 142 golden test photos, a shared Tesla T4, and a protected main branch where every pull request needs a teammate's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Mamadou · 1:15
Learned reconstruction is the riskiest stage, so we made it swappable.
VGGT is our primary backbone: one forward pass over all the photos returns a camera pose and a depth for every pixel. I added MASt3R and COLMAP behind a single config value. All three write the same four files, so nothing downstream changes; MASt3R's output went straight into our alignment stage with no code changes.
The chart shows measured time per stage on our T4, on the same 30 photos. VGGT takes 80 seconds, almost half of it loading the model. MASt3R takes 266, nearly all in its iterative alignment. COLMAP registered only 28 of 30 photos, so it refused rather than invent two views, which we treat as a correct answer.
That 80 seconds also settled a design question: live interactive feedback is out of reach, so batch capture is what we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Mamadou · 1:15
VGGT's output has no units. Real millimetres come from the printed board.
First, we detect the board's coded squares in every photo and solve where the camera was. That worked on 138 of 142 photos; the four failures were one blurred shot and three taken almost level with the table. The figure shows real camera positions for one capture.
Second, we calibrate the lens from the same board, at 1.2 pixels reprojection error. That is internal consistency, not accuracy.
Third, one similarity transform lines VGGT's cameras up with the board's cameras, which puts the whole model in board millimetres.
Then we used the board as a ruler. Inside the reconstruction it comes out 4 to 9 percent small on every object, and that tracks the focal-length mismatch between VGGT and our board poses almost exactly. Because we align on camera centres, that mismatch becomes scale. The fix, R-23, anchors scale on the board itself and is next — it's filed, not yet claimed. Over to Yashi.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Yashi · 1:15
Here is the chain on one real object, the red prism. Every image comes from our pipeline's real output.
One: one of the 29 phone photos.
Two: VGGT's depth for every pixel, converted into board millimetres, including the board and the table around it.
Three: segmentation. We fit a plane to the real board surface, drop the pixels VGGT itself isn't confident about, and keep what stands above the board inside its footprint.
Four: TSDF fusion. Each photo's depth is fused into 2-millimetre voxels and marching cubes extracts the surface; voxels no photo observed cannot create surface. Cleanup keeps the largest connected piece, fills only small holes, and exports a GLB for the browser.
Each stage is its own tested module with a command-line tool and a JSON report, so we can rerun and inspect any one. The mesh still has artifacts around the part, and the next slide shows why they can't cause a wrong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Yashi · 1:15
This is the rule the project is built around: geometry the camera did not really see can never pass or fail a part. It can only trigger a Rescan.
We enforce it per vertex. A vertex is Observed only if at least two photos see it from at least two degrees apart, through pixels the model is confident about, and it passes an occlusion check, so a camera facing the front can't count as seeing the back.
Sigma is the spread of a vertex's depth across those photos; above 3 millimetres it is downgraded. That 3 is a working assumption until the calibration study gives a real number. The API contract forbids unobserved regions from counting toward a verdict, and a test enforces it.
On s-05, 13 percent of the mesh is Observed, mainly the part. Everything else, mostly fusion artifacts, can only trigger a Rescan. Median sigma is 1.2 to 2.1 millimetres across the five objects, which is a spread, not an accuracy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Yashi · 1:20
Most of the capture thread, 11 of 13 stories, is done; the other two are open pull requests.
On the left is the capture screen, shown here in desktop Chrome at phone size with one of our golden photos as the camera feed. Each capture runs the frame gate on the phone, rejecting blur, clipped exposure and near-duplicates, then encodes a JPEG and uploads it with its gyro reading. Only when the server accepts it does that orbit slot count as covered: 2 of 13 here, with the arrow pointing to the next view.
I walked this on a real iPhone: all three rejection reasons, acceptance, finishing, and the camera light turning off.
On the right is the result screen. Mamadou's viewer colours the model by provenance: blue is Observed, slate is Unobserved. This is our real s-05 mesh, with the part in blue and the artifacts in slate.
It's Vite and TypeScript with no framework, and 203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Yashi · 1:00
Once we know what is unseen, the next question is where to point the camera. Tabeen built next-view scoring; it's one of the two open pull requests from the last slide.
It places 147 candidate camera positions on a hemisphere around the part, 25 to 40 centimetres away and at most 60 degrees from vertical, and ray-casts from each one to every under-observed vertex. The whole mesh blocks those rays, so Observed surface can still hide what's behind it. The score is how many under-observed vertices a view would see; ties go to the most head-on view.
On the left, one face of a test part is unseen, and the best view looks straight at it. On the right we add a wall in front: that same view now sees nothing, and the best view goes round the wall and sees all 25 again.
It is tested on synthetic meshes. On today's real meshes the fusion artifacts are Unobserved too, so it would chase them; it becomes useful once the mesh fixes land. Over to Tabeen.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Tabeen · 1:10
This slide is about what we found, not a finished result — we have not yet gotten the whole system working end to end from a real phone, and I want to be straightforward about that rather than round it up.
First attempt: pointing the app at our deployed Lightning service hit the same chicken-and-egg problem R-15 found. The deployed image only contains code already on main, so our own CORS fix couldn't be tested there before it merged. We stopped that deployment and moved the check to our M2 Max instead, running the service locally — that's D-049.
Second attempt, on the Mac: two real sessions, 19 and 17 frames. Both failed with zero camera poses, even though the board was detected in every single frame. The reason: frames grabbed from the live camera preview carry no EXIF focal length, unlike the golden capture's Camera-app photos.
The fix, D-050: calibrate the camera from the board itself when that happens. We validated it offline, reprocessing the first failed session's own saved frames — 0.20 pixel calibration error, 18 of 19 frames posed, and a real metric result. What we have not done yet is confirm that fix on an actual live phone. That's the first item on our next-steps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Tabeen · 1:10
Every stage passed its unit tests on synthetic data. Then I ran the full chain on all five golden objects, and none passed a visual check. That gave us three concrete causes, and each became a story.
One: stray points. VGGT gives every pixel a confidence and we kept them all. Sweeping the threshold showed almost all the cleanup happens just above the model's confidence floor. On s-05 stray points drop from 17.7 to 2.5 percent, and to 2.5 percent or less on all five. Provenance now trusts only those pixels too. Merged.
Two: the bottom of every part was cut off, because we assumed the board sat exactly at zero height; it sat 1 to 5 millimetres lower. We now fit the real board plane. Merged.
Three: size, the 4 to 9 percent scale error from slide 5, plus walls that shrink a little more, which is still open.
Honestly, the meshes still don't close into a recognisable part. Next is the scale fix, then confirming the phone fix from the last slide on a real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Tabeen · 0:40
The numbers, briefly. Of the 44 stories written so far, 40 are done; the rest are two open pull requests, the scale fix which is filed but not yet claimed, and a tolerance check that waits on ground truth. That's 130 merged pull requests, each approved by a teammate, 585 automated tests passing, and 45 decisions recorded with their reasoning.
Foundations are complete, the capture thread is 11 of 13, and the reconstruction engine is 22 of 24. Inspection and generative-AI stories get written one sprint ahead, so they aren't counted yet.
Every story goes through the gate on the right, ending with real measured hours, never the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Tabeen · 0:45
Outlined bars are the plan, solid bars are actual, and the dashed line is today, the 15th.
Foundations finished on time. The engine started two weeks late and was deployed on 9 October. M1, phone to model with nobody touching a terminal, was planned for 25 September and is still open today, about three weeks late — that's the connection slide 10 covers. M2, the latency decision, was on time.
The red rows are behind. Ground truth was planned for this week and generative AI from late September, and neither has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Tabeen · 0:50
Five streams, in order.
One: make the geometry and the phone reliable. Anchor scale on the board, confirm yesterday's EXIF fix actually works on a real device, and capture at the camera's full resolution instead of 480 by 640.
Two: ground truth. Print and caliper-measure test parts to get our noise floor and our first real tolerance. Until then we state no accuracy number.
Three: Tier 2 inspection: CAD registration, the deviation heatmap and the four verdicts.
Four is our biggest gap. Generative AI is a third of the course requirement and hasn't started. It is never cut, so it starts now, with VLM capture checking first.
Five: the browser-to-cloud path, which must check the order code server-side before anyone points the app at a paid GPU, then hosting, Android and the buyer pages.
(Optional question for the professor: does our reconstruction backbone, a large learned model but deterministic, count toward the generative-AI share? It decides whether we are planning to 25 or 33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Tabeen · 0:15, then close
These are the methods and libraries we build on, from VGGT and COLMAP to TSDF fusion and marching cubes.
To close: Tier 1 is built except for one link — the phone talking to the real service — which we've diagnosed and partly fixed but haven't confirmed live yet. Real data has told us exactly what to fix elsewhere, and the rest of the term is the inspection verdict and generative AI.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S Title 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S 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rtlCol="0"/>
          <a:lstStyle>
            <a:lvl1pPr algn="r" indent="0" marL="0">
              <a:buNone/>
              <a:defRPr lang="en-US" sz="1100" dirty="0">
                <a:solidFill>
                  <a:schemeClr val="accent4"/>
                </a:solidFill>
              </a:defRPr>
            </a:lvl1pPr>
          </a:lstStyle>
          <a:p>
            <a:pPr algn="r" indent="0" marL="0">
              <a:buNone/>
            </a:pP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5" name="Text 0"/>
          <p:cNvSpPr/>
          <p:nvPr/>
        </p:nvSpPr>
        <p:spPr>
          <a:xfrm>
            <a:off x="548640" y="6419088"/>
            <a:ext cx="6400800" cy="256032"/>
          </a:xfrm>
          <a:prstGeom prst="rect">
            <a:avLst/>
          </a:prstGeom>
          <a:noFill/>
          <a:ln/>
        </p:spPr>
        <p:txBody>
          <a:bodyPr wrap="square" lIns="0" tIns="0" rIns="0" bIns="0" rtlCol="0" anchor="ctr"/>
          <a:lstStyle/>
          <a:p>
            <a:pPr indent="0" marL="0">
              <a:buNone/>
            </a:pPr>
            <a:r>
              <a:rPr lang="en-US" sz="950" dirty="0">
                <a:solidFill>
                  <a:schemeClr val="accent4"/>
                </a:solidFill>
              </a:rPr>
              <a:t>ProofShape · CS595 Midterm Progress Review · Fall 2026</a:t>
            </a:r>
            <a:endParaRPr lang="en-US" sz="9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ps-deck-wt/submissions/assets/2026-10-16/fig_photo_s05.jpg">    </p:cNvPr>
          <p:cNvPicPr>
            <a:picLocks noChangeAspect="1"/>
          </p:cNvPicPr>
          <p:nvPr/>
        </p:nvPicPr>
        <p:blipFill>
          <a:blip r:embed="rId1"/>
          <a:srcRect l="0" r="0" t="0" b="0"/>
          <a:stretch/>
        </p:blipFill>
        <p:spPr>
          <a:xfrm>
            <a:off x="6903720" y="0"/>
            <a:ext cx="5287975" cy="6858000"/>
          </a:xfrm>
          <a:prstGeom prst="rect">
            <a:avLst/>
          </a:prstGeom>
        </p:spPr>
      </p:pic>
      <p:sp>
        <p:nvSpPr>
          <p:cNvPr id="3" name="Text 0"/>
          <p:cNvSpPr txBox="1"/>
          <p:nvPr/>
        </p:nvSpPr>
        <p:spPr>
          <a:xfrm>
            <a:off x="685800" y="1417320"/>
            <a:ext cx="59436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CS595 CAPSTONE · MIDTERM PROGRESS REVIEW</a:t>
            </a:r>
            <a:endParaRPr lang="en-US" sz="1200" dirty="0"/>
          </a:p>
        </p:txBody>
      </p:sp>
      <p:sp>
        <p:nvSpPr>
          <p:cNvPr id="4" name="Text 1"/>
          <p:cNvSpPr txBox="1"/>
          <p:nvPr/>
        </p:nvSpPr>
        <p:spPr>
          <a:xfrm>
            <a:off x="685800" y="1828800"/>
            <a:ext cx="6035040" cy="1005840"/>
          </a:xfrm>
          <a:prstGeom prst="rect">
            <a:avLst/>
          </a:prstGeom>
          <a:noFill/>
          <a:ln/>
        </p:spPr>
        <p:txBody>
          <a:bodyPr wrap="square" lIns="0" tIns="0" rIns="0" bIns="0" rtlCol="0" anchor="t"/>
          <a:lstStyle/>
          <a:p>
            <a:pPr indent="0" marL="0">
              <a:buNone/>
            </a:pPr>
            <a:r>
              <a:rPr lang="en-US" sz="5800" b="1" dirty="0">
                <a:solidFill>
                  <a:schemeClr val="bg1"/>
                </a:solidFill>
                <a:latin typeface="+mj-lt" pitchFamily="34" charset="0"/>
                <a:ea typeface="+mj-lt" pitchFamily="34" charset="-122"/>
                <a:cs typeface="+mj-lt" pitchFamily="34" charset="-120"/>
              </a:rPr>
              <a:t>ProofShape</a:t>
            </a:r>
            <a:endParaRPr lang="en-US" sz="5800" dirty="0"/>
          </a:p>
        </p:txBody>
      </p:sp>
      <p:sp>
        <p:nvSpPr>
          <p:cNvPr id="5" name="Text 2"/>
          <p:cNvSpPr txBox="1"/>
          <p:nvPr/>
        </p:nvSpPr>
        <p:spPr>
          <a:xfrm>
            <a:off x="685800" y="2926080"/>
            <a:ext cx="5760720" cy="868680"/>
          </a:xfrm>
          <a:prstGeom prst="rect">
            <a:avLst/>
          </a:prstGeom>
          <a:noFill/>
          <a:ln/>
        </p:spPr>
        <p:txBody>
          <a:bodyPr wrap="square" lIns="0" tIns="0" rIns="0" bIns="0" rtlCol="0" anchor="t"/>
          <a:lstStyle/>
          <a:p>
            <a:pPr indent="0" marL="0">
              <a:buNone/>
            </a:pPr>
            <a:r>
              <a:rPr lang="en-US" sz="2100" dirty="0">
                <a:solidFill>
                  <a:schemeClr val="bg2"/>
                </a:solidFill>
                <a:latin typeface="+mj-lt" pitchFamily="34" charset="0"/>
                <a:ea typeface="+mj-lt" pitchFamily="34" charset="-122"/>
                <a:cs typeface="+mj-lt" pitchFamily="34" charset="-120"/>
              </a:rPr>
              <a:t>A phone becomes a coarse 3D inspection tool for manufactured parts</a:t>
            </a:r>
            <a:endParaRPr lang="en-US" sz="2100" dirty="0"/>
          </a:p>
        </p:txBody>
      </p:sp>
      <p:sp>
        <p:nvSpPr>
          <p:cNvPr id="6" name="Text 3"/>
          <p:cNvSpPr txBox="1"/>
          <p:nvPr/>
        </p:nvSpPr>
        <p:spPr>
          <a:xfrm>
            <a:off x="685800" y="4343400"/>
            <a:ext cx="5760720" cy="365760"/>
          </a:xfrm>
          <a:prstGeom prst="rect">
            <a:avLst/>
          </a:prstGeom>
          <a:noFill/>
          <a:ln/>
        </p:spPr>
        <p:txBody>
          <a:bodyPr wrap="square" lIns="0" tIns="0" rIns="0" bIns="0" rtlCol="0" anchor="t"/>
          <a:lstStyle/>
          <a:p>
            <a:pPr indent="0" marL="0">
              <a:buNone/>
            </a:pPr>
            <a:r>
              <a:rPr lang="en-US" sz="1700" b="1" dirty="0">
                <a:solidFill>
                  <a:schemeClr val="bg1"/>
                </a:solidFill>
              </a:rPr>
              <a:t>Tabeen  ·  Mamadou  ·  Yashi</a:t>
            </a:r>
            <a:endParaRPr lang="en-US" sz="1700" dirty="0"/>
          </a:p>
        </p:txBody>
      </p:sp>
      <p:sp>
        <p:nvSpPr>
          <p:cNvPr id="7" name="Text 4"/>
          <p:cNvSpPr txBox="1"/>
          <p:nvPr/>
        </p:nvSpPr>
        <p:spPr>
          <a:xfrm>
            <a:off x="685800" y="4754880"/>
            <a:ext cx="5760720" cy="640080"/>
          </a:xfrm>
          <a:prstGeom prst="rect">
            <a:avLst/>
          </a:prstGeom>
          <a:noFill/>
          <a:ln/>
        </p:spPr>
        <p:txBody>
          <a:bodyPr wrap="square" lIns="0" tIns="0" rIns="0" bIns="0" rtlCol="0" anchor="t"/>
          <a:lstStyle/>
          <a:p>
            <a:pPr indent="0" marL="0">
              <a:lnSpc>
                <a:spcPct val="120000"/>
              </a:lnSpc>
              <a:buNone/>
            </a:pPr>
            <a:r>
              <a:rPr lang="en-US" sz="1300" dirty="0">
                <a:solidFill>
                  <a:schemeClr val="accent5"/>
                </a:solidFill>
              </a:rPr>
              <a:t>San Francisco Bay University · Fall 2026</a:t>
            </a:r>
            <a:endParaRPr lang="en-US" sz="1300" dirty="0"/>
          </a:p>
          <a:p>
            <a:pPr indent="0" marL="0">
              <a:lnSpc>
                <a:spcPct val="120000"/>
              </a:lnSpc>
              <a:buNone/>
            </a:pPr>
            <a:r>
              <a:rPr lang="en-US" sz="1300" dirty="0">
                <a:solidFill>
                  <a:schemeClr val="accent5"/>
                </a:solidFill>
              </a:rPr>
              <a:t>github.com/proofshape/proofshape</a:t>
            </a:r>
            <a:endParaRPr lang="en-US" sz="1300" dirty="0"/>
          </a:p>
        </p:txBody>
      </p:sp>
      <p:sp>
        <p:nvSpPr>
          <p:cNvPr id="8" name="Shape 5"/>
          <p:cNvSpPr/>
          <p:nvPr/>
        </p:nvSpPr>
        <p:spPr>
          <a:xfrm>
            <a:off x="6903720" y="6355080"/>
            <a:ext cx="5287975" cy="502920"/>
          </a:xfrm>
          <a:prstGeom prst="rect">
            <a:avLst/>
          </a:prstGeom>
          <a:solidFill>
            <a:schemeClr val="tx2">
              <a:alpha val="75000"/>
            </a:schemeClr>
          </a:solidFill>
          <a:ln w="12700">
            <a:solidFill>
              <a:schemeClr val="tx2">
                <a:alpha val="75000"/>
              </a:schemeClr>
            </a:solidFill>
            <a:prstDash val="solid"/>
          </a:ln>
        </p:spPr>
      </p:sp>
      <p:sp>
        <p:nvSpPr>
          <p:cNvPr id="9" name="Text 6"/>
          <p:cNvSpPr txBox="1"/>
          <p:nvPr/>
        </p:nvSpPr>
        <p:spPr>
          <a:xfrm>
            <a:off x="7086600" y="6355080"/>
            <a:ext cx="4922215" cy="502920"/>
          </a:xfrm>
          <a:prstGeom prst="rect">
            <a:avLst/>
          </a:prstGeom>
          <a:noFill/>
          <a:ln/>
        </p:spPr>
        <p:txBody>
          <a:bodyPr wrap="square" lIns="0" tIns="0" rIns="0" bIns="0" rtlCol="0" anchor="ctr"/>
          <a:lstStyle/>
          <a:p>
            <a:pPr indent="0" marL="0">
              <a:buNone/>
            </a:pPr>
            <a:r>
              <a:rPr lang="en-US" sz="1100" dirty="0">
                <a:solidFill>
                  <a:schemeClr val="bg1"/>
                </a:solidFill>
              </a:rPr>
              <a:t>Golden capture s-05: a printed part on the 20 mm ChArUco reference board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TEAM INFORMATION</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Mamadou</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Three engineers, one shared backlog</a:t>
            </a:r>
            <a:endParaRPr lang="en-US" sz="3000" dirty="0"/>
          </a:p>
        </p:txBody>
      </p:sp>
      <p:sp>
        <p:nvSpPr>
          <p:cNvPr id="5" name="Shape 3"/>
          <p:cNvSpPr/>
          <p:nvPr/>
        </p:nvSpPr>
        <p:spPr>
          <a:xfrm>
            <a:off x="548640" y="1481328"/>
            <a:ext cx="3511296" cy="4434840"/>
          </a:xfrm>
          <a:prstGeom prst="roundRect">
            <a:avLst>
              <a:gd name="adj" fmla="val 2083"/>
            </a:avLst>
          </a:prstGeom>
          <a:solidFill>
            <a:schemeClr val="bg2"/>
          </a:solidFill>
          <a:ln w="12700">
            <a:solidFill>
              <a:schemeClr val="bg2"/>
            </a:solidFill>
            <a:prstDash val="solid"/>
          </a:ln>
        </p:spPr>
      </p:sp>
      <p:sp>
        <p:nvSpPr>
          <p:cNvPr id="6" name="Shape 4"/>
          <p:cNvSpPr/>
          <p:nvPr/>
        </p:nvSpPr>
        <p:spPr>
          <a:xfrm>
            <a:off x="822960" y="1755648"/>
            <a:ext cx="713232" cy="713232"/>
          </a:xfrm>
          <a:prstGeom prst="ellipse">
            <a:avLst/>
          </a:prstGeom>
          <a:solidFill>
            <a:schemeClr val="accent1"/>
          </a:solidFill>
          <a:ln w="12700">
            <a:solidFill>
              <a:schemeClr val="accent1"/>
            </a:solidFill>
            <a:prstDash val="solid"/>
          </a:ln>
        </p:spPr>
      </p:sp>
      <p:sp>
        <p:nvSpPr>
          <p:cNvPr id="7" name="Text 5"/>
          <p:cNvSpPr txBox="1"/>
          <p:nvPr/>
        </p:nvSpPr>
        <p:spPr>
          <a:xfrm>
            <a:off x="822960" y="1755648"/>
            <a:ext cx="713232" cy="713232"/>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M</a:t>
            </a:r>
            <a:endParaRPr lang="en-US" sz="2800" dirty="0"/>
          </a:p>
        </p:txBody>
      </p:sp>
      <p:sp>
        <p:nvSpPr>
          <p:cNvPr id="8" name="Text 6"/>
          <p:cNvSpPr txBox="1"/>
          <p:nvPr/>
        </p:nvSpPr>
        <p:spPr>
          <a:xfrm>
            <a:off x="1691640" y="1728216"/>
            <a:ext cx="2231136" cy="384048"/>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Mamadou</a:t>
            </a:r>
            <a:endParaRPr lang="en-US" sz="1900" dirty="0"/>
          </a:p>
        </p:txBody>
      </p:sp>
      <p:sp>
        <p:nvSpPr>
          <p:cNvPr id="9" name="Text 7"/>
          <p:cNvSpPr txBox="1"/>
          <p:nvPr/>
        </p:nvSpPr>
        <p:spPr>
          <a:xfrm>
            <a:off x="1691640" y="2121408"/>
            <a:ext cx="2231136" cy="274320"/>
          </a:xfrm>
          <a:prstGeom prst="rect">
            <a:avLst/>
          </a:prstGeom>
          <a:noFill/>
          <a:ln/>
        </p:spPr>
        <p:txBody>
          <a:bodyPr wrap="square" lIns="0" tIns="0" rIns="0" bIns="0" rtlCol="0" anchor="ctr"/>
          <a:lstStyle/>
          <a:p>
            <a:pPr indent="0" marL="0">
              <a:buNone/>
            </a:pPr>
            <a:r>
              <a:rPr lang="en-US" sz="1200" dirty="0">
                <a:solidFill>
                  <a:schemeClr val="accent1"/>
                </a:solidFill>
              </a:rPr>
              <a:t>@mbj1994</a:t>
            </a:r>
            <a:endParaRPr lang="en-US" sz="1200" dirty="0"/>
          </a:p>
        </p:txBody>
      </p:sp>
      <p:sp>
        <p:nvSpPr>
          <p:cNvPr id="10" name="Text 8"/>
          <p:cNvSpPr txBox="1"/>
          <p:nvPr/>
        </p:nvSpPr>
        <p:spPr>
          <a:xfrm>
            <a:off x="822960" y="2651760"/>
            <a:ext cx="2962656" cy="274320"/>
          </a:xfrm>
          <a:prstGeom prst="rect">
            <a:avLst/>
          </a:prstGeom>
          <a:noFill/>
          <a:ln/>
        </p:spPr>
        <p:txBody>
          <a:bodyPr wrap="square" lIns="0" tIns="0" rIns="0" bIns="0" rtlCol="0" anchor="t"/>
          <a:lstStyle/>
          <a:p>
            <a:pPr indent="0" marL="0">
              <a:buNone/>
            </a:pPr>
            <a:r>
              <a:rPr lang="en-US" sz="1200" dirty="0">
                <a:solidFill>
                  <a:schemeClr val="accent4"/>
                </a:solidFill>
              </a:rPr>
              <a:t>Student ID: ____________</a:t>
            </a:r>
            <a:endParaRPr lang="en-US" sz="1200" dirty="0"/>
          </a:p>
        </p:txBody>
      </p:sp>
      <p:sp>
        <p:nvSpPr>
          <p:cNvPr id="11" name="Text 9"/>
          <p:cNvSpPr txBox="1"/>
          <p:nvPr/>
        </p:nvSpPr>
        <p:spPr>
          <a:xfrm>
            <a:off x="822960" y="3108960"/>
            <a:ext cx="1828800" cy="228600"/>
          </a:xfrm>
          <a:prstGeom prst="rect">
            <a:avLst/>
          </a:prstGeom>
          <a:noFill/>
          <a:ln/>
        </p:spPr>
        <p:txBody>
          <a:bodyPr wrap="square" lIns="0" tIns="0" rIns="0" bIns="0" rtlCol="0" anchor="t"/>
          <a:lstStyle/>
          <a:p>
            <a:pPr indent="0" marL="0">
              <a:buNone/>
            </a:pPr>
            <a:r>
              <a:rPr lang="en-US" sz="1000" b="1" spc="150" kern="0" dirty="0">
                <a:solidFill>
                  <a:schemeClr val="accent4"/>
                </a:solidFill>
              </a:rPr>
              <a:t>BUILT</a:t>
            </a:r>
            <a:endParaRPr lang="en-US" sz="1000" dirty="0"/>
          </a:p>
        </p:txBody>
      </p:sp>
      <p:sp>
        <p:nvSpPr>
          <p:cNvPr id="12" name="Text 10"/>
          <p:cNvSpPr txBox="1"/>
          <p:nvPr/>
        </p:nvSpPr>
        <p:spPr>
          <a:xfrm>
            <a:off x="822960" y="3383280"/>
            <a:ext cx="3099816" cy="18745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Shared GPU workspace</a:t>
            </a:r>
            <a:endParaRPr lang="en-US" sz="1300" dirty="0"/>
          </a:p>
          <a:p>
            <a:pPr marL="177800" indent="-177800">
              <a:spcAft>
                <a:spcPts val="400"/>
              </a:spcAft>
              <a:buSzPct val="100000"/>
              <a:buChar char="•"/>
            </a:pPr>
            <a:r>
              <a:rPr lang="en-US" sz="1300" dirty="0">
                <a:solidFill>
                  <a:schemeClr val="tx1"/>
                </a:solidFill>
              </a:rPr>
              <a:t>Golden capture set</a:t>
            </a:r>
            <a:endParaRPr lang="en-US" sz="1300" dirty="0"/>
          </a:p>
          <a:p>
            <a:pPr marL="177800" indent="-177800">
              <a:spcAft>
                <a:spcPts val="400"/>
              </a:spcAft>
              <a:buSzPct val="100000"/>
              <a:buChar char="•"/>
            </a:pPr>
            <a:r>
              <a:rPr lang="en-US" sz="1300" dirty="0">
                <a:solidFill>
                  <a:schemeClr val="tx1"/>
                </a:solidFill>
              </a:rPr>
              <a:t>Camera calibration</a:t>
            </a:r>
            <a:endParaRPr lang="en-US" sz="1300" dirty="0"/>
          </a:p>
          <a:p>
            <a:pPr marL="177800" indent="-177800">
              <a:spcAft>
                <a:spcPts val="400"/>
              </a:spcAft>
              <a:buSzPct val="100000"/>
              <a:buChar char="•"/>
            </a:pPr>
            <a:r>
              <a:rPr lang="en-US" sz="1300" dirty="0">
                <a:solidFill>
                  <a:schemeClr val="tx1"/>
                </a:solidFill>
              </a:rPr>
              <a:t>MASt3R + COLMAP backbones</a:t>
            </a:r>
            <a:endParaRPr lang="en-US" sz="1300" dirty="0"/>
          </a:p>
          <a:p>
            <a:pPr marL="177800" indent="-177800">
              <a:spcAft>
                <a:spcPts val="400"/>
              </a:spcAft>
              <a:buSzPct val="100000"/>
              <a:buChar char="•"/>
            </a:pPr>
            <a:r>
              <a:rPr lang="en-US" sz="1300" dirty="0">
                <a:solidFill>
                  <a:schemeClr val="tx1"/>
                </a:solidFill>
              </a:rPr>
              <a:t>Reconstruction API service</a:t>
            </a:r>
            <a:endParaRPr lang="en-US" sz="1300" dirty="0"/>
          </a:p>
          <a:p>
            <a:pPr marL="177800" indent="-177800">
              <a:spcAft>
                <a:spcPts val="400"/>
              </a:spcAft>
              <a:buSzPct val="100000"/>
              <a:buChar char="•"/>
            </a:pPr>
            <a:r>
              <a:rPr lang="en-US" sz="1300" dirty="0">
                <a:solidFill>
                  <a:schemeClr val="tx1"/>
                </a:solidFill>
              </a:rPr>
              <a:t>Result screen, viewer, colouring</a:t>
            </a:r>
            <a:endParaRPr lang="en-US" sz="1300" dirty="0"/>
          </a:p>
        </p:txBody>
      </p:sp>
      <p:sp>
        <p:nvSpPr>
          <p:cNvPr id="13" name="Shape 11"/>
          <p:cNvSpPr/>
          <p:nvPr/>
        </p:nvSpPr>
        <p:spPr>
          <a:xfrm>
            <a:off x="822960" y="5321808"/>
            <a:ext cx="2962656" cy="384048"/>
          </a:xfrm>
          <a:prstGeom prst="roundRect">
            <a:avLst>
              <a:gd name="adj" fmla="val 19048"/>
            </a:avLst>
          </a:prstGeom>
          <a:solidFill>
            <a:srgbClr val="FFFFFF"/>
          </a:solidFill>
          <a:ln w="9525">
            <a:solidFill>
              <a:srgbClr val="CDD6D9"/>
            </a:solidFill>
            <a:prstDash val="solid"/>
          </a:ln>
        </p:spPr>
      </p:sp>
      <p:sp>
        <p:nvSpPr>
          <p:cNvPr id="14" name="Text 12"/>
          <p:cNvSpPr txBox="1"/>
          <p:nvPr/>
        </p:nvSpPr>
        <p:spPr>
          <a:xfrm>
            <a:off x="896112" y="5321808"/>
            <a:ext cx="2816352" cy="384048"/>
          </a:xfrm>
          <a:prstGeom prst="rect">
            <a:avLst/>
          </a:prstGeom>
          <a:noFill/>
          <a:ln/>
        </p:spPr>
        <p:txBody>
          <a:bodyPr wrap="square" lIns="0" tIns="0" rIns="0" bIns="0" rtlCol="0" anchor="ctr">
            <a:normAutofit/>
          </a:bodyPr>
          <a:lstStyle/>
          <a:p>
            <a:pPr algn="ctr" indent="0" marL="0">
              <a:buNone/>
            </a:pPr>
            <a:r>
              <a:rPr lang="en-US" sz="1200" b="1" dirty="0">
                <a:solidFill>
                  <a:schemeClr val="accent1"/>
                </a:solidFill>
              </a:rPr>
              <a:t>Presents slides 1–5</a:t>
            </a:r>
            <a:endParaRPr lang="en-US" sz="1200" dirty="0"/>
          </a:p>
        </p:txBody>
      </p:sp>
      <p:sp>
        <p:nvSpPr>
          <p:cNvPr id="15" name="Shape 13"/>
          <p:cNvSpPr/>
          <p:nvPr/>
        </p:nvSpPr>
        <p:spPr>
          <a:xfrm>
            <a:off x="4340200" y="1481328"/>
            <a:ext cx="3511296" cy="4434840"/>
          </a:xfrm>
          <a:prstGeom prst="roundRect">
            <a:avLst>
              <a:gd name="adj" fmla="val 2083"/>
            </a:avLst>
          </a:prstGeom>
          <a:solidFill>
            <a:schemeClr val="bg2"/>
          </a:solidFill>
          <a:ln w="12700">
            <a:solidFill>
              <a:schemeClr val="bg2"/>
            </a:solidFill>
            <a:prstDash val="solid"/>
          </a:ln>
        </p:spPr>
      </p:sp>
      <p:sp>
        <p:nvSpPr>
          <p:cNvPr id="16" name="Shape 14"/>
          <p:cNvSpPr/>
          <p:nvPr/>
        </p:nvSpPr>
        <p:spPr>
          <a:xfrm>
            <a:off x="4614520" y="1755648"/>
            <a:ext cx="713232" cy="713232"/>
          </a:xfrm>
          <a:prstGeom prst="ellipse">
            <a:avLst/>
          </a:prstGeom>
          <a:solidFill>
            <a:schemeClr val="accent1"/>
          </a:solidFill>
          <a:ln w="12700">
            <a:solidFill>
              <a:schemeClr val="accent1"/>
            </a:solidFill>
            <a:prstDash val="solid"/>
          </a:ln>
        </p:spPr>
      </p:sp>
      <p:sp>
        <p:nvSpPr>
          <p:cNvPr id="17" name="Text 15"/>
          <p:cNvSpPr txBox="1"/>
          <p:nvPr/>
        </p:nvSpPr>
        <p:spPr>
          <a:xfrm>
            <a:off x="4614520" y="1755648"/>
            <a:ext cx="713232" cy="713232"/>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Y</a:t>
            </a:r>
            <a:endParaRPr lang="en-US" sz="2800" dirty="0"/>
          </a:p>
        </p:txBody>
      </p:sp>
      <p:sp>
        <p:nvSpPr>
          <p:cNvPr id="18" name="Text 16"/>
          <p:cNvSpPr txBox="1"/>
          <p:nvPr/>
        </p:nvSpPr>
        <p:spPr>
          <a:xfrm>
            <a:off x="5483200" y="1728216"/>
            <a:ext cx="2231136" cy="384048"/>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Yashi</a:t>
            </a:r>
            <a:endParaRPr lang="en-US" sz="1900" dirty="0"/>
          </a:p>
        </p:txBody>
      </p:sp>
      <p:sp>
        <p:nvSpPr>
          <p:cNvPr id="19" name="Text 17"/>
          <p:cNvSpPr txBox="1"/>
          <p:nvPr/>
        </p:nvSpPr>
        <p:spPr>
          <a:xfrm>
            <a:off x="5483200" y="2121408"/>
            <a:ext cx="2231136" cy="274320"/>
          </a:xfrm>
          <a:prstGeom prst="rect">
            <a:avLst/>
          </a:prstGeom>
          <a:noFill/>
          <a:ln/>
        </p:spPr>
        <p:txBody>
          <a:bodyPr wrap="square" lIns="0" tIns="0" rIns="0" bIns="0" rtlCol="0" anchor="ctr"/>
          <a:lstStyle/>
          <a:p>
            <a:pPr indent="0" marL="0">
              <a:buNone/>
            </a:pPr>
            <a:r>
              <a:rPr lang="en-US" sz="1200" dirty="0">
                <a:solidFill>
                  <a:schemeClr val="accent1"/>
                </a:solidFill>
              </a:rPr>
              <a:t>@dalwalyk</a:t>
            </a:r>
            <a:endParaRPr lang="en-US" sz="1200" dirty="0"/>
          </a:p>
        </p:txBody>
      </p:sp>
      <p:sp>
        <p:nvSpPr>
          <p:cNvPr id="20" name="Text 18"/>
          <p:cNvSpPr txBox="1"/>
          <p:nvPr/>
        </p:nvSpPr>
        <p:spPr>
          <a:xfrm>
            <a:off x="4614520" y="2651760"/>
            <a:ext cx="2962656" cy="274320"/>
          </a:xfrm>
          <a:prstGeom prst="rect">
            <a:avLst/>
          </a:prstGeom>
          <a:noFill/>
          <a:ln/>
        </p:spPr>
        <p:txBody>
          <a:bodyPr wrap="square" lIns="0" tIns="0" rIns="0" bIns="0" rtlCol="0" anchor="t"/>
          <a:lstStyle/>
          <a:p>
            <a:pPr indent="0" marL="0">
              <a:buNone/>
            </a:pPr>
            <a:r>
              <a:rPr lang="en-US" sz="1200" dirty="0">
                <a:solidFill>
                  <a:schemeClr val="accent4"/>
                </a:solidFill>
              </a:rPr>
              <a:t>Student ID: ____________</a:t>
            </a:r>
            <a:endParaRPr lang="en-US" sz="1200" dirty="0"/>
          </a:p>
        </p:txBody>
      </p:sp>
      <p:sp>
        <p:nvSpPr>
          <p:cNvPr id="21" name="Text 19"/>
          <p:cNvSpPr txBox="1"/>
          <p:nvPr/>
        </p:nvSpPr>
        <p:spPr>
          <a:xfrm>
            <a:off x="4614520" y="3108960"/>
            <a:ext cx="1828800" cy="228600"/>
          </a:xfrm>
          <a:prstGeom prst="rect">
            <a:avLst/>
          </a:prstGeom>
          <a:noFill/>
          <a:ln/>
        </p:spPr>
        <p:txBody>
          <a:bodyPr wrap="square" lIns="0" tIns="0" rIns="0" bIns="0" rtlCol="0" anchor="t"/>
          <a:lstStyle/>
          <a:p>
            <a:pPr indent="0" marL="0">
              <a:buNone/>
            </a:pPr>
            <a:r>
              <a:rPr lang="en-US" sz="1000" b="1" spc="150" kern="0" dirty="0">
                <a:solidFill>
                  <a:schemeClr val="accent4"/>
                </a:solidFill>
              </a:rPr>
              <a:t>BUILT</a:t>
            </a:r>
            <a:endParaRPr lang="en-US" sz="1000" dirty="0"/>
          </a:p>
        </p:txBody>
      </p:sp>
      <p:sp>
        <p:nvSpPr>
          <p:cNvPr id="22" name="Text 20"/>
          <p:cNvSpPr txBox="1"/>
          <p:nvPr/>
        </p:nvSpPr>
        <p:spPr>
          <a:xfrm>
            <a:off x="4614520" y="3383280"/>
            <a:ext cx="3099816" cy="18745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Repo skeleton, CI, dev setup</a:t>
            </a:r>
            <a:endParaRPr lang="en-US" sz="1300" dirty="0"/>
          </a:p>
          <a:p>
            <a:pPr marL="177800" indent="-177800">
              <a:spcAft>
                <a:spcPts val="400"/>
              </a:spcAft>
              <a:buSzPct val="100000"/>
              <a:buChar char="•"/>
            </a:pPr>
            <a:r>
              <a:rPr lang="en-US" sz="1300" dirty="0">
                <a:solidFill>
                  <a:schemeClr val="tx1"/>
                </a:solidFill>
              </a:rPr>
              <a:t>VGGT runner, metric alignment</a:t>
            </a:r>
            <a:endParaRPr lang="en-US" sz="1300" dirty="0"/>
          </a:p>
          <a:p>
            <a:pPr marL="177800" indent="-177800">
              <a:spcAft>
                <a:spcPts val="400"/>
              </a:spcAft>
              <a:buSzPct val="100000"/>
              <a:buChar char="•"/>
            </a:pPr>
            <a:r>
              <a:rPr lang="en-US" sz="1300" dirty="0">
                <a:solidFill>
                  <a:schemeClr val="tx1"/>
                </a:solidFill>
              </a:rPr>
              <a:t>Segmentation, fusion, cleanup</a:t>
            </a:r>
            <a:endParaRPr lang="en-US" sz="1300" dirty="0"/>
          </a:p>
          <a:p>
            <a:pPr marL="177800" indent="-177800">
              <a:spcAft>
                <a:spcPts val="400"/>
              </a:spcAft>
              <a:buSzPct val="100000"/>
              <a:buChar char="•"/>
            </a:pPr>
            <a:r>
              <a:rPr lang="en-US" sz="1300" dirty="0">
                <a:solidFill>
                  <a:schemeClr val="tx1"/>
                </a:solidFill>
              </a:rPr>
              <a:t>Provenance + uncertainty</a:t>
            </a:r>
            <a:endParaRPr lang="en-US" sz="1300" dirty="0"/>
          </a:p>
          <a:p>
            <a:pPr marL="177800" indent="-177800">
              <a:spcAft>
                <a:spcPts val="400"/>
              </a:spcAft>
              <a:buSzPct val="100000"/>
              <a:buChar char="•"/>
            </a:pPr>
            <a:r>
              <a:rPr lang="en-US" sz="1300" dirty="0">
                <a:solidFill>
                  <a:schemeClr val="tx1"/>
                </a:solidFill>
              </a:rPr>
              <a:t>Live camera + capture loop</a:t>
            </a:r>
            <a:endParaRPr lang="en-US" sz="1300" dirty="0"/>
          </a:p>
          <a:p>
            <a:pPr marL="177800" indent="-177800">
              <a:spcAft>
                <a:spcPts val="400"/>
              </a:spcAft>
              <a:buSzPct val="100000"/>
              <a:buChar char="•"/>
            </a:pPr>
            <a:r>
              <a:rPr lang="en-US" sz="1300" dirty="0">
                <a:solidFill>
                  <a:schemeClr val="tx1"/>
                </a:solidFill>
              </a:rPr>
              <a:t>Gate, orbit guide, app ↔ service</a:t>
            </a:r>
            <a:endParaRPr lang="en-US" sz="1300" dirty="0"/>
          </a:p>
        </p:txBody>
      </p:sp>
      <p:sp>
        <p:nvSpPr>
          <p:cNvPr id="23" name="Shape 21"/>
          <p:cNvSpPr/>
          <p:nvPr/>
        </p:nvSpPr>
        <p:spPr>
          <a:xfrm>
            <a:off x="4614520" y="5321808"/>
            <a:ext cx="2962656" cy="384048"/>
          </a:xfrm>
          <a:prstGeom prst="roundRect">
            <a:avLst>
              <a:gd name="adj" fmla="val 19048"/>
            </a:avLst>
          </a:prstGeom>
          <a:solidFill>
            <a:srgbClr val="FFFFFF"/>
          </a:solidFill>
          <a:ln w="9525">
            <a:solidFill>
              <a:srgbClr val="CDD6D9"/>
            </a:solidFill>
            <a:prstDash val="solid"/>
          </a:ln>
        </p:spPr>
      </p:sp>
      <p:sp>
        <p:nvSpPr>
          <p:cNvPr id="24" name="Text 22"/>
          <p:cNvSpPr txBox="1"/>
          <p:nvPr/>
        </p:nvSpPr>
        <p:spPr>
          <a:xfrm>
            <a:off x="4687672" y="5321808"/>
            <a:ext cx="2816352" cy="384048"/>
          </a:xfrm>
          <a:prstGeom prst="rect">
            <a:avLst/>
          </a:prstGeom>
          <a:noFill/>
          <a:ln/>
        </p:spPr>
        <p:txBody>
          <a:bodyPr wrap="square" lIns="0" tIns="0" rIns="0" bIns="0" rtlCol="0" anchor="ctr">
            <a:normAutofit/>
          </a:bodyPr>
          <a:lstStyle/>
          <a:p>
            <a:pPr algn="ctr" indent="0" marL="0">
              <a:buNone/>
            </a:pPr>
            <a:r>
              <a:rPr lang="en-US" sz="1200" b="1" dirty="0">
                <a:solidFill>
                  <a:schemeClr val="accent1"/>
                </a:solidFill>
              </a:rPr>
              <a:t>Presents slides 6–9</a:t>
            </a:r>
            <a:endParaRPr lang="en-US" sz="1200" dirty="0"/>
          </a:p>
        </p:txBody>
      </p:sp>
      <p:sp>
        <p:nvSpPr>
          <p:cNvPr id="25" name="Shape 23"/>
          <p:cNvSpPr/>
          <p:nvPr/>
        </p:nvSpPr>
        <p:spPr>
          <a:xfrm>
            <a:off x="8131759" y="1481328"/>
            <a:ext cx="3511296" cy="4434840"/>
          </a:xfrm>
          <a:prstGeom prst="roundRect">
            <a:avLst>
              <a:gd name="adj" fmla="val 2083"/>
            </a:avLst>
          </a:prstGeom>
          <a:solidFill>
            <a:schemeClr val="bg2"/>
          </a:solidFill>
          <a:ln w="12700">
            <a:solidFill>
              <a:schemeClr val="bg2"/>
            </a:solidFill>
            <a:prstDash val="solid"/>
          </a:ln>
        </p:spPr>
      </p:sp>
      <p:sp>
        <p:nvSpPr>
          <p:cNvPr id="26" name="Shape 24"/>
          <p:cNvSpPr/>
          <p:nvPr/>
        </p:nvSpPr>
        <p:spPr>
          <a:xfrm>
            <a:off x="8406079" y="1755648"/>
            <a:ext cx="713232" cy="713232"/>
          </a:xfrm>
          <a:prstGeom prst="ellipse">
            <a:avLst/>
          </a:prstGeom>
          <a:solidFill>
            <a:schemeClr val="accent1"/>
          </a:solidFill>
          <a:ln w="12700">
            <a:solidFill>
              <a:schemeClr val="accent1"/>
            </a:solidFill>
            <a:prstDash val="solid"/>
          </a:ln>
        </p:spPr>
      </p:sp>
      <p:sp>
        <p:nvSpPr>
          <p:cNvPr id="27" name="Text 25"/>
          <p:cNvSpPr txBox="1"/>
          <p:nvPr/>
        </p:nvSpPr>
        <p:spPr>
          <a:xfrm>
            <a:off x="8406079" y="1755648"/>
            <a:ext cx="713232" cy="713232"/>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T</a:t>
            </a:r>
            <a:endParaRPr lang="en-US" sz="2800" dirty="0"/>
          </a:p>
        </p:txBody>
      </p:sp>
      <p:sp>
        <p:nvSpPr>
          <p:cNvPr id="28" name="Text 26"/>
          <p:cNvSpPr txBox="1"/>
          <p:nvPr/>
        </p:nvSpPr>
        <p:spPr>
          <a:xfrm>
            <a:off x="9274759" y="1728216"/>
            <a:ext cx="2231136" cy="384048"/>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Tabeen Raoof</a:t>
            </a:r>
            <a:endParaRPr lang="en-US" sz="1900" dirty="0"/>
          </a:p>
        </p:txBody>
      </p:sp>
      <p:sp>
        <p:nvSpPr>
          <p:cNvPr id="29" name="Text 27"/>
          <p:cNvSpPr txBox="1"/>
          <p:nvPr/>
        </p:nvSpPr>
        <p:spPr>
          <a:xfrm>
            <a:off x="9274759" y="2121408"/>
            <a:ext cx="2231136" cy="274320"/>
          </a:xfrm>
          <a:prstGeom prst="rect">
            <a:avLst/>
          </a:prstGeom>
          <a:noFill/>
          <a:ln/>
        </p:spPr>
        <p:txBody>
          <a:bodyPr wrap="square" lIns="0" tIns="0" rIns="0" bIns="0" rtlCol="0" anchor="ctr"/>
          <a:lstStyle/>
          <a:p>
            <a:pPr indent="0" marL="0">
              <a:buNone/>
            </a:pPr>
            <a:r>
              <a:rPr lang="en-US" sz="1200" dirty="0">
                <a:solidFill>
                  <a:schemeClr val="accent1"/>
                </a:solidFill>
              </a:rPr>
              <a:t>@TabeenRaoof</a:t>
            </a:r>
            <a:endParaRPr lang="en-US" sz="1200" dirty="0"/>
          </a:p>
        </p:txBody>
      </p:sp>
      <p:sp>
        <p:nvSpPr>
          <p:cNvPr id="30" name="Text 28"/>
          <p:cNvSpPr txBox="1"/>
          <p:nvPr/>
        </p:nvSpPr>
        <p:spPr>
          <a:xfrm>
            <a:off x="8406079" y="2651760"/>
            <a:ext cx="2962656" cy="274320"/>
          </a:xfrm>
          <a:prstGeom prst="rect">
            <a:avLst/>
          </a:prstGeom>
          <a:noFill/>
          <a:ln/>
        </p:spPr>
        <p:txBody>
          <a:bodyPr wrap="square" lIns="0" tIns="0" rIns="0" bIns="0" rtlCol="0" anchor="t"/>
          <a:lstStyle/>
          <a:p>
            <a:pPr indent="0" marL="0">
              <a:buNone/>
            </a:pPr>
            <a:r>
              <a:rPr lang="en-US" sz="1200" dirty="0">
                <a:solidFill>
                  <a:schemeClr val="accent4"/>
                </a:solidFill>
              </a:rPr>
              <a:t>Student ID: ____________</a:t>
            </a:r>
            <a:endParaRPr lang="en-US" sz="1200" dirty="0"/>
          </a:p>
        </p:txBody>
      </p:sp>
      <p:sp>
        <p:nvSpPr>
          <p:cNvPr id="31" name="Text 29"/>
          <p:cNvSpPr txBox="1"/>
          <p:nvPr/>
        </p:nvSpPr>
        <p:spPr>
          <a:xfrm>
            <a:off x="8406079" y="3108960"/>
            <a:ext cx="1828800" cy="228600"/>
          </a:xfrm>
          <a:prstGeom prst="rect">
            <a:avLst/>
          </a:prstGeom>
          <a:noFill/>
          <a:ln/>
        </p:spPr>
        <p:txBody>
          <a:bodyPr wrap="square" lIns="0" tIns="0" rIns="0" bIns="0" rtlCol="0" anchor="t"/>
          <a:lstStyle/>
          <a:p>
            <a:pPr indent="0" marL="0">
              <a:buNone/>
            </a:pPr>
            <a:r>
              <a:rPr lang="en-US" sz="1000" b="1" spc="150" kern="0" dirty="0">
                <a:solidFill>
                  <a:schemeClr val="accent4"/>
                </a:solidFill>
              </a:rPr>
              <a:t>BUILT</a:t>
            </a:r>
            <a:endParaRPr lang="en-US" sz="1000" dirty="0"/>
          </a:p>
        </p:txBody>
      </p:sp>
      <p:sp>
        <p:nvSpPr>
          <p:cNvPr id="32" name="Text 30"/>
          <p:cNvSpPr txBox="1"/>
          <p:nvPr/>
        </p:nvSpPr>
        <p:spPr>
          <a:xfrm>
            <a:off x="8406079" y="3383280"/>
            <a:ext cx="3099816" cy="18745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Branch protection, API contract</a:t>
            </a:r>
            <a:endParaRPr lang="en-US" sz="1300" dirty="0"/>
          </a:p>
          <a:p>
            <a:pPr marL="177800" indent="-177800">
              <a:spcAft>
                <a:spcPts val="400"/>
              </a:spcAft>
              <a:buSzPct val="100000"/>
              <a:buChar char="•"/>
            </a:pPr>
            <a:r>
              <a:rPr lang="en-US" sz="1300" dirty="0">
                <a:solidFill>
                  <a:schemeClr val="tx1"/>
                </a:solidFill>
              </a:rPr>
              <a:t>Board detection + camera pose</a:t>
            </a:r>
            <a:endParaRPr lang="en-US" sz="1300" dirty="0"/>
          </a:p>
          <a:p>
            <a:pPr marL="177800" indent="-177800">
              <a:spcAft>
                <a:spcPts val="400"/>
              </a:spcAft>
              <a:buSzPct val="100000"/>
              <a:buChar char="•"/>
            </a:pPr>
            <a:r>
              <a:rPr lang="en-US" sz="1300" dirty="0">
                <a:solidFill>
                  <a:schemeClr val="tx1"/>
                </a:solidFill>
              </a:rPr>
              <a:t>Container + cloud deployment</a:t>
            </a:r>
            <a:endParaRPr lang="en-US" sz="1300" dirty="0"/>
          </a:p>
          <a:p>
            <a:pPr marL="177800" indent="-177800">
              <a:spcAft>
                <a:spcPts val="400"/>
              </a:spcAft>
              <a:buSzPct val="100000"/>
              <a:buChar char="•"/>
            </a:pPr>
            <a:r>
              <a:rPr lang="en-US" sz="1300" dirty="0">
                <a:solidFill>
                  <a:schemeClr val="tx1"/>
                </a:solidFill>
              </a:rPr>
              <a:t>Real-data checks and fixes</a:t>
            </a:r>
            <a:endParaRPr lang="en-US" sz="1300" dirty="0"/>
          </a:p>
          <a:p>
            <a:pPr marL="177800" indent="-177800">
              <a:spcAft>
                <a:spcPts val="400"/>
              </a:spcAft>
              <a:buSzPct val="100000"/>
              <a:buChar char="•"/>
            </a:pPr>
            <a:r>
              <a:rPr lang="en-US" sz="1300" dirty="0">
                <a:solidFill>
                  <a:schemeClr val="tx1"/>
                </a:solidFill>
              </a:rPr>
              <a:t>Next-view scoring</a:t>
            </a:r>
            <a:endParaRPr lang="en-US" sz="1300" dirty="0"/>
          </a:p>
          <a:p>
            <a:pPr marL="177800" indent="-177800">
              <a:spcAft>
                <a:spcPts val="400"/>
              </a:spcAft>
              <a:buSzPct val="100000"/>
              <a:buChar char="•"/>
            </a:pPr>
            <a:r>
              <a:rPr lang="en-US" sz="1300" dirty="0">
                <a:solidFill>
                  <a:schemeClr val="tx1"/>
                </a:solidFill>
              </a:rPr>
              <a:t>Upload page; the first phone attempt</a:t>
            </a:r>
            <a:endParaRPr lang="en-US" sz="1300" dirty="0"/>
          </a:p>
        </p:txBody>
      </p:sp>
      <p:sp>
        <p:nvSpPr>
          <p:cNvPr id="33" name="Shape 31"/>
          <p:cNvSpPr/>
          <p:nvPr/>
        </p:nvSpPr>
        <p:spPr>
          <a:xfrm>
            <a:off x="8406079" y="5321808"/>
            <a:ext cx="2962656" cy="384048"/>
          </a:xfrm>
          <a:prstGeom prst="roundRect">
            <a:avLst>
              <a:gd name="adj" fmla="val 19048"/>
            </a:avLst>
          </a:prstGeom>
          <a:solidFill>
            <a:srgbClr val="FFFFFF"/>
          </a:solidFill>
          <a:ln w="9525">
            <a:solidFill>
              <a:srgbClr val="CDD6D9"/>
            </a:solidFill>
            <a:prstDash val="solid"/>
          </a:ln>
        </p:spPr>
      </p:sp>
      <p:sp>
        <p:nvSpPr>
          <p:cNvPr id="34" name="Text 32"/>
          <p:cNvSpPr txBox="1"/>
          <p:nvPr/>
        </p:nvSpPr>
        <p:spPr>
          <a:xfrm>
            <a:off x="8479231" y="5321808"/>
            <a:ext cx="2816352" cy="384048"/>
          </a:xfrm>
          <a:prstGeom prst="rect">
            <a:avLst/>
          </a:prstGeom>
          <a:noFill/>
          <a:ln/>
        </p:spPr>
        <p:txBody>
          <a:bodyPr wrap="square" lIns="0" tIns="0" rIns="0" bIns="0" rtlCol="0" anchor="ctr">
            <a:normAutofit/>
          </a:bodyPr>
          <a:lstStyle/>
          <a:p>
            <a:pPr algn="ctr" indent="0" marL="0">
              <a:buNone/>
            </a:pPr>
            <a:r>
              <a:rPr lang="en-US" sz="1200" b="1" dirty="0">
                <a:solidFill>
                  <a:schemeClr val="accent1"/>
                </a:solidFill>
              </a:rPr>
              <a:t>Presents slides 10–15</a:t>
            </a:r>
            <a:endParaRPr lang="en-US" sz="1200" dirty="0"/>
          </a:p>
        </p:txBody>
      </p:sp>
      <p:sp>
        <p:nvSpPr>
          <p:cNvPr id="35" name="Text 33"/>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Lanes are places in the code, not people: anyone can take any story, and a different teammate reviews it.</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COMPLETED WORK · SYSTEM OVERVIEW</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Mamadou</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One pipeline: phone photos in, metric 3D model out</a:t>
            </a:r>
            <a:endParaRPr lang="en-US" sz="3000" dirty="0"/>
          </a:p>
        </p:txBody>
      </p:sp>
      <p:sp>
        <p:nvSpPr>
          <p:cNvPr id="5" name="Shape 3"/>
          <p:cNvSpPr/>
          <p:nvPr/>
        </p:nvSpPr>
        <p:spPr>
          <a:xfrm>
            <a:off x="548640" y="1417320"/>
            <a:ext cx="2103120" cy="2286000"/>
          </a:xfrm>
          <a:prstGeom prst="roundRect">
            <a:avLst>
              <a:gd name="adj" fmla="val 3478"/>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325880" y="1673352"/>
            <a:ext cx="548640" cy="548640"/>
          </a:xfrm>
          <a:prstGeom prst="rect">
            <a:avLst/>
          </a:prstGeom>
        </p:spPr>
      </p:pic>
      <p:sp>
        <p:nvSpPr>
          <p:cNvPr id="7" name="Text 4"/>
          <p:cNvSpPr txBox="1"/>
          <p:nvPr/>
        </p:nvSpPr>
        <p:spPr>
          <a:xfrm>
            <a:off x="640080" y="2359152"/>
            <a:ext cx="1920240" cy="320040"/>
          </a:xfrm>
          <a:prstGeom prst="rect">
            <a:avLst/>
          </a:prstGeom>
          <a:noFill/>
          <a:ln/>
        </p:spPr>
        <p:txBody>
          <a:bodyPr wrap="square" lIns="0" tIns="0" rIns="0" bIns="0" rtlCol="0" anchor="t"/>
          <a:lstStyle/>
          <a:p>
            <a:pPr algn="ctr" indent="0" marL="0">
              <a:buNone/>
            </a:pPr>
            <a:r>
              <a:rPr lang="en-US" sz="1500" b="1" dirty="0">
                <a:solidFill>
                  <a:schemeClr val="bg1"/>
                </a:solidFill>
              </a:rPr>
              <a:t>Capture app</a:t>
            </a:r>
            <a:endParaRPr lang="en-US" sz="1500" dirty="0"/>
          </a:p>
        </p:txBody>
      </p:sp>
      <p:sp>
        <p:nvSpPr>
          <p:cNvPr id="8" name="Text 5"/>
          <p:cNvSpPr txBox="1"/>
          <p:nvPr/>
        </p:nvSpPr>
        <p:spPr>
          <a:xfrm>
            <a:off x="640080" y="2715768"/>
            <a:ext cx="1920240" cy="822960"/>
          </a:xfrm>
          <a:prstGeom prst="rect">
            <a:avLst/>
          </a:prstGeom>
          <a:noFill/>
          <a:ln/>
        </p:spPr>
        <p:txBody>
          <a:bodyPr wrap="square" lIns="0" tIns="0" rIns="0" bIns="0" rtlCol="0" anchor="t"/>
          <a:lstStyle/>
          <a:p>
            <a:pPr algn="ctr" indent="0" marL="0">
              <a:buNone/>
            </a:pPr>
            <a:r>
              <a:rPr lang="en-US" sz="1150" dirty="0">
                <a:solidFill>
                  <a:schemeClr val="bg1"/>
                </a:solidFill>
              </a:rPr>
              <a:t>phone browser:</a:t>
            </a:r>
            <a:endParaRPr lang="en-US" sz="1150" dirty="0"/>
          </a:p>
          <a:p>
            <a:pPr algn="ctr" indent="0" marL="0">
              <a:buNone/>
            </a:pPr>
            <a:r>
              <a:rPr lang="en-US" sz="1150" dirty="0">
                <a:solidFill>
                  <a:schemeClr val="bg1"/>
                </a:solidFill>
              </a:rPr>
              <a:t>photos + gyro in,</a:t>
            </a:r>
            <a:endParaRPr lang="en-US" sz="1150" dirty="0"/>
          </a:p>
          <a:p>
            <a:pPr algn="ctr" indent="0" marL="0">
              <a:buNone/>
            </a:pPr>
            <a:r>
              <a:rPr lang="en-US" sz="1150" dirty="0">
                <a:solidFill>
                  <a:schemeClr val="bg1"/>
                </a:solidFill>
              </a:rPr>
              <a:t>coloured 3D model out</a:t>
            </a:r>
            <a:endParaRPr lang="en-US" sz="1150" dirty="0"/>
          </a:p>
        </p:txBody>
      </p:sp>
      <p:sp>
        <p:nvSpPr>
          <p:cNvPr id="9" name="Shape 6"/>
          <p:cNvSpPr/>
          <p:nvPr/>
        </p:nvSpPr>
        <p:spPr>
          <a:xfrm>
            <a:off x="2724912" y="2606040"/>
            <a:ext cx="566928" cy="0"/>
          </a:xfrm>
          <a:prstGeom prst="line">
            <a:avLst/>
          </a:prstGeom>
          <a:noFill/>
          <a:ln w="19050">
            <a:solidFill>
              <a:schemeClr val="accent4"/>
            </a:solidFill>
            <a:prstDash val="solid"/>
            <a:headEnd type="triangle"/>
            <a:tailEnd type="triangle"/>
          </a:ln>
        </p:spPr>
      </p:sp>
      <p:sp>
        <p:nvSpPr>
          <p:cNvPr id="10" name="Text 7"/>
          <p:cNvSpPr txBox="1"/>
          <p:nvPr/>
        </p:nvSpPr>
        <p:spPr>
          <a:xfrm>
            <a:off x="2651760" y="2057400"/>
            <a:ext cx="731520" cy="457200"/>
          </a:xfrm>
          <a:prstGeom prst="rect">
            <a:avLst/>
          </a:prstGeom>
          <a:noFill/>
          <a:ln/>
        </p:spPr>
        <p:txBody>
          <a:bodyPr wrap="square" lIns="0" tIns="0" rIns="0" bIns="0" rtlCol="0" anchor="t"/>
          <a:lstStyle/>
          <a:p>
            <a:pPr algn="ctr" indent="0" marL="0">
              <a:buNone/>
            </a:pPr>
            <a:r>
              <a:rPr lang="en-US" sz="950" dirty="0">
                <a:solidFill>
                  <a:schemeClr val="accent4"/>
                </a:solidFill>
              </a:rPr>
              <a:t>HTTPS</a:t>
            </a:r>
            <a:endParaRPr lang="en-US" sz="950" dirty="0"/>
          </a:p>
          <a:p>
            <a:pPr algn="ctr" indent="0" marL="0">
              <a:buNone/>
            </a:pPr>
            <a:r>
              <a:rPr lang="en-US" sz="950" dirty="0">
                <a:solidFill>
                  <a:schemeClr val="accent4"/>
                </a:solidFill>
              </a:rPr>
              <a:t>API</a:t>
            </a:r>
            <a:endParaRPr lang="en-US" sz="950" dirty="0"/>
          </a:p>
        </p:txBody>
      </p:sp>
      <p:sp>
        <p:nvSpPr>
          <p:cNvPr id="11" name="Shape 8"/>
          <p:cNvSpPr/>
          <p:nvPr/>
        </p:nvSpPr>
        <p:spPr>
          <a:xfrm>
            <a:off x="3401568" y="1417320"/>
            <a:ext cx="8241487" cy="2286000"/>
          </a:xfrm>
          <a:prstGeom prst="roundRect">
            <a:avLst>
              <a:gd name="adj" fmla="val 2400"/>
            </a:avLst>
          </a:prstGeom>
          <a:solidFill>
            <a:schemeClr val="bg2"/>
          </a:solidFill>
          <a:ln w="12700">
            <a:solidFill>
              <a:schemeClr val="accent6"/>
            </a:solidFill>
            <a:prstDash val="solid"/>
          </a:ln>
        </p:spPr>
      </p:sp>
      <p:sp>
        <p:nvSpPr>
          <p:cNvPr id="12" name="Text 9"/>
          <p:cNvSpPr txBox="1"/>
          <p:nvPr/>
        </p:nvSpPr>
        <p:spPr>
          <a:xfrm>
            <a:off x="3630168" y="1527048"/>
            <a:ext cx="5486400" cy="256032"/>
          </a:xfrm>
          <a:prstGeom prst="rect">
            <a:avLst/>
          </a:prstGeom>
          <a:noFill/>
          <a:ln/>
        </p:spPr>
        <p:txBody>
          <a:bodyPr wrap="square" lIns="0" tIns="0" rIns="0" bIns="0" rtlCol="0" anchor="t"/>
          <a:lstStyle/>
          <a:p>
            <a:pPr indent="0" marL="0">
              <a:buNone/>
            </a:pPr>
            <a:r>
              <a:rPr lang="en-US" sz="1000" b="1" spc="150" kern="0" dirty="0">
                <a:solidFill>
                  <a:schemeClr val="accent1"/>
                </a:solidFill>
              </a:rPr>
              <a:t>RECONSTRUCTION SERVICE · CLOUD GPU</a:t>
            </a:r>
            <a:endParaRPr lang="en-US" sz="1000" dirty="0"/>
          </a:p>
        </p:txBody>
      </p:sp>
      <p:sp>
        <p:nvSpPr>
          <p:cNvPr id="13" name="Shape 10"/>
          <p:cNvSpPr/>
          <p:nvPr/>
        </p:nvSpPr>
        <p:spPr>
          <a:xfrm>
            <a:off x="3630168" y="1874520"/>
            <a:ext cx="1783080" cy="713232"/>
          </a:xfrm>
          <a:prstGeom prst="roundRect">
            <a:avLst>
              <a:gd name="adj" fmla="val 10256"/>
            </a:avLst>
          </a:prstGeom>
          <a:solidFill>
            <a:schemeClr val="accent1"/>
          </a:solidFill>
          <a:ln w="12700">
            <a:solidFill>
              <a:schemeClr val="accent1"/>
            </a:solidFill>
            <a:prstDash val="solid"/>
          </a:ln>
        </p:spPr>
      </p:sp>
      <p:sp>
        <p:nvSpPr>
          <p:cNvPr id="14" name="Text 11"/>
          <p:cNvSpPr txBox="1"/>
          <p:nvPr/>
        </p:nvSpPr>
        <p:spPr>
          <a:xfrm>
            <a:off x="3721608" y="1938528"/>
            <a:ext cx="274320" cy="274320"/>
          </a:xfrm>
          <a:prstGeom prst="rect">
            <a:avLst/>
          </a:prstGeom>
          <a:noFill/>
          <a:ln/>
        </p:spPr>
        <p:txBody>
          <a:bodyPr wrap="square" lIns="0" tIns="0" rIns="0" bIns="0" rtlCol="0" anchor="t"/>
          <a:lstStyle/>
          <a:p>
            <a:pPr indent="0" marL="0">
              <a:buNone/>
            </a:pPr>
            <a:r>
              <a:rPr lang="en-US" sz="1100" b="1" dirty="0">
                <a:solidFill>
                  <a:schemeClr val="accent5"/>
                </a:solidFill>
              </a:rPr>
              <a:t>1</a:t>
            </a:r>
            <a:endParaRPr lang="en-US" sz="1100" dirty="0"/>
          </a:p>
        </p:txBody>
      </p:sp>
      <p:sp>
        <p:nvSpPr>
          <p:cNvPr id="15" name="Text 12"/>
          <p:cNvSpPr txBox="1"/>
          <p:nvPr/>
        </p:nvSpPr>
        <p:spPr>
          <a:xfrm>
            <a:off x="3904488" y="1874520"/>
            <a:ext cx="1435608" cy="713232"/>
          </a:xfrm>
          <a:prstGeom prst="rect">
            <a:avLst/>
          </a:prstGeom>
          <a:noFill/>
          <a:ln/>
        </p:spPr>
        <p:txBody>
          <a:bodyPr wrap="square" lIns="0" tIns="0" rIns="0" bIns="0" rtlCol="0" anchor="ctr"/>
          <a:lstStyle/>
          <a:p>
            <a:pPr algn="ctr" indent="0" marL="0">
              <a:buNone/>
            </a:pPr>
            <a:r>
              <a:rPr lang="en-US" sz="1200" b="1" dirty="0">
                <a:solidFill>
                  <a:schemeClr val="bg1"/>
                </a:solidFill>
              </a:rPr>
              <a:t>Board pose</a:t>
            </a:r>
            <a:endParaRPr lang="en-US" sz="1200" dirty="0"/>
          </a:p>
          <a:p>
            <a:pPr algn="ctr" indent="0" marL="0">
              <a:buNone/>
            </a:pPr>
            <a:r>
              <a:rPr lang="en-US" sz="1200" b="1" dirty="0">
                <a:solidFill>
                  <a:schemeClr val="bg1"/>
                </a:solidFill>
              </a:rPr>
              <a:t>per photo</a:t>
            </a:r>
            <a:endParaRPr lang="en-US" sz="1200" dirty="0"/>
          </a:p>
        </p:txBody>
      </p:sp>
      <p:sp>
        <p:nvSpPr>
          <p:cNvPr id="16" name="Shape 13"/>
          <p:cNvSpPr/>
          <p:nvPr/>
        </p:nvSpPr>
        <p:spPr>
          <a:xfrm>
            <a:off x="5449824" y="2231136"/>
            <a:ext cx="144170" cy="0"/>
          </a:xfrm>
          <a:prstGeom prst="line">
            <a:avLst/>
          </a:prstGeom>
          <a:noFill/>
          <a:ln w="15875">
            <a:solidFill>
              <a:schemeClr val="accent1"/>
            </a:solidFill>
            <a:prstDash val="solid"/>
            <a:tailEnd type="triangle"/>
          </a:ln>
        </p:spPr>
      </p:sp>
      <p:sp>
        <p:nvSpPr>
          <p:cNvPr id="17" name="Shape 14"/>
          <p:cNvSpPr/>
          <p:nvPr/>
        </p:nvSpPr>
        <p:spPr>
          <a:xfrm>
            <a:off x="5630570" y="1874520"/>
            <a:ext cx="1783080" cy="713232"/>
          </a:xfrm>
          <a:prstGeom prst="roundRect">
            <a:avLst>
              <a:gd name="adj" fmla="val 10256"/>
            </a:avLst>
          </a:prstGeom>
          <a:solidFill>
            <a:schemeClr val="accent1"/>
          </a:solidFill>
          <a:ln w="12700">
            <a:solidFill>
              <a:schemeClr val="accent1"/>
            </a:solidFill>
            <a:prstDash val="solid"/>
          </a:ln>
        </p:spPr>
      </p:sp>
      <p:sp>
        <p:nvSpPr>
          <p:cNvPr id="18" name="Text 15"/>
          <p:cNvSpPr txBox="1"/>
          <p:nvPr/>
        </p:nvSpPr>
        <p:spPr>
          <a:xfrm>
            <a:off x="5722010" y="1938528"/>
            <a:ext cx="274320" cy="274320"/>
          </a:xfrm>
          <a:prstGeom prst="rect">
            <a:avLst/>
          </a:prstGeom>
          <a:noFill/>
          <a:ln/>
        </p:spPr>
        <p:txBody>
          <a:bodyPr wrap="square" lIns="0" tIns="0" rIns="0" bIns="0" rtlCol="0" anchor="t"/>
          <a:lstStyle/>
          <a:p>
            <a:pPr indent="0" marL="0">
              <a:buNone/>
            </a:pPr>
            <a:r>
              <a:rPr lang="en-US" sz="1100" b="1" dirty="0">
                <a:solidFill>
                  <a:schemeClr val="accent5"/>
                </a:solidFill>
              </a:rPr>
              <a:t>2</a:t>
            </a:r>
            <a:endParaRPr lang="en-US" sz="1100" dirty="0"/>
          </a:p>
        </p:txBody>
      </p:sp>
      <p:sp>
        <p:nvSpPr>
          <p:cNvPr id="19" name="Text 16"/>
          <p:cNvSpPr txBox="1"/>
          <p:nvPr/>
        </p:nvSpPr>
        <p:spPr>
          <a:xfrm>
            <a:off x="5904890" y="1874520"/>
            <a:ext cx="1435608" cy="713232"/>
          </a:xfrm>
          <a:prstGeom prst="rect">
            <a:avLst/>
          </a:prstGeom>
          <a:noFill/>
          <a:ln/>
        </p:spPr>
        <p:txBody>
          <a:bodyPr wrap="square" lIns="0" tIns="0" rIns="0" bIns="0" rtlCol="0" anchor="ctr"/>
          <a:lstStyle/>
          <a:p>
            <a:pPr algn="ctr" indent="0" marL="0">
              <a:buNone/>
            </a:pPr>
            <a:r>
              <a:rPr lang="en-US" sz="1200" b="1" dirty="0">
                <a:solidFill>
                  <a:schemeClr val="bg1"/>
                </a:solidFill>
              </a:rPr>
              <a:t>Learned 3D</a:t>
            </a:r>
            <a:endParaRPr lang="en-US" sz="1200" dirty="0"/>
          </a:p>
          <a:p>
            <a:pPr algn="ctr" indent="0" marL="0">
              <a:buNone/>
            </a:pPr>
            <a:r>
              <a:rPr lang="en-US" sz="1200" b="1" dirty="0">
                <a:solidFill>
                  <a:schemeClr val="bg1"/>
                </a:solidFill>
              </a:rPr>
              <a:t>reconstruction</a:t>
            </a:r>
            <a:endParaRPr lang="en-US" sz="1200" dirty="0"/>
          </a:p>
        </p:txBody>
      </p:sp>
      <p:sp>
        <p:nvSpPr>
          <p:cNvPr id="20" name="Shape 17"/>
          <p:cNvSpPr/>
          <p:nvPr/>
        </p:nvSpPr>
        <p:spPr>
          <a:xfrm>
            <a:off x="7450226" y="2231136"/>
            <a:ext cx="144170" cy="0"/>
          </a:xfrm>
          <a:prstGeom prst="line">
            <a:avLst/>
          </a:prstGeom>
          <a:noFill/>
          <a:ln w="15875">
            <a:solidFill>
              <a:schemeClr val="accent1"/>
            </a:solidFill>
            <a:prstDash val="solid"/>
            <a:tailEnd type="triangle"/>
          </a:ln>
        </p:spPr>
      </p:sp>
      <p:sp>
        <p:nvSpPr>
          <p:cNvPr id="21" name="Shape 18"/>
          <p:cNvSpPr/>
          <p:nvPr/>
        </p:nvSpPr>
        <p:spPr>
          <a:xfrm>
            <a:off x="7630973" y="1874520"/>
            <a:ext cx="1783080" cy="713232"/>
          </a:xfrm>
          <a:prstGeom prst="roundRect">
            <a:avLst>
              <a:gd name="adj" fmla="val 10256"/>
            </a:avLst>
          </a:prstGeom>
          <a:solidFill>
            <a:schemeClr val="accent1"/>
          </a:solidFill>
          <a:ln w="12700">
            <a:solidFill>
              <a:schemeClr val="accent1"/>
            </a:solidFill>
            <a:prstDash val="solid"/>
          </a:ln>
        </p:spPr>
      </p:sp>
      <p:sp>
        <p:nvSpPr>
          <p:cNvPr id="22" name="Text 19"/>
          <p:cNvSpPr txBox="1"/>
          <p:nvPr/>
        </p:nvSpPr>
        <p:spPr>
          <a:xfrm>
            <a:off x="7722413" y="1938528"/>
            <a:ext cx="274320" cy="274320"/>
          </a:xfrm>
          <a:prstGeom prst="rect">
            <a:avLst/>
          </a:prstGeom>
          <a:noFill/>
          <a:ln/>
        </p:spPr>
        <p:txBody>
          <a:bodyPr wrap="square" lIns="0" tIns="0" rIns="0" bIns="0" rtlCol="0" anchor="t"/>
          <a:lstStyle/>
          <a:p>
            <a:pPr indent="0" marL="0">
              <a:buNone/>
            </a:pPr>
            <a:r>
              <a:rPr lang="en-US" sz="1100" b="1" dirty="0">
                <a:solidFill>
                  <a:schemeClr val="accent5"/>
                </a:solidFill>
              </a:rPr>
              <a:t>3</a:t>
            </a:r>
            <a:endParaRPr lang="en-US" sz="1100" dirty="0"/>
          </a:p>
        </p:txBody>
      </p:sp>
      <p:sp>
        <p:nvSpPr>
          <p:cNvPr id="23" name="Text 20"/>
          <p:cNvSpPr txBox="1"/>
          <p:nvPr/>
        </p:nvSpPr>
        <p:spPr>
          <a:xfrm>
            <a:off x="7905293" y="1874520"/>
            <a:ext cx="1435608" cy="713232"/>
          </a:xfrm>
          <a:prstGeom prst="rect">
            <a:avLst/>
          </a:prstGeom>
          <a:noFill/>
          <a:ln/>
        </p:spPr>
        <p:txBody>
          <a:bodyPr wrap="square" lIns="0" tIns="0" rIns="0" bIns="0" rtlCol="0" anchor="ctr"/>
          <a:lstStyle/>
          <a:p>
            <a:pPr algn="ctr" indent="0" marL="0">
              <a:buNone/>
            </a:pPr>
            <a:r>
              <a:rPr lang="en-US" sz="1200" b="1" dirty="0">
                <a:solidFill>
                  <a:schemeClr val="bg1"/>
                </a:solidFill>
              </a:rPr>
              <a:t>Metric</a:t>
            </a:r>
            <a:endParaRPr lang="en-US" sz="1200" dirty="0"/>
          </a:p>
          <a:p>
            <a:pPr algn="ctr" indent="0" marL="0">
              <a:buNone/>
            </a:pPr>
            <a:r>
              <a:rPr lang="en-US" sz="1200" b="1" dirty="0">
                <a:solidFill>
                  <a:schemeClr val="bg1"/>
                </a:solidFill>
              </a:rPr>
              <a:t>alignment (mm)</a:t>
            </a:r>
            <a:endParaRPr lang="en-US" sz="1200" dirty="0"/>
          </a:p>
        </p:txBody>
      </p:sp>
      <p:sp>
        <p:nvSpPr>
          <p:cNvPr id="24" name="Shape 21"/>
          <p:cNvSpPr/>
          <p:nvPr/>
        </p:nvSpPr>
        <p:spPr>
          <a:xfrm>
            <a:off x="9450629" y="2231136"/>
            <a:ext cx="144170" cy="0"/>
          </a:xfrm>
          <a:prstGeom prst="line">
            <a:avLst/>
          </a:prstGeom>
          <a:noFill/>
          <a:ln w="15875">
            <a:solidFill>
              <a:schemeClr val="accent1"/>
            </a:solidFill>
            <a:prstDash val="solid"/>
            <a:tailEnd type="triangle"/>
          </a:ln>
        </p:spPr>
      </p:sp>
      <p:sp>
        <p:nvSpPr>
          <p:cNvPr id="25" name="Shape 22"/>
          <p:cNvSpPr/>
          <p:nvPr/>
        </p:nvSpPr>
        <p:spPr>
          <a:xfrm>
            <a:off x="9631375" y="1874520"/>
            <a:ext cx="1783080" cy="713232"/>
          </a:xfrm>
          <a:prstGeom prst="roundRect">
            <a:avLst>
              <a:gd name="adj" fmla="val 10256"/>
            </a:avLst>
          </a:prstGeom>
          <a:solidFill>
            <a:schemeClr val="accent1"/>
          </a:solidFill>
          <a:ln w="12700">
            <a:solidFill>
              <a:schemeClr val="accent1"/>
            </a:solidFill>
            <a:prstDash val="solid"/>
          </a:ln>
        </p:spPr>
      </p:sp>
      <p:sp>
        <p:nvSpPr>
          <p:cNvPr id="26" name="Text 23"/>
          <p:cNvSpPr txBox="1"/>
          <p:nvPr/>
        </p:nvSpPr>
        <p:spPr>
          <a:xfrm>
            <a:off x="9722815" y="1938528"/>
            <a:ext cx="274320" cy="274320"/>
          </a:xfrm>
          <a:prstGeom prst="rect">
            <a:avLst/>
          </a:prstGeom>
          <a:noFill/>
          <a:ln/>
        </p:spPr>
        <p:txBody>
          <a:bodyPr wrap="square" lIns="0" tIns="0" rIns="0" bIns="0" rtlCol="0" anchor="t"/>
          <a:lstStyle/>
          <a:p>
            <a:pPr indent="0" marL="0">
              <a:buNone/>
            </a:pPr>
            <a:r>
              <a:rPr lang="en-US" sz="1100" b="1" dirty="0">
                <a:solidFill>
                  <a:schemeClr val="accent5"/>
                </a:solidFill>
              </a:rPr>
              <a:t>4</a:t>
            </a:r>
            <a:endParaRPr lang="en-US" sz="1100" dirty="0"/>
          </a:p>
        </p:txBody>
      </p:sp>
      <p:sp>
        <p:nvSpPr>
          <p:cNvPr id="27" name="Text 24"/>
          <p:cNvSpPr txBox="1"/>
          <p:nvPr/>
        </p:nvSpPr>
        <p:spPr>
          <a:xfrm>
            <a:off x="9905695" y="1874520"/>
            <a:ext cx="1435608" cy="713232"/>
          </a:xfrm>
          <a:prstGeom prst="rect">
            <a:avLst/>
          </a:prstGeom>
          <a:noFill/>
          <a:ln/>
        </p:spPr>
        <p:txBody>
          <a:bodyPr wrap="square" lIns="0" tIns="0" rIns="0" bIns="0" rtlCol="0" anchor="ctr"/>
          <a:lstStyle/>
          <a:p>
            <a:pPr algn="ctr" indent="0" marL="0">
              <a:buNone/>
            </a:pPr>
            <a:r>
              <a:rPr lang="en-US" sz="1200" b="1" dirty="0">
                <a:solidFill>
                  <a:schemeClr val="bg1"/>
                </a:solidFill>
              </a:rPr>
              <a:t>Segment the</a:t>
            </a:r>
            <a:endParaRPr lang="en-US" sz="1200" dirty="0"/>
          </a:p>
          <a:p>
            <a:pPr algn="ctr" indent="0" marL="0">
              <a:buNone/>
            </a:pPr>
            <a:r>
              <a:rPr lang="en-US" sz="1200" b="1" dirty="0">
                <a:solidFill>
                  <a:schemeClr val="bg1"/>
                </a:solidFill>
              </a:rPr>
              <a:t>part</a:t>
            </a:r>
            <a:endParaRPr lang="en-US" sz="1200" dirty="0"/>
          </a:p>
        </p:txBody>
      </p:sp>
      <p:sp>
        <p:nvSpPr>
          <p:cNvPr id="28" name="Shape 25"/>
          <p:cNvSpPr/>
          <p:nvPr/>
        </p:nvSpPr>
        <p:spPr>
          <a:xfrm>
            <a:off x="3630168" y="2770632"/>
            <a:ext cx="1783080" cy="713232"/>
          </a:xfrm>
          <a:prstGeom prst="roundRect">
            <a:avLst>
              <a:gd name="adj" fmla="val 10256"/>
            </a:avLst>
          </a:prstGeom>
          <a:solidFill>
            <a:schemeClr val="accent1"/>
          </a:solidFill>
          <a:ln w="12700">
            <a:solidFill>
              <a:schemeClr val="accent1"/>
            </a:solidFill>
            <a:prstDash val="solid"/>
          </a:ln>
        </p:spPr>
      </p:sp>
      <p:sp>
        <p:nvSpPr>
          <p:cNvPr id="29" name="Text 26"/>
          <p:cNvSpPr txBox="1"/>
          <p:nvPr/>
        </p:nvSpPr>
        <p:spPr>
          <a:xfrm>
            <a:off x="3721608" y="2834640"/>
            <a:ext cx="274320" cy="274320"/>
          </a:xfrm>
          <a:prstGeom prst="rect">
            <a:avLst/>
          </a:prstGeom>
          <a:noFill/>
          <a:ln/>
        </p:spPr>
        <p:txBody>
          <a:bodyPr wrap="square" lIns="0" tIns="0" rIns="0" bIns="0" rtlCol="0" anchor="t"/>
          <a:lstStyle/>
          <a:p>
            <a:pPr indent="0" marL="0">
              <a:buNone/>
            </a:pPr>
            <a:r>
              <a:rPr lang="en-US" sz="1100" b="1" dirty="0">
                <a:solidFill>
                  <a:schemeClr val="accent5"/>
                </a:solidFill>
              </a:rPr>
              <a:t>5</a:t>
            </a:r>
            <a:endParaRPr lang="en-US" sz="1100" dirty="0"/>
          </a:p>
        </p:txBody>
      </p:sp>
      <p:sp>
        <p:nvSpPr>
          <p:cNvPr id="30" name="Text 27"/>
          <p:cNvSpPr txBox="1"/>
          <p:nvPr/>
        </p:nvSpPr>
        <p:spPr>
          <a:xfrm>
            <a:off x="3904488" y="2770632"/>
            <a:ext cx="1435608" cy="713232"/>
          </a:xfrm>
          <a:prstGeom prst="rect">
            <a:avLst/>
          </a:prstGeom>
          <a:noFill/>
          <a:ln/>
        </p:spPr>
        <p:txBody>
          <a:bodyPr wrap="square" lIns="0" tIns="0" rIns="0" bIns="0" rtlCol="0" anchor="ctr"/>
          <a:lstStyle/>
          <a:p>
            <a:pPr algn="ctr" indent="0" marL="0">
              <a:buNone/>
            </a:pPr>
            <a:r>
              <a:rPr lang="en-US" sz="1200" b="1" dirty="0">
                <a:solidFill>
                  <a:schemeClr val="bg1"/>
                </a:solidFill>
              </a:rPr>
              <a:t>TSDF fusion</a:t>
            </a:r>
            <a:endParaRPr lang="en-US" sz="1200" dirty="0"/>
          </a:p>
          <a:p>
            <a:pPr algn="ctr" indent="0" marL="0">
              <a:buNone/>
            </a:pPr>
            <a:r>
              <a:rPr lang="en-US" sz="1200" b="1" dirty="0">
                <a:solidFill>
                  <a:schemeClr val="bg1"/>
                </a:solidFill>
              </a:rPr>
              <a:t>to a mesh</a:t>
            </a:r>
            <a:endParaRPr lang="en-US" sz="1200" dirty="0"/>
          </a:p>
        </p:txBody>
      </p:sp>
      <p:sp>
        <p:nvSpPr>
          <p:cNvPr id="31" name="Shape 28"/>
          <p:cNvSpPr/>
          <p:nvPr/>
        </p:nvSpPr>
        <p:spPr>
          <a:xfrm>
            <a:off x="5449824" y="3127248"/>
            <a:ext cx="144170" cy="0"/>
          </a:xfrm>
          <a:prstGeom prst="line">
            <a:avLst/>
          </a:prstGeom>
          <a:noFill/>
          <a:ln w="15875">
            <a:solidFill>
              <a:schemeClr val="accent1"/>
            </a:solidFill>
            <a:prstDash val="solid"/>
            <a:tailEnd type="triangle"/>
          </a:ln>
        </p:spPr>
      </p:sp>
      <p:sp>
        <p:nvSpPr>
          <p:cNvPr id="32" name="Shape 29"/>
          <p:cNvSpPr/>
          <p:nvPr/>
        </p:nvSpPr>
        <p:spPr>
          <a:xfrm>
            <a:off x="5630570" y="2770632"/>
            <a:ext cx="1783080" cy="713232"/>
          </a:xfrm>
          <a:prstGeom prst="roundRect">
            <a:avLst>
              <a:gd name="adj" fmla="val 10256"/>
            </a:avLst>
          </a:prstGeom>
          <a:solidFill>
            <a:schemeClr val="accent1"/>
          </a:solidFill>
          <a:ln w="12700">
            <a:solidFill>
              <a:schemeClr val="accent1"/>
            </a:solidFill>
            <a:prstDash val="solid"/>
          </a:ln>
        </p:spPr>
      </p:sp>
      <p:sp>
        <p:nvSpPr>
          <p:cNvPr id="33" name="Text 30"/>
          <p:cNvSpPr txBox="1"/>
          <p:nvPr/>
        </p:nvSpPr>
        <p:spPr>
          <a:xfrm>
            <a:off x="5722010" y="2834640"/>
            <a:ext cx="274320" cy="274320"/>
          </a:xfrm>
          <a:prstGeom prst="rect">
            <a:avLst/>
          </a:prstGeom>
          <a:noFill/>
          <a:ln/>
        </p:spPr>
        <p:txBody>
          <a:bodyPr wrap="square" lIns="0" tIns="0" rIns="0" bIns="0" rtlCol="0" anchor="t"/>
          <a:lstStyle/>
          <a:p>
            <a:pPr indent="0" marL="0">
              <a:buNone/>
            </a:pPr>
            <a:r>
              <a:rPr lang="en-US" sz="1100" b="1" dirty="0">
                <a:solidFill>
                  <a:schemeClr val="accent5"/>
                </a:solidFill>
              </a:rPr>
              <a:t>6</a:t>
            </a:r>
            <a:endParaRPr lang="en-US" sz="1100" dirty="0"/>
          </a:p>
        </p:txBody>
      </p:sp>
      <p:sp>
        <p:nvSpPr>
          <p:cNvPr id="34" name="Text 31"/>
          <p:cNvSpPr txBox="1"/>
          <p:nvPr/>
        </p:nvSpPr>
        <p:spPr>
          <a:xfrm>
            <a:off x="5904890" y="2770632"/>
            <a:ext cx="1435608" cy="713232"/>
          </a:xfrm>
          <a:prstGeom prst="rect">
            <a:avLst/>
          </a:prstGeom>
          <a:noFill/>
          <a:ln/>
        </p:spPr>
        <p:txBody>
          <a:bodyPr wrap="square" lIns="0" tIns="0" rIns="0" bIns="0" rtlCol="0" anchor="ctr"/>
          <a:lstStyle/>
          <a:p>
            <a:pPr algn="ctr" indent="0" marL="0">
              <a:buNone/>
            </a:pPr>
            <a:r>
              <a:rPr lang="en-US" sz="1200" b="1" dirty="0">
                <a:solidFill>
                  <a:schemeClr val="bg1"/>
                </a:solidFill>
              </a:rPr>
              <a:t>Mesh cleanup</a:t>
            </a:r>
            <a:endParaRPr lang="en-US" sz="1200" dirty="0"/>
          </a:p>
        </p:txBody>
      </p:sp>
      <p:sp>
        <p:nvSpPr>
          <p:cNvPr id="35" name="Shape 32"/>
          <p:cNvSpPr/>
          <p:nvPr/>
        </p:nvSpPr>
        <p:spPr>
          <a:xfrm>
            <a:off x="7450226" y="3127248"/>
            <a:ext cx="144170" cy="0"/>
          </a:xfrm>
          <a:prstGeom prst="line">
            <a:avLst/>
          </a:prstGeom>
          <a:noFill/>
          <a:ln w="15875">
            <a:solidFill>
              <a:schemeClr val="accent1"/>
            </a:solidFill>
            <a:prstDash val="solid"/>
            <a:tailEnd type="triangle"/>
          </a:ln>
        </p:spPr>
      </p:sp>
      <p:sp>
        <p:nvSpPr>
          <p:cNvPr id="36" name="Shape 33"/>
          <p:cNvSpPr/>
          <p:nvPr/>
        </p:nvSpPr>
        <p:spPr>
          <a:xfrm>
            <a:off x="7630973" y="2770632"/>
            <a:ext cx="1783080" cy="713232"/>
          </a:xfrm>
          <a:prstGeom prst="roundRect">
            <a:avLst>
              <a:gd name="adj" fmla="val 10256"/>
            </a:avLst>
          </a:prstGeom>
          <a:solidFill>
            <a:schemeClr val="accent1"/>
          </a:solidFill>
          <a:ln w="12700">
            <a:solidFill>
              <a:schemeClr val="accent1"/>
            </a:solidFill>
            <a:prstDash val="solid"/>
          </a:ln>
        </p:spPr>
      </p:sp>
      <p:sp>
        <p:nvSpPr>
          <p:cNvPr id="37" name="Text 34"/>
          <p:cNvSpPr txBox="1"/>
          <p:nvPr/>
        </p:nvSpPr>
        <p:spPr>
          <a:xfrm>
            <a:off x="7722413" y="2834640"/>
            <a:ext cx="274320" cy="274320"/>
          </a:xfrm>
          <a:prstGeom prst="rect">
            <a:avLst/>
          </a:prstGeom>
          <a:noFill/>
          <a:ln/>
        </p:spPr>
        <p:txBody>
          <a:bodyPr wrap="square" lIns="0" tIns="0" rIns="0" bIns="0" rtlCol="0" anchor="t"/>
          <a:lstStyle/>
          <a:p>
            <a:pPr indent="0" marL="0">
              <a:buNone/>
            </a:pPr>
            <a:r>
              <a:rPr lang="en-US" sz="1100" b="1" dirty="0">
                <a:solidFill>
                  <a:schemeClr val="accent5"/>
                </a:solidFill>
              </a:rPr>
              <a:t>7</a:t>
            </a:r>
            <a:endParaRPr lang="en-US" sz="1100" dirty="0"/>
          </a:p>
        </p:txBody>
      </p:sp>
      <p:sp>
        <p:nvSpPr>
          <p:cNvPr id="38" name="Text 35"/>
          <p:cNvSpPr txBox="1"/>
          <p:nvPr/>
        </p:nvSpPr>
        <p:spPr>
          <a:xfrm>
            <a:off x="7905293" y="2770632"/>
            <a:ext cx="1435608" cy="713232"/>
          </a:xfrm>
          <a:prstGeom prst="rect">
            <a:avLst/>
          </a:prstGeom>
          <a:noFill/>
          <a:ln/>
        </p:spPr>
        <p:txBody>
          <a:bodyPr wrap="square" lIns="0" tIns="0" rIns="0" bIns="0" rtlCol="0" anchor="ctr"/>
          <a:lstStyle/>
          <a:p>
            <a:pPr algn="ctr" indent="0" marL="0">
              <a:buNone/>
            </a:pPr>
            <a:r>
              <a:rPr lang="en-US" sz="1200" b="1" dirty="0">
                <a:solidFill>
                  <a:schemeClr val="bg1"/>
                </a:solidFill>
              </a:rPr>
              <a:t>Observed / unseen</a:t>
            </a:r>
            <a:endParaRPr lang="en-US" sz="1200" dirty="0"/>
          </a:p>
          <a:p>
            <a:pPr algn="ctr" indent="0" marL="0">
              <a:buNone/>
            </a:pPr>
            <a:r>
              <a:rPr lang="en-US" sz="1200" b="1" dirty="0">
                <a:solidFill>
                  <a:schemeClr val="bg1"/>
                </a:solidFill>
              </a:rPr>
              <a:t>+ uncertainty σ</a:t>
            </a:r>
            <a:endParaRPr lang="en-US" sz="1200" dirty="0"/>
          </a:p>
        </p:txBody>
      </p:sp>
      <p:sp>
        <p:nvSpPr>
          <p:cNvPr id="39" name="Shape 36"/>
          <p:cNvSpPr/>
          <p:nvPr/>
        </p:nvSpPr>
        <p:spPr>
          <a:xfrm>
            <a:off x="9450629" y="3127248"/>
            <a:ext cx="144170" cy="0"/>
          </a:xfrm>
          <a:prstGeom prst="line">
            <a:avLst/>
          </a:prstGeom>
          <a:noFill/>
          <a:ln w="15875">
            <a:solidFill>
              <a:schemeClr val="accent1"/>
            </a:solidFill>
            <a:prstDash val="solid"/>
            <a:tailEnd type="triangle"/>
          </a:ln>
        </p:spPr>
      </p:sp>
      <p:sp>
        <p:nvSpPr>
          <p:cNvPr id="40" name="Shape 37"/>
          <p:cNvSpPr/>
          <p:nvPr/>
        </p:nvSpPr>
        <p:spPr>
          <a:xfrm>
            <a:off x="9631375" y="2770632"/>
            <a:ext cx="1783080" cy="713232"/>
          </a:xfrm>
          <a:prstGeom prst="roundRect">
            <a:avLst>
              <a:gd name="adj" fmla="val 10256"/>
            </a:avLst>
          </a:prstGeom>
          <a:solidFill>
            <a:schemeClr val="accent1"/>
          </a:solidFill>
          <a:ln w="12700">
            <a:solidFill>
              <a:schemeClr val="accent1"/>
            </a:solidFill>
            <a:prstDash val="solid"/>
          </a:ln>
        </p:spPr>
      </p:sp>
      <p:sp>
        <p:nvSpPr>
          <p:cNvPr id="41" name="Text 38"/>
          <p:cNvSpPr txBox="1"/>
          <p:nvPr/>
        </p:nvSpPr>
        <p:spPr>
          <a:xfrm>
            <a:off x="9722815" y="2834640"/>
            <a:ext cx="274320" cy="274320"/>
          </a:xfrm>
          <a:prstGeom prst="rect">
            <a:avLst/>
          </a:prstGeom>
          <a:noFill/>
          <a:ln/>
        </p:spPr>
        <p:txBody>
          <a:bodyPr wrap="square" lIns="0" tIns="0" rIns="0" bIns="0" rtlCol="0" anchor="t"/>
          <a:lstStyle/>
          <a:p>
            <a:pPr indent="0" marL="0">
              <a:buNone/>
            </a:pPr>
            <a:r>
              <a:rPr lang="en-US" sz="1100" b="1" dirty="0">
                <a:solidFill>
                  <a:schemeClr val="accent5"/>
                </a:solidFill>
              </a:rPr>
              <a:t>8</a:t>
            </a:r>
            <a:endParaRPr lang="en-US" sz="1100" dirty="0"/>
          </a:p>
        </p:txBody>
      </p:sp>
      <p:sp>
        <p:nvSpPr>
          <p:cNvPr id="42" name="Text 39"/>
          <p:cNvSpPr txBox="1"/>
          <p:nvPr/>
        </p:nvSpPr>
        <p:spPr>
          <a:xfrm>
            <a:off x="9905695" y="2770632"/>
            <a:ext cx="1435608" cy="713232"/>
          </a:xfrm>
          <a:prstGeom prst="rect">
            <a:avLst/>
          </a:prstGeom>
          <a:noFill/>
          <a:ln/>
        </p:spPr>
        <p:txBody>
          <a:bodyPr wrap="square" lIns="0" tIns="0" rIns="0" bIns="0" rtlCol="0" anchor="ctr"/>
          <a:lstStyle/>
          <a:p>
            <a:pPr algn="ctr" indent="0" marL="0">
              <a:buNone/>
            </a:pPr>
            <a:r>
              <a:rPr lang="en-US" sz="1200" b="1" dirty="0">
                <a:solidFill>
                  <a:schemeClr val="bg1"/>
                </a:solidFill>
              </a:rPr>
              <a:t>Labelled GLB</a:t>
            </a:r>
            <a:endParaRPr lang="en-US" sz="1200" dirty="0"/>
          </a:p>
          <a:p>
            <a:pPr algn="ctr" indent="0" marL="0">
              <a:buNone/>
            </a:pPr>
            <a:r>
              <a:rPr lang="en-US" sz="1200" b="1" dirty="0">
                <a:solidFill>
                  <a:schemeClr val="bg1"/>
                </a:solidFill>
              </a:rPr>
              <a:t>model</a:t>
            </a:r>
            <a:endParaRPr lang="en-US" sz="1200" dirty="0"/>
          </a:p>
        </p:txBody>
      </p:sp>
      <p:sp>
        <p:nvSpPr>
          <p:cNvPr id="43" name="Text 40"/>
          <p:cNvSpPr txBox="1"/>
          <p:nvPr/>
        </p:nvSpPr>
        <p:spPr>
          <a:xfrm>
            <a:off x="548640" y="3977640"/>
            <a:ext cx="8229600" cy="256032"/>
          </a:xfrm>
          <a:prstGeom prst="rect">
            <a:avLst/>
          </a:prstGeom>
          <a:noFill/>
          <a:ln/>
        </p:spPr>
        <p:txBody>
          <a:bodyPr wrap="square" lIns="0" tIns="0" rIns="0" bIns="0" rtlCol="0" anchor="t"/>
          <a:lstStyle/>
          <a:p>
            <a:pPr indent="0" marL="0">
              <a:buNone/>
            </a:pPr>
            <a:r>
              <a:rPr lang="en-US" sz="1000" b="1" spc="150" kern="0" dirty="0">
                <a:solidFill>
                  <a:schemeClr val="accent4"/>
                </a:solidFill>
              </a:rPr>
              <a:t>BUILT FIRST, SO THREE PEOPLE COULD WORK IN PARALLEL</a:t>
            </a:r>
            <a:endParaRPr lang="en-US" sz="1000" dirty="0"/>
          </a:p>
        </p:txBody>
      </p:sp>
      <p:sp>
        <p:nvSpPr>
          <p:cNvPr id="44" name="Shape 41"/>
          <p:cNvSpPr/>
          <p:nvPr/>
        </p:nvSpPr>
        <p:spPr>
          <a:xfrm>
            <a:off x="548640" y="4315968"/>
            <a:ext cx="2622728" cy="1783080"/>
          </a:xfrm>
          <a:prstGeom prst="roundRect">
            <a:avLst>
              <a:gd name="adj" fmla="val 3590"/>
            </a:avLst>
          </a:prstGeom>
          <a:solidFill>
            <a:schemeClr val="bg1"/>
          </a:solidFill>
          <a:ln w="12700">
            <a:solidFill>
              <a:schemeClr val="accent6"/>
            </a:solidFill>
            <a:prstDash val="solid"/>
          </a:ln>
        </p:spPr>
      </p:sp>
      <p:pic>
        <p:nvPicPr>
          <p:cNvPr id="45" name="Image 1" descr="preencoded.png">    </p:cNvPr>
          <p:cNvPicPr>
            <a:picLocks noChangeAspect="1"/>
          </p:cNvPicPr>
          <p:nvPr/>
        </p:nvPicPr>
        <p:blipFill>
          <a:blip r:embed="rId2"/>
          <a:stretch>
            <a:fillRect/>
          </a:stretch>
        </p:blipFill>
        <p:spPr>
          <a:xfrm>
            <a:off x="2668448" y="4517136"/>
            <a:ext cx="292608" cy="292608"/>
          </a:xfrm>
          <a:prstGeom prst="rect">
            <a:avLst/>
          </a:prstGeom>
        </p:spPr>
      </p:pic>
      <p:sp>
        <p:nvSpPr>
          <p:cNvPr id="46" name="Text 42"/>
          <p:cNvSpPr txBox="1"/>
          <p:nvPr/>
        </p:nvSpPr>
        <p:spPr>
          <a:xfrm>
            <a:off x="749808" y="4425696"/>
            <a:ext cx="1799768"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5</a:t>
            </a:r>
            <a:endParaRPr lang="en-US" sz="2800" dirty="0"/>
          </a:p>
        </p:txBody>
      </p:sp>
      <p:sp>
        <p:nvSpPr>
          <p:cNvPr id="47" name="Text 43"/>
          <p:cNvSpPr txBox="1"/>
          <p:nvPr/>
        </p:nvSpPr>
        <p:spPr>
          <a:xfrm>
            <a:off x="749808" y="5010912"/>
            <a:ext cx="2256968" cy="274320"/>
          </a:xfrm>
          <a:prstGeom prst="rect">
            <a:avLst/>
          </a:prstGeom>
          <a:noFill/>
          <a:ln/>
        </p:spPr>
        <p:txBody>
          <a:bodyPr wrap="square" lIns="0" tIns="0" rIns="0" bIns="0" rtlCol="0" anchor="t"/>
          <a:lstStyle/>
          <a:p>
            <a:pPr indent="0" marL="0">
              <a:buNone/>
            </a:pPr>
            <a:r>
              <a:rPr lang="en-US" sz="1300" b="1" dirty="0">
                <a:solidFill>
                  <a:schemeClr val="tx1"/>
                </a:solidFill>
              </a:rPr>
              <a:t>API operations, frozen</a:t>
            </a:r>
            <a:endParaRPr lang="en-US" sz="1300" dirty="0"/>
          </a:p>
        </p:txBody>
      </p:sp>
      <p:sp>
        <p:nvSpPr>
          <p:cNvPr id="48" name="Text 44"/>
          <p:cNvSpPr txBox="1"/>
          <p:nvPr/>
        </p:nvSpPr>
        <p:spPr>
          <a:xfrm>
            <a:off x="749808" y="5303520"/>
            <a:ext cx="2256968" cy="685800"/>
          </a:xfrm>
          <a:prstGeom prst="rect">
            <a:avLst/>
          </a:prstGeom>
          <a:noFill/>
          <a:ln/>
        </p:spPr>
        <p:txBody>
          <a:bodyPr wrap="square" lIns="0" tIns="0" rIns="0" bIns="0" rtlCol="0" anchor="t"/>
          <a:lstStyle/>
          <a:p>
            <a:pPr indent="0" marL="0">
              <a:buNone/>
            </a:pPr>
            <a:r>
              <a:rPr lang="en-US" sz="1150" dirty="0">
                <a:solidFill>
                  <a:schemeClr val="accent4"/>
                </a:solidFill>
              </a:rPr>
              <a:t>App and backend both test against one contract</a:t>
            </a:r>
            <a:endParaRPr lang="en-US" sz="1150" dirty="0"/>
          </a:p>
        </p:txBody>
      </p:sp>
      <p:sp>
        <p:nvSpPr>
          <p:cNvPr id="49" name="Shape 45"/>
          <p:cNvSpPr/>
          <p:nvPr/>
        </p:nvSpPr>
        <p:spPr>
          <a:xfrm>
            <a:off x="3372536" y="4315968"/>
            <a:ext cx="2622728" cy="1783080"/>
          </a:xfrm>
          <a:prstGeom prst="roundRect">
            <a:avLst>
              <a:gd name="adj" fmla="val 3590"/>
            </a:avLst>
          </a:prstGeom>
          <a:solidFill>
            <a:schemeClr val="bg1"/>
          </a:solidFill>
          <a:ln w="12700">
            <a:solidFill>
              <a:schemeClr val="accent6"/>
            </a:solidFill>
            <a:prstDash val="solid"/>
          </a:ln>
        </p:spPr>
      </p:sp>
      <p:pic>
        <p:nvPicPr>
          <p:cNvPr id="50" name="Image 2" descr="preencoded.png">    </p:cNvPr>
          <p:cNvPicPr>
            <a:picLocks noChangeAspect="1"/>
          </p:cNvPicPr>
          <p:nvPr/>
        </p:nvPicPr>
        <p:blipFill>
          <a:blip r:embed="rId3"/>
          <a:stretch>
            <a:fillRect/>
          </a:stretch>
        </p:blipFill>
        <p:spPr>
          <a:xfrm>
            <a:off x="5492344" y="4517136"/>
            <a:ext cx="292608" cy="292608"/>
          </a:xfrm>
          <a:prstGeom prst="rect">
            <a:avLst/>
          </a:prstGeom>
        </p:spPr>
      </p:pic>
      <p:sp>
        <p:nvSpPr>
          <p:cNvPr id="51" name="Text 46"/>
          <p:cNvSpPr txBox="1"/>
          <p:nvPr/>
        </p:nvSpPr>
        <p:spPr>
          <a:xfrm>
            <a:off x="3573704" y="4425696"/>
            <a:ext cx="1799768"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142</a:t>
            </a:r>
            <a:endParaRPr lang="en-US" sz="2800" dirty="0"/>
          </a:p>
        </p:txBody>
      </p:sp>
      <p:sp>
        <p:nvSpPr>
          <p:cNvPr id="52" name="Text 47"/>
          <p:cNvSpPr txBox="1"/>
          <p:nvPr/>
        </p:nvSpPr>
        <p:spPr>
          <a:xfrm>
            <a:off x="3573704" y="5010912"/>
            <a:ext cx="2256968" cy="274320"/>
          </a:xfrm>
          <a:prstGeom prst="rect">
            <a:avLst/>
          </a:prstGeom>
          <a:noFill/>
          <a:ln/>
        </p:spPr>
        <p:txBody>
          <a:bodyPr wrap="square" lIns="0" tIns="0" rIns="0" bIns="0" rtlCol="0" anchor="t"/>
          <a:lstStyle/>
          <a:p>
            <a:pPr indent="0" marL="0">
              <a:buNone/>
            </a:pPr>
            <a:r>
              <a:rPr lang="en-US" sz="1300" b="1" dirty="0">
                <a:solidFill>
                  <a:schemeClr val="tx1"/>
                </a:solidFill>
              </a:rPr>
              <a:t>golden photos</a:t>
            </a:r>
            <a:endParaRPr lang="en-US" sz="1300" dirty="0"/>
          </a:p>
        </p:txBody>
      </p:sp>
      <p:sp>
        <p:nvSpPr>
          <p:cNvPr id="53" name="Text 48"/>
          <p:cNvSpPr txBox="1"/>
          <p:nvPr/>
        </p:nvSpPr>
        <p:spPr>
          <a:xfrm>
            <a:off x="3573704" y="5303520"/>
            <a:ext cx="2256968" cy="685800"/>
          </a:xfrm>
          <a:prstGeom prst="rect">
            <a:avLst/>
          </a:prstGeom>
          <a:noFill/>
          <a:ln/>
        </p:spPr>
        <p:txBody>
          <a:bodyPr wrap="square" lIns="0" tIns="0" rIns="0" bIns="0" rtlCol="0" anchor="t"/>
          <a:lstStyle/>
          <a:p>
            <a:pPr indent="0" marL="0">
              <a:buNone/>
            </a:pPr>
            <a:r>
              <a:rPr lang="en-US" sz="1150" dirty="0">
                <a:solidFill>
                  <a:schemeClr val="accent4"/>
                </a:solidFill>
              </a:rPr>
              <a:t>5 sets of 4 objects; checksummed, never in git</a:t>
            </a:r>
            <a:endParaRPr lang="en-US" sz="1150" dirty="0"/>
          </a:p>
        </p:txBody>
      </p:sp>
      <p:sp>
        <p:nvSpPr>
          <p:cNvPr id="54" name="Shape 49"/>
          <p:cNvSpPr/>
          <p:nvPr/>
        </p:nvSpPr>
        <p:spPr>
          <a:xfrm>
            <a:off x="6196432" y="4315968"/>
            <a:ext cx="2622728" cy="1783080"/>
          </a:xfrm>
          <a:prstGeom prst="roundRect">
            <a:avLst>
              <a:gd name="adj" fmla="val 3590"/>
            </a:avLst>
          </a:prstGeom>
          <a:solidFill>
            <a:schemeClr val="bg1"/>
          </a:solidFill>
          <a:ln w="12700">
            <a:solidFill>
              <a:schemeClr val="accent6"/>
            </a:solidFill>
            <a:prstDash val="solid"/>
          </a:ln>
        </p:spPr>
      </p:sp>
      <p:pic>
        <p:nvPicPr>
          <p:cNvPr id="55" name="Image 3" descr="preencoded.png">    </p:cNvPr>
          <p:cNvPicPr>
            <a:picLocks noChangeAspect="1"/>
          </p:cNvPicPr>
          <p:nvPr/>
        </p:nvPicPr>
        <p:blipFill>
          <a:blip r:embed="rId4"/>
          <a:stretch>
            <a:fillRect/>
          </a:stretch>
        </p:blipFill>
        <p:spPr>
          <a:xfrm>
            <a:off x="8316239" y="4517136"/>
            <a:ext cx="292608" cy="292608"/>
          </a:xfrm>
          <a:prstGeom prst="rect">
            <a:avLst/>
          </a:prstGeom>
        </p:spPr>
      </p:pic>
      <p:sp>
        <p:nvSpPr>
          <p:cNvPr id="56" name="Text 50"/>
          <p:cNvSpPr txBox="1"/>
          <p:nvPr/>
        </p:nvSpPr>
        <p:spPr>
          <a:xfrm>
            <a:off x="6397600" y="4425696"/>
            <a:ext cx="1799768"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T4</a:t>
            </a:r>
            <a:endParaRPr lang="en-US" sz="2800" dirty="0"/>
          </a:p>
        </p:txBody>
      </p:sp>
      <p:sp>
        <p:nvSpPr>
          <p:cNvPr id="57" name="Text 51"/>
          <p:cNvSpPr txBox="1"/>
          <p:nvPr/>
        </p:nvSpPr>
        <p:spPr>
          <a:xfrm>
            <a:off x="6397600" y="5010912"/>
            <a:ext cx="2256968" cy="274320"/>
          </a:xfrm>
          <a:prstGeom prst="rect">
            <a:avLst/>
          </a:prstGeom>
          <a:noFill/>
          <a:ln/>
        </p:spPr>
        <p:txBody>
          <a:bodyPr wrap="square" lIns="0" tIns="0" rIns="0" bIns="0" rtlCol="0" anchor="t"/>
          <a:lstStyle/>
          <a:p>
            <a:pPr indent="0" marL="0">
              <a:buNone/>
            </a:pPr>
            <a:r>
              <a:rPr lang="en-US" sz="1300" b="1" dirty="0">
                <a:solidFill>
                  <a:schemeClr val="tx1"/>
                </a:solidFill>
              </a:rPr>
              <a:t>shared cloud GPU</a:t>
            </a:r>
            <a:endParaRPr lang="en-US" sz="1300" dirty="0"/>
          </a:p>
        </p:txBody>
      </p:sp>
      <p:sp>
        <p:nvSpPr>
          <p:cNvPr id="58" name="Text 52"/>
          <p:cNvSpPr txBox="1"/>
          <p:nvPr/>
        </p:nvSpPr>
        <p:spPr>
          <a:xfrm>
            <a:off x="6397600" y="5303520"/>
            <a:ext cx="2256968" cy="685800"/>
          </a:xfrm>
          <a:prstGeom prst="rect">
            <a:avLst/>
          </a:prstGeom>
          <a:noFill/>
          <a:ln/>
        </p:spPr>
        <p:txBody>
          <a:bodyPr wrap="square" lIns="0" tIns="0" rIns="0" bIns="0" rtlCol="0" anchor="t"/>
          <a:lstStyle/>
          <a:p>
            <a:pPr indent="0" marL="0">
              <a:buNone/>
            </a:pPr>
            <a:r>
              <a:rPr lang="en-US" sz="1150" dirty="0">
                <a:solidFill>
                  <a:schemeClr val="accent4"/>
                </a:solidFill>
              </a:rPr>
              <a:t>One command sets up a Mac or the GPU</a:t>
            </a:r>
            <a:endParaRPr lang="en-US" sz="1150" dirty="0"/>
          </a:p>
        </p:txBody>
      </p:sp>
      <p:sp>
        <p:nvSpPr>
          <p:cNvPr id="59" name="Shape 53"/>
          <p:cNvSpPr/>
          <p:nvPr/>
        </p:nvSpPr>
        <p:spPr>
          <a:xfrm>
            <a:off x="9020327" y="4315968"/>
            <a:ext cx="2622728" cy="1783080"/>
          </a:xfrm>
          <a:prstGeom prst="roundRect">
            <a:avLst>
              <a:gd name="adj" fmla="val 3590"/>
            </a:avLst>
          </a:prstGeom>
          <a:solidFill>
            <a:schemeClr val="bg1"/>
          </a:solidFill>
          <a:ln w="12700">
            <a:solidFill>
              <a:schemeClr val="accent6"/>
            </a:solidFill>
            <a:prstDash val="solid"/>
          </a:ln>
        </p:spPr>
      </p:sp>
      <p:pic>
        <p:nvPicPr>
          <p:cNvPr id="60" name="Image 4" descr="preencoded.png">    </p:cNvPr>
          <p:cNvPicPr>
            <a:picLocks noChangeAspect="1"/>
          </p:cNvPicPr>
          <p:nvPr/>
        </p:nvPicPr>
        <p:blipFill>
          <a:blip r:embed="rId5"/>
          <a:stretch>
            <a:fillRect/>
          </a:stretch>
        </p:blipFill>
        <p:spPr>
          <a:xfrm>
            <a:off x="11140135" y="4517136"/>
            <a:ext cx="292608" cy="292608"/>
          </a:xfrm>
          <a:prstGeom prst="rect">
            <a:avLst/>
          </a:prstGeom>
        </p:spPr>
      </p:pic>
      <p:sp>
        <p:nvSpPr>
          <p:cNvPr id="61" name="Text 54"/>
          <p:cNvSpPr txBox="1"/>
          <p:nvPr/>
        </p:nvSpPr>
        <p:spPr>
          <a:xfrm>
            <a:off x="9221495" y="4425696"/>
            <a:ext cx="1799768"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a:t>
            </a:r>
            <a:endParaRPr lang="en-US" sz="2800" dirty="0"/>
          </a:p>
        </p:txBody>
      </p:sp>
      <p:sp>
        <p:nvSpPr>
          <p:cNvPr id="62" name="Text 55"/>
          <p:cNvSpPr txBox="1"/>
          <p:nvPr/>
        </p:nvSpPr>
        <p:spPr>
          <a:xfrm>
            <a:off x="9221495" y="5010912"/>
            <a:ext cx="2256968" cy="274320"/>
          </a:xfrm>
          <a:prstGeom prst="rect">
            <a:avLst/>
          </a:prstGeom>
          <a:noFill/>
          <a:ln/>
        </p:spPr>
        <p:txBody>
          <a:bodyPr wrap="square" lIns="0" tIns="0" rIns="0" bIns="0" rtlCol="0" anchor="t"/>
          <a:lstStyle/>
          <a:p>
            <a:pPr indent="0" marL="0">
              <a:buNone/>
            </a:pPr>
            <a:r>
              <a:rPr lang="en-US" sz="1300" b="1" dirty="0">
                <a:solidFill>
                  <a:schemeClr val="tx1"/>
                </a:solidFill>
              </a:rPr>
              <a:t>reviewer on every PR</a:t>
            </a:r>
            <a:endParaRPr lang="en-US" sz="1300" dirty="0"/>
          </a:p>
        </p:txBody>
      </p:sp>
      <p:sp>
        <p:nvSpPr>
          <p:cNvPr id="63" name="Text 56"/>
          <p:cNvSpPr txBox="1"/>
          <p:nvPr/>
        </p:nvSpPr>
        <p:spPr>
          <a:xfrm>
            <a:off x="9221495" y="5303520"/>
            <a:ext cx="2256968" cy="685800"/>
          </a:xfrm>
          <a:prstGeom prst="rect">
            <a:avLst/>
          </a:prstGeom>
          <a:noFill/>
          <a:ln/>
        </p:spPr>
        <p:txBody>
          <a:bodyPr wrap="square" lIns="0" tIns="0" rIns="0" bIns="0" rtlCol="0" anchor="t"/>
          <a:lstStyle/>
          <a:p>
            <a:pPr indent="0" marL="0">
              <a:buNone/>
            </a:pPr>
            <a:r>
              <a:rPr lang="en-US" sz="1150" dirty="0">
                <a:solidFill>
                  <a:schemeClr val="accent4"/>
                </a:solidFill>
              </a:rPr>
              <a:t>Plus CI; protection applies to admins too</a:t>
            </a:r>
            <a:endParaRPr lang="en-US" sz="11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COMPLETED WORK · RECONSTRUCTION BACKBONES</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Mamadou</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Three reconstruction backbones behind one switch</a:t>
            </a:r>
            <a:endParaRPr lang="en-US" sz="3000" dirty="0"/>
          </a:p>
        </p:txBody>
      </p:sp>
      <p:sp>
        <p:nvSpPr>
          <p:cNvPr id="5" name="Text 3"/>
          <p:cNvSpPr txBox="1"/>
          <p:nvPr/>
        </p:nvSpPr>
        <p:spPr>
          <a:xfrm>
            <a:off x="548640" y="1417320"/>
            <a:ext cx="6400800" cy="274320"/>
          </a:xfrm>
          <a:prstGeom prst="rect">
            <a:avLst/>
          </a:prstGeom>
          <a:noFill/>
          <a:ln/>
        </p:spPr>
        <p:txBody>
          <a:bodyPr wrap="square" lIns="0" tIns="0" rIns="0" bIns="0" rtlCol="0" anchor="t"/>
          <a:lstStyle/>
          <a:p>
            <a:pPr indent="0" marL="0">
              <a:buNone/>
            </a:pPr>
            <a:r>
              <a:rPr lang="en-US" sz="1200" b="1" dirty="0">
                <a:solidFill>
                  <a:schemeClr val="tx1"/>
                </a:solidFill>
              </a:rPr>
              <a:t>Measured wall-clock per stage · Tesla T4 · the same 30 photos (s-04) · seconds</a:t>
            </a:r>
            <a:endParaRPr lang="en-US" sz="1200" dirty="0"/>
          </a:p>
        </p:txBody>
      </p:sp>
      <p:graphicFrame>
        <p:nvGraphicFramePr>
          <p:cNvPr id="6" name="Chart 0" descr=""/>
          <p:cNvGraphicFramePr/>
          <p:nvPr/>
        </p:nvGraphicFramePr>
        <p:xfrm>
          <a:off x="548640" y="1737360"/>
          <a:ext cx="6400800" cy="25146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4434840"/>
            <a:ext cx="6400800" cy="658368"/>
          </a:xfrm>
          <a:prstGeom prst="roundRect">
            <a:avLst>
              <a:gd name="adj" fmla="val 8333"/>
            </a:avLst>
          </a:prstGeom>
          <a:solidFill>
            <a:schemeClr val="bg1"/>
          </a:solidFill>
          <a:ln w="12700">
            <a:solidFill>
              <a:schemeClr val="accent6"/>
            </a:solidFill>
            <a:prstDash val="solid"/>
          </a:ln>
        </p:spPr>
      </p:sp>
      <p:pic>
        <p:nvPicPr>
          <p:cNvPr id="8" name="Image 0" descr="preencoded.png">    </p:cNvPr>
          <p:cNvPicPr>
            <a:picLocks noChangeAspect="1"/>
          </p:cNvPicPr>
          <p:nvPr/>
        </p:nvPicPr>
        <p:blipFill>
          <a:blip r:embed="rId2"/>
          <a:stretch>
            <a:fillRect/>
          </a:stretch>
        </p:blipFill>
        <p:spPr>
          <a:xfrm>
            <a:off x="749808" y="4608576"/>
            <a:ext cx="310896" cy="310896"/>
          </a:xfrm>
          <a:prstGeom prst="rect">
            <a:avLst/>
          </a:prstGeom>
        </p:spPr>
      </p:pic>
      <p:sp>
        <p:nvSpPr>
          <p:cNvPr id="9" name="Text 5"/>
          <p:cNvSpPr txBox="1"/>
          <p:nvPr/>
        </p:nvSpPr>
        <p:spPr>
          <a:xfrm>
            <a:off x="1234440" y="4434840"/>
            <a:ext cx="5577840" cy="658368"/>
          </a:xfrm>
          <a:prstGeom prst="rect">
            <a:avLst/>
          </a:prstGeom>
          <a:noFill/>
          <a:ln/>
        </p:spPr>
        <p:txBody>
          <a:bodyPr wrap="square" lIns="0" tIns="0" rIns="0" bIns="0" rtlCol="0" anchor="ctr"/>
          <a:lstStyle/>
          <a:p>
            <a:pPr indent="0" marL="0">
              <a:buNone/>
            </a:pPr>
            <a:r>
              <a:rPr lang="en-US" sz="1250" b="1" dirty="0">
                <a:solidFill>
                  <a:schemeClr val="tx1"/>
                </a:solidFill>
              </a:rPr>
              <a:t>COLMAP registered 28 of 30 photos, so it refused </a:t>
            </a:r>
            <a:pPr indent="0" marL="0">
              <a:buNone/>
            </a:pPr>
            <a:r>
              <a:rPr lang="en-US" sz="1250" dirty="0">
                <a:solidFill>
                  <a:schemeClr val="tx1"/>
                </a:solidFill>
              </a:rPr>
              <a:t>rather than invent the 2 missing views (81 s). A refusal is a valid result.</a:t>
            </a:r>
            <a:endParaRPr lang="en-US" sz="1250" dirty="0"/>
          </a:p>
        </p:txBody>
      </p:sp>
      <p:sp>
        <p:nvSpPr>
          <p:cNvPr id="10" name="Text 6"/>
          <p:cNvSpPr txBox="1"/>
          <p:nvPr/>
        </p:nvSpPr>
        <p:spPr>
          <a:xfrm>
            <a:off x="7360920" y="1463040"/>
            <a:ext cx="4282135" cy="292608"/>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VGGT-1B</a:t>
            </a:r>
            <a:endParaRPr lang="en-US" sz="1500" dirty="0"/>
          </a:p>
        </p:txBody>
      </p:sp>
      <p:sp>
        <p:nvSpPr>
          <p:cNvPr id="11" name="Text 7"/>
          <p:cNvSpPr txBox="1"/>
          <p:nvPr/>
        </p:nvSpPr>
        <p:spPr>
          <a:xfrm>
            <a:off x="7360920" y="1773936"/>
            <a:ext cx="4282135" cy="566928"/>
          </a:xfrm>
          <a:prstGeom prst="rect">
            <a:avLst/>
          </a:prstGeom>
          <a:noFill/>
          <a:ln/>
        </p:spPr>
        <p:txBody>
          <a:bodyPr wrap="square" lIns="0" tIns="0" rIns="0" bIns="0" rtlCol="0" anchor="t"/>
          <a:lstStyle/>
          <a:p>
            <a:pPr indent="0" marL="0">
              <a:buNone/>
            </a:pPr>
            <a:r>
              <a:rPr lang="en-US" sz="1250" dirty="0">
                <a:solidFill>
                  <a:schemeClr val="tx1"/>
                </a:solidFill>
              </a:rPr>
              <a:t>Primary. One forward pass over all photos returns camera poses and per-pixel depth.</a:t>
            </a:r>
            <a:endParaRPr lang="en-US" sz="1250" dirty="0"/>
          </a:p>
        </p:txBody>
      </p:sp>
      <p:sp>
        <p:nvSpPr>
          <p:cNvPr id="12" name="Text 8"/>
          <p:cNvSpPr txBox="1"/>
          <p:nvPr/>
        </p:nvSpPr>
        <p:spPr>
          <a:xfrm>
            <a:off x="7360920" y="2423160"/>
            <a:ext cx="4282135" cy="292608"/>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MASt3R</a:t>
            </a:r>
            <a:endParaRPr lang="en-US" sz="1500" dirty="0"/>
          </a:p>
        </p:txBody>
      </p:sp>
      <p:sp>
        <p:nvSpPr>
          <p:cNvPr id="13" name="Text 9"/>
          <p:cNvSpPr txBox="1"/>
          <p:nvPr/>
        </p:nvSpPr>
        <p:spPr>
          <a:xfrm>
            <a:off x="7360920" y="2734056"/>
            <a:ext cx="4282135" cy="566928"/>
          </a:xfrm>
          <a:prstGeom prst="rect">
            <a:avLst/>
          </a:prstGeom>
          <a:noFill/>
          <a:ln/>
        </p:spPr>
        <p:txBody>
          <a:bodyPr wrap="square" lIns="0" tIns="0" rIns="0" bIns="0" rtlCol="0" anchor="t"/>
          <a:lstStyle/>
          <a:p>
            <a:pPr indent="0" marL="0">
              <a:buNone/>
            </a:pPr>
            <a:r>
              <a:rPr lang="en-US" sz="1250" dirty="0">
                <a:solidFill>
                  <a:schemeClr val="tx1"/>
                </a:solidFill>
              </a:rPr>
              <a:t>Fallback. Pairwise 3D matching plus an iterative global alignment, hence the long bar.</a:t>
            </a:r>
            <a:endParaRPr lang="en-US" sz="1250" dirty="0"/>
          </a:p>
        </p:txBody>
      </p:sp>
      <p:sp>
        <p:nvSpPr>
          <p:cNvPr id="14" name="Text 10"/>
          <p:cNvSpPr txBox="1"/>
          <p:nvPr/>
        </p:nvSpPr>
        <p:spPr>
          <a:xfrm>
            <a:off x="7360920" y="3383280"/>
            <a:ext cx="4282135" cy="292608"/>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COLMAP</a:t>
            </a:r>
            <a:endParaRPr lang="en-US" sz="1500" dirty="0"/>
          </a:p>
        </p:txBody>
      </p:sp>
      <p:sp>
        <p:nvSpPr>
          <p:cNvPr id="15" name="Text 11"/>
          <p:cNvSpPr txBox="1"/>
          <p:nvPr/>
        </p:nvSpPr>
        <p:spPr>
          <a:xfrm>
            <a:off x="7360920" y="3694176"/>
            <a:ext cx="4282135" cy="566928"/>
          </a:xfrm>
          <a:prstGeom prst="rect">
            <a:avLst/>
          </a:prstGeom>
          <a:noFill/>
          <a:ln/>
        </p:spPr>
        <p:txBody>
          <a:bodyPr wrap="square" lIns="0" tIns="0" rIns="0" bIns="0" rtlCol="0" anchor="t"/>
          <a:lstStyle/>
          <a:p>
            <a:pPr indent="0" marL="0">
              <a:buNone/>
            </a:pPr>
            <a:r>
              <a:rPr lang="en-US" sz="1250" dirty="0">
                <a:solidFill>
                  <a:schemeClr val="tx1"/>
                </a:solidFill>
              </a:rPr>
              <a:t>Classic structure-from-motion, seeded with the board poses. Refuses if any photo fails.</a:t>
            </a:r>
            <a:endParaRPr lang="en-US" sz="1250" dirty="0"/>
          </a:p>
        </p:txBody>
      </p:sp>
      <p:sp>
        <p:nvSpPr>
          <p:cNvPr id="16" name="Shape 12"/>
          <p:cNvSpPr/>
          <p:nvPr/>
        </p:nvSpPr>
        <p:spPr>
          <a:xfrm>
            <a:off x="7360920" y="4434840"/>
            <a:ext cx="4282135" cy="1417320"/>
          </a:xfrm>
          <a:prstGeom prst="roundRect">
            <a:avLst>
              <a:gd name="adj" fmla="val 4516"/>
            </a:avLst>
          </a:prstGeom>
          <a:solidFill>
            <a:schemeClr val="bg2"/>
          </a:solidFill>
          <a:ln w="12700">
            <a:solidFill>
              <a:schemeClr val="bg2"/>
            </a:solidFill>
            <a:prstDash val="solid"/>
          </a:ln>
        </p:spPr>
      </p:sp>
      <p:sp>
        <p:nvSpPr>
          <p:cNvPr id="17" name="Text 13"/>
          <p:cNvSpPr txBox="1"/>
          <p:nvPr/>
        </p:nvSpPr>
        <p:spPr>
          <a:xfrm>
            <a:off x="7562088" y="4553712"/>
            <a:ext cx="3879799" cy="1188720"/>
          </a:xfrm>
          <a:prstGeom prst="rect">
            <a:avLst/>
          </a:prstGeom>
          <a:noFill/>
          <a:ln/>
        </p:spPr>
        <p:txBody>
          <a:bodyPr wrap="square" lIns="0" tIns="0" rIns="0" bIns="0" rtlCol="0" anchor="ctr"/>
          <a:lstStyle/>
          <a:p>
            <a:pPr indent="0" marL="0">
              <a:buNone/>
            </a:pPr>
            <a:r>
              <a:rPr lang="en-US" sz="1250" b="1" dirty="0">
                <a:solidFill>
                  <a:schemeClr val="tx1"/>
                </a:solidFill>
              </a:rPr>
              <a:t>Same four output files from all three, chosen by one config value, </a:t>
            </a:r>
            <a:pPr indent="0" marL="0">
              <a:buNone/>
            </a:pPr>
            <a:r>
              <a:rPr lang="en-US" sz="1250" dirty="0">
                <a:solidFill>
                  <a:schemeClr val="tx1"/>
                </a:solidFill>
              </a:rPr>
              <a:t>so nothing downstream changes when the backbone does.</a:t>
            </a:r>
            <a:endParaRPr lang="en-US" sz="1250" dirty="0"/>
          </a:p>
          <a:p>
            <a:pPr indent="0" marL="0">
              <a:spcBef>
                <a:spcPts val="600"/>
              </a:spcBef>
              <a:buNone/>
            </a:pPr>
            <a:r>
              <a:rPr lang="en-US" sz="1250" dirty="0">
                <a:solidFill>
                  <a:schemeClr val="tx1"/>
                </a:solidFill>
              </a:rPr>
              <a:t>About 80 s per session means batch capture is the path we ship; live feedback would need about 2 s per update.</a:t>
            </a:r>
            <a:endParaRPr lang="en-US" sz="12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COMPLETED WORK · METRIC SCALE</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Mamadou</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Millimetres come from the printed board</a:t>
            </a:r>
            <a:endParaRPr lang="en-US" sz="3000" dirty="0"/>
          </a:p>
        </p:txBody>
      </p:sp>
      <p:pic>
        <p:nvPicPr>
          <p:cNvPr id="5" name="Image 0" descr="/private/tmp/ps-deck-wt/submissions/assets/2026-10-16/fig_cameras.png">    </p:cNvPr>
          <p:cNvPicPr>
            <a:picLocks noChangeAspect="1"/>
          </p:cNvPicPr>
          <p:nvPr/>
        </p:nvPicPr>
        <p:blipFill>
          <a:blip r:embed="rId1"/>
          <a:stretch>
            <a:fillRect/>
          </a:stretch>
        </p:blipFill>
        <p:spPr>
          <a:xfrm>
            <a:off x="548640" y="1431560"/>
            <a:ext cx="4709160" cy="3400519"/>
          </a:xfrm>
          <a:prstGeom prst="rect">
            <a:avLst/>
          </a:prstGeom>
        </p:spPr>
      </p:pic>
      <p:sp>
        <p:nvSpPr>
          <p:cNvPr id="6" name="Text 3"/>
          <p:cNvSpPr txBox="1"/>
          <p:nvPr/>
        </p:nvSpPr>
        <p:spPr>
          <a:xfrm>
            <a:off x="548640" y="4919472"/>
            <a:ext cx="4709160" cy="457200"/>
          </a:xfrm>
          <a:prstGeom prst="rect">
            <a:avLst/>
          </a:prstGeom>
          <a:noFill/>
          <a:ln/>
        </p:spPr>
        <p:txBody>
          <a:bodyPr wrap="square" lIns="0" tIns="0" rIns="0" bIns="0" rtlCol="0" anchor="t"/>
          <a:lstStyle/>
          <a:p>
            <a:pPr indent="0" marL="0">
              <a:buNone/>
            </a:pPr>
            <a:r>
              <a:rPr lang="en-US" sz="1050" i="1" dirty="0">
                <a:solidFill>
                  <a:schemeClr val="accent4"/>
                </a:solidFill>
              </a:rPr>
              <a:t>Real poses for s-05: 29 cameras solved from the board, each line runs from the camera to where it was looking.</a:t>
            </a:r>
            <a:endParaRPr lang="en-US" sz="1050" dirty="0"/>
          </a:p>
        </p:txBody>
      </p:sp>
      <p:sp>
        <p:nvSpPr>
          <p:cNvPr id="7" name="Shape 4"/>
          <p:cNvSpPr/>
          <p:nvPr/>
        </p:nvSpPr>
        <p:spPr>
          <a:xfrm>
            <a:off x="5623560" y="1499616"/>
            <a:ext cx="384048" cy="384048"/>
          </a:xfrm>
          <a:prstGeom prst="ellipse">
            <a:avLst/>
          </a:prstGeom>
          <a:solidFill>
            <a:schemeClr val="accent1"/>
          </a:solidFill>
          <a:ln w="12700">
            <a:solidFill>
              <a:schemeClr val="accent1"/>
            </a:solidFill>
            <a:prstDash val="solid"/>
          </a:ln>
        </p:spPr>
      </p:sp>
      <p:sp>
        <p:nvSpPr>
          <p:cNvPr id="8" name="Text 5"/>
          <p:cNvSpPr txBox="1"/>
          <p:nvPr/>
        </p:nvSpPr>
        <p:spPr>
          <a:xfrm>
            <a:off x="5623560" y="1499616"/>
            <a:ext cx="384048" cy="384048"/>
          </a:xfrm>
          <a:prstGeom prst="rect">
            <a:avLst/>
          </a:prstGeom>
          <a:noFill/>
          <a:ln/>
        </p:spPr>
        <p:txBody>
          <a:bodyPr wrap="square" lIns="0" tIns="0" rIns="0" bIns="0" rtlCol="0" anchor="ctr"/>
          <a:lstStyle/>
          <a:p>
            <a:pPr algn="ctr" indent="0" marL="0">
              <a:buNone/>
            </a:pPr>
            <a:r>
              <a:rPr lang="en-US" sz="1428" b="1" dirty="0">
                <a:solidFill>
                  <a:schemeClr val="bg1"/>
                </a:solidFill>
              </a:rPr>
              <a:t>1</a:t>
            </a:r>
            <a:endParaRPr lang="en-US" sz="1428" dirty="0"/>
          </a:p>
        </p:txBody>
      </p:sp>
      <p:sp>
        <p:nvSpPr>
          <p:cNvPr id="9" name="Text 6"/>
          <p:cNvSpPr txBox="1"/>
          <p:nvPr/>
        </p:nvSpPr>
        <p:spPr>
          <a:xfrm>
            <a:off x="6153912" y="1463040"/>
            <a:ext cx="5489143" cy="274320"/>
          </a:xfrm>
          <a:prstGeom prst="rect">
            <a:avLst/>
          </a:prstGeom>
          <a:noFill/>
          <a:ln/>
        </p:spPr>
        <p:txBody>
          <a:bodyPr wrap="square" lIns="0" tIns="0" rIns="0" bIns="0" rtlCol="0" anchor="t"/>
          <a:lstStyle/>
          <a:p>
            <a:pPr indent="0" marL="0">
              <a:buNone/>
            </a:pPr>
            <a:r>
              <a:rPr lang="en-US" sz="1400" b="1" dirty="0">
                <a:solidFill>
                  <a:schemeClr val="tx1"/>
                </a:solidFill>
              </a:rPr>
              <a:t>Detect the board, solve each camera's pose</a:t>
            </a:r>
            <a:endParaRPr lang="en-US" sz="1400" dirty="0"/>
          </a:p>
        </p:txBody>
      </p:sp>
      <p:sp>
        <p:nvSpPr>
          <p:cNvPr id="10" name="Text 7"/>
          <p:cNvSpPr txBox="1"/>
          <p:nvPr/>
        </p:nvSpPr>
        <p:spPr>
          <a:xfrm>
            <a:off x="6153912" y="1755648"/>
            <a:ext cx="5489143" cy="274320"/>
          </a:xfrm>
          <a:prstGeom prst="rect">
            <a:avLst/>
          </a:prstGeom>
          <a:noFill/>
          <a:ln/>
        </p:spPr>
        <p:txBody>
          <a:bodyPr wrap="square" lIns="0" tIns="0" rIns="0" bIns="0" rtlCol="0" anchor="t"/>
          <a:lstStyle/>
          <a:p>
            <a:pPr indent="0" marL="0">
              <a:buNone/>
            </a:pPr>
            <a:r>
              <a:rPr lang="en-US" sz="1200" dirty="0">
                <a:solidFill>
                  <a:schemeClr val="accent4"/>
                </a:solidFill>
              </a:rPr>
              <a:t>138 of 142 golden photos posed (ChArUco + PnP)</a:t>
            </a:r>
            <a:endParaRPr lang="en-US" sz="1200" dirty="0"/>
          </a:p>
        </p:txBody>
      </p:sp>
      <p:sp>
        <p:nvSpPr>
          <p:cNvPr id="11" name="Shape 8"/>
          <p:cNvSpPr/>
          <p:nvPr/>
        </p:nvSpPr>
        <p:spPr>
          <a:xfrm>
            <a:off x="5623560" y="2212848"/>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5623560" y="2212848"/>
            <a:ext cx="384048" cy="384048"/>
          </a:xfrm>
          <a:prstGeom prst="rect">
            <a:avLst/>
          </a:prstGeom>
          <a:noFill/>
          <a:ln/>
        </p:spPr>
        <p:txBody>
          <a:bodyPr wrap="square" lIns="0" tIns="0" rIns="0" bIns="0" rtlCol="0" anchor="ctr"/>
          <a:lstStyle/>
          <a:p>
            <a:pPr algn="ctr" indent="0" marL="0">
              <a:buNone/>
            </a:pPr>
            <a:r>
              <a:rPr lang="en-US" sz="1428" b="1" dirty="0">
                <a:solidFill>
                  <a:schemeClr val="bg1"/>
                </a:solidFill>
              </a:rPr>
              <a:t>2</a:t>
            </a:r>
            <a:endParaRPr lang="en-US" sz="1428" dirty="0"/>
          </a:p>
        </p:txBody>
      </p:sp>
      <p:sp>
        <p:nvSpPr>
          <p:cNvPr id="13" name="Text 10"/>
          <p:cNvSpPr txBox="1"/>
          <p:nvPr/>
        </p:nvSpPr>
        <p:spPr>
          <a:xfrm>
            <a:off x="6153912" y="2176272"/>
            <a:ext cx="5489143" cy="274320"/>
          </a:xfrm>
          <a:prstGeom prst="rect">
            <a:avLst/>
          </a:prstGeom>
          <a:noFill/>
          <a:ln/>
        </p:spPr>
        <p:txBody>
          <a:bodyPr wrap="square" lIns="0" tIns="0" rIns="0" bIns="0" rtlCol="0" anchor="t"/>
          <a:lstStyle/>
          <a:p>
            <a:pPr indent="0" marL="0">
              <a:buNone/>
            </a:pPr>
            <a:r>
              <a:rPr lang="en-US" sz="1400" b="1" dirty="0">
                <a:solidFill>
                  <a:schemeClr val="tx1"/>
                </a:solidFill>
              </a:rPr>
              <a:t>Calibrate the lens from the board</a:t>
            </a:r>
            <a:endParaRPr lang="en-US" sz="1400" dirty="0"/>
          </a:p>
        </p:txBody>
      </p:sp>
      <p:sp>
        <p:nvSpPr>
          <p:cNvPr id="14" name="Text 11"/>
          <p:cNvSpPr txBox="1"/>
          <p:nvPr/>
        </p:nvSpPr>
        <p:spPr>
          <a:xfrm>
            <a:off x="6153912" y="2468880"/>
            <a:ext cx="5489143" cy="274320"/>
          </a:xfrm>
          <a:prstGeom prst="rect">
            <a:avLst/>
          </a:prstGeom>
          <a:noFill/>
          <a:ln/>
        </p:spPr>
        <p:txBody>
          <a:bodyPr wrap="square" lIns="0" tIns="0" rIns="0" bIns="0" rtlCol="0" anchor="t"/>
          <a:lstStyle/>
          <a:p>
            <a:pPr indent="0" marL="0">
              <a:buNone/>
            </a:pPr>
            <a:r>
              <a:rPr lang="en-US" sz="1200" dirty="0">
                <a:solidFill>
                  <a:schemeClr val="accent4"/>
                </a:solidFill>
              </a:rPr>
              <a:t>1.20 px reprojection RMS on s-04</a:t>
            </a:r>
            <a:endParaRPr lang="en-US" sz="1200" dirty="0"/>
          </a:p>
        </p:txBody>
      </p:sp>
      <p:sp>
        <p:nvSpPr>
          <p:cNvPr id="15" name="Shape 12"/>
          <p:cNvSpPr/>
          <p:nvPr/>
        </p:nvSpPr>
        <p:spPr>
          <a:xfrm>
            <a:off x="5623560" y="2926080"/>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5623560" y="2926080"/>
            <a:ext cx="384048" cy="384048"/>
          </a:xfrm>
          <a:prstGeom prst="rect">
            <a:avLst/>
          </a:prstGeom>
          <a:noFill/>
          <a:ln/>
        </p:spPr>
        <p:txBody>
          <a:bodyPr wrap="square" lIns="0" tIns="0" rIns="0" bIns="0" rtlCol="0" anchor="ctr"/>
          <a:lstStyle/>
          <a:p>
            <a:pPr algn="ctr" indent="0" marL="0">
              <a:buNone/>
            </a:pPr>
            <a:r>
              <a:rPr lang="en-US" sz="1428" b="1" dirty="0">
                <a:solidFill>
                  <a:schemeClr val="bg1"/>
                </a:solidFill>
              </a:rPr>
              <a:t>3</a:t>
            </a:r>
            <a:endParaRPr lang="en-US" sz="1428" dirty="0"/>
          </a:p>
        </p:txBody>
      </p:sp>
      <p:sp>
        <p:nvSpPr>
          <p:cNvPr id="17" name="Text 14"/>
          <p:cNvSpPr txBox="1"/>
          <p:nvPr/>
        </p:nvSpPr>
        <p:spPr>
          <a:xfrm>
            <a:off x="6153912" y="2889504"/>
            <a:ext cx="5489143" cy="274320"/>
          </a:xfrm>
          <a:prstGeom prst="rect">
            <a:avLst/>
          </a:prstGeom>
          <a:noFill/>
          <a:ln/>
        </p:spPr>
        <p:txBody>
          <a:bodyPr wrap="square" lIns="0" tIns="0" rIns="0" bIns="0" rtlCol="0" anchor="t"/>
          <a:lstStyle/>
          <a:p>
            <a:pPr indent="0" marL="0">
              <a:buNone/>
            </a:pPr>
            <a:r>
              <a:rPr lang="en-US" sz="1400" b="1" dirty="0">
                <a:solidFill>
                  <a:schemeClr val="tx1"/>
                </a:solidFill>
              </a:rPr>
              <a:t>Fit one similarity transform (Umeyama)</a:t>
            </a:r>
            <a:endParaRPr lang="en-US" sz="1400" dirty="0"/>
          </a:p>
        </p:txBody>
      </p:sp>
      <p:sp>
        <p:nvSpPr>
          <p:cNvPr id="18" name="Text 15"/>
          <p:cNvSpPr txBox="1"/>
          <p:nvPr/>
        </p:nvSpPr>
        <p:spPr>
          <a:xfrm>
            <a:off x="6153912" y="3182112"/>
            <a:ext cx="5489143" cy="274320"/>
          </a:xfrm>
          <a:prstGeom prst="rect">
            <a:avLst/>
          </a:prstGeom>
          <a:noFill/>
          <a:ln/>
        </p:spPr>
        <p:txBody>
          <a:bodyPr wrap="square" lIns="0" tIns="0" rIns="0" bIns="0" rtlCol="0" anchor="t"/>
          <a:lstStyle/>
          <a:p>
            <a:pPr indent="0" marL="0">
              <a:buNone/>
            </a:pPr>
            <a:r>
              <a:rPr lang="en-US" sz="1200" dirty="0">
                <a:solidFill>
                  <a:schemeClr val="accent4"/>
                </a:solidFill>
              </a:rPr>
              <a:t>maps VGGT's arbitrary units into board millimetres</a:t>
            </a:r>
            <a:endParaRPr lang="en-US" sz="1200" dirty="0"/>
          </a:p>
        </p:txBody>
      </p:sp>
      <p:sp>
        <p:nvSpPr>
          <p:cNvPr id="19" name="Text 16"/>
          <p:cNvSpPr txBox="1"/>
          <p:nvPr/>
        </p:nvSpPr>
        <p:spPr>
          <a:xfrm>
            <a:off x="5623560" y="3657600"/>
            <a:ext cx="6019495" cy="292608"/>
          </a:xfrm>
          <a:prstGeom prst="rect">
            <a:avLst/>
          </a:prstGeom>
          <a:noFill/>
          <a:ln/>
        </p:spPr>
        <p:txBody>
          <a:bodyPr wrap="square" lIns="0" tIns="0" rIns="0" bIns="0" rtlCol="0" anchor="t"/>
          <a:lstStyle/>
          <a:p>
            <a:pPr indent="0" marL="0">
              <a:buNone/>
            </a:pPr>
            <a:r>
              <a:rPr lang="en-US" sz="1300" b="1" dirty="0">
                <a:solidFill>
                  <a:schemeClr val="accent3"/>
                </a:solidFill>
              </a:rPr>
              <a:t>Board as a ruler: the whole scene comes out 4–9% small</a:t>
            </a:r>
            <a:endParaRPr lang="en-US" sz="1300" dirty="0"/>
          </a:p>
        </p:txBody>
      </p:sp>
      <p:graphicFrame>
        <p:nvGraphicFramePr>
          <p:cNvPr id="20" name="Chart 0" descr=""/>
          <p:cNvGraphicFramePr/>
          <p:nvPr/>
        </p:nvGraphicFramePr>
        <p:xfrm>
          <a:off x="5532120" y="3977640"/>
          <a:ext cx="6110935" cy="22402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COMPLETED WORK · GEOMETRY</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Yashi</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From photos to a fused mesh, on real data</a:t>
            </a:r>
            <a:endParaRPr lang="en-US" sz="3000" dirty="0"/>
          </a:p>
        </p:txBody>
      </p:sp>
      <p:pic>
        <p:nvPicPr>
          <p:cNvPr id="5" name="Image 0" descr="/private/tmp/ps-deck-wt/submissions/assets/2026-10-16/fig_pipeline_strip.jpg">    </p:cNvPr>
          <p:cNvPicPr>
            <a:picLocks noChangeAspect="1"/>
          </p:cNvPicPr>
          <p:nvPr/>
        </p:nvPicPr>
        <p:blipFill>
          <a:blip r:embed="rId1"/>
          <a:stretch>
            <a:fillRect/>
          </a:stretch>
        </p:blipFill>
        <p:spPr>
          <a:xfrm>
            <a:off x="548640" y="1818858"/>
            <a:ext cx="11094415" cy="2397325"/>
          </a:xfrm>
          <a:prstGeom prst="rect">
            <a:avLst/>
          </a:prstGeom>
        </p:spPr>
      </p:pic>
      <p:sp>
        <p:nvSpPr>
          <p:cNvPr id="6" name="Text 3"/>
          <p:cNvSpPr txBox="1"/>
          <p:nvPr/>
        </p:nvSpPr>
        <p:spPr>
          <a:xfrm>
            <a:off x="548640" y="4507992"/>
            <a:ext cx="11094415" cy="502920"/>
          </a:xfrm>
          <a:prstGeom prst="rect">
            <a:avLst/>
          </a:prstGeom>
          <a:noFill/>
          <a:ln/>
        </p:spPr>
        <p:txBody>
          <a:bodyPr wrap="square" lIns="0" tIns="0" rIns="0" bIns="0" rtlCol="0" anchor="t"/>
          <a:lstStyle/>
          <a:p>
            <a:pPr indent="0" marL="0">
              <a:buNone/>
            </a:pPr>
            <a:r>
              <a:rPr lang="en-US" sz="1050" i="1" dirty="0">
                <a:solidFill>
                  <a:schemeClr val="accent4"/>
                </a:solidFill>
              </a:rPr>
              <a:t>The geometry chain on golden sample s-05, the red prism: (a) one of 29 phone photos, (b) VGGT's depth for every pixel in board millimetres, (c) segmented — board plane fitted, low-confidence pixels dropped, (d) the TSDF-fused mesh before cleanup.</a:t>
            </a:r>
            <a:endParaRPr lang="en-US" sz="1050" dirty="0"/>
          </a:p>
        </p:txBody>
      </p:sp>
      <p:sp>
        <p:nvSpPr>
          <p:cNvPr id="7" name="Shape 4"/>
          <p:cNvSpPr/>
          <p:nvPr/>
        </p:nvSpPr>
        <p:spPr>
          <a:xfrm>
            <a:off x="548640" y="5596128"/>
            <a:ext cx="11094415" cy="548640"/>
          </a:xfrm>
          <a:prstGeom prst="roundRect">
            <a:avLst>
              <a:gd name="adj" fmla="val 10000"/>
            </a:avLst>
          </a:prstGeom>
          <a:solidFill>
            <a:schemeClr val="bg2"/>
          </a:solidFill>
          <a:ln w="12700">
            <a:solidFill>
              <a:schemeClr val="bg2"/>
            </a:solidFill>
            <a:prstDash val="solid"/>
          </a:ln>
        </p:spPr>
      </p:sp>
      <p:sp>
        <p:nvSpPr>
          <p:cNvPr id="8" name="Text 5"/>
          <p:cNvSpPr txBox="1"/>
          <p:nvPr/>
        </p:nvSpPr>
        <p:spPr>
          <a:xfrm>
            <a:off x="777240" y="5596128"/>
            <a:ext cx="10637215" cy="548640"/>
          </a:xfrm>
          <a:prstGeom prst="rect">
            <a:avLst/>
          </a:prstGeom>
          <a:noFill/>
          <a:ln/>
        </p:spPr>
        <p:txBody>
          <a:bodyPr wrap="square" lIns="0" tIns="0" rIns="0" bIns="0" rtlCol="0" anchor="ctr"/>
          <a:lstStyle/>
          <a:p>
            <a:pPr indent="0" marL="0">
              <a:buNone/>
            </a:pPr>
            <a:r>
              <a:rPr lang="en-US" sz="1250" b="1" dirty="0">
                <a:solidFill>
                  <a:schemeClr val="tx1"/>
                </a:solidFill>
              </a:rPr>
              <a:t>Every stage is its own tested module with a CLI and a JSON report, </a:t>
            </a:r>
            <a:pPr indent="0" marL="0">
              <a:buNone/>
            </a:pPr>
            <a:r>
              <a:rPr lang="en-US" sz="1250" dirty="0">
                <a:solidFill>
                  <a:schemeClr val="tx1"/>
                </a:solidFill>
              </a:rPr>
              <a:t>so each one can be rerun and inspected alone. The fused mesh still has artifacts: slides 7 and 11.</a:t>
            </a:r>
            <a:endParaRPr lang="en-US" sz="12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COMPLETED WORK · PROVENANCE AND UNCERTAINTY</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Yashi</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Unseen geometry can never pass or fail a part</a:t>
            </a:r>
            <a:endParaRPr lang="en-US" sz="3000" dirty="0"/>
          </a:p>
        </p:txBody>
      </p:sp>
      <p:pic>
        <p:nvPicPr>
          <p:cNvPr id="5" name="Image 0" descr="/private/tmp/ps-deck-wt/submissions/assets/2026-10-16/fig_provenance.jpg">    </p:cNvPr>
          <p:cNvPicPr>
            <a:picLocks noChangeAspect="1"/>
          </p:cNvPicPr>
          <p:nvPr/>
        </p:nvPicPr>
        <p:blipFill>
          <a:blip r:embed="rId1"/>
          <a:stretch>
            <a:fillRect/>
          </a:stretch>
        </p:blipFill>
        <p:spPr>
          <a:xfrm>
            <a:off x="907436" y="1371600"/>
            <a:ext cx="3397208" cy="4114800"/>
          </a:xfrm>
          <a:prstGeom prst="rect">
            <a:avLst/>
          </a:prstGeom>
        </p:spPr>
      </p:pic>
      <p:sp>
        <p:nvSpPr>
          <p:cNvPr id="6" name="Shape 3"/>
          <p:cNvSpPr/>
          <p:nvPr/>
        </p:nvSpPr>
        <p:spPr>
          <a:xfrm>
            <a:off x="548640" y="5650992"/>
            <a:ext cx="201168" cy="201168"/>
          </a:xfrm>
          <a:prstGeom prst="rect">
            <a:avLst/>
          </a:prstGeom>
          <a:solidFill>
            <a:schemeClr val="accent1"/>
          </a:solidFill>
          <a:ln w="12700">
            <a:solidFill>
              <a:schemeClr val="accent1"/>
            </a:solidFill>
            <a:prstDash val="solid"/>
          </a:ln>
        </p:spPr>
      </p:sp>
      <p:sp>
        <p:nvSpPr>
          <p:cNvPr id="7" name="Text 4"/>
          <p:cNvSpPr txBox="1"/>
          <p:nvPr/>
        </p:nvSpPr>
        <p:spPr>
          <a:xfrm>
            <a:off x="822960" y="5596128"/>
            <a:ext cx="1097280" cy="310896"/>
          </a:xfrm>
          <a:prstGeom prst="rect">
            <a:avLst/>
          </a:prstGeom>
          <a:noFill/>
          <a:ln/>
        </p:spPr>
        <p:txBody>
          <a:bodyPr wrap="square" lIns="0" tIns="0" rIns="0" bIns="0" rtlCol="0" anchor="ctr"/>
          <a:lstStyle/>
          <a:p>
            <a:pPr indent="0" marL="0">
              <a:buNone/>
            </a:pPr>
            <a:r>
              <a:rPr lang="en-US" sz="1200" dirty="0">
                <a:solidFill>
                  <a:schemeClr val="tx1"/>
                </a:solidFill>
              </a:rPr>
              <a:t>Observed</a:t>
            </a:r>
            <a:endParaRPr lang="en-US" sz="1200" dirty="0"/>
          </a:p>
        </p:txBody>
      </p:sp>
      <p:sp>
        <p:nvSpPr>
          <p:cNvPr id="8" name="Shape 5"/>
          <p:cNvSpPr/>
          <p:nvPr/>
        </p:nvSpPr>
        <p:spPr>
          <a:xfrm>
            <a:off x="1874520" y="5650992"/>
            <a:ext cx="201168" cy="201168"/>
          </a:xfrm>
          <a:prstGeom prst="rect">
            <a:avLst/>
          </a:prstGeom>
          <a:solidFill>
            <a:srgbClr val="CFD3D6"/>
          </a:solidFill>
          <a:ln w="12700">
            <a:solidFill>
              <a:srgbClr val="B9BEC1"/>
            </a:solidFill>
            <a:prstDash val="solid"/>
          </a:ln>
        </p:spPr>
      </p:sp>
      <p:sp>
        <p:nvSpPr>
          <p:cNvPr id="9" name="Text 6"/>
          <p:cNvSpPr txBox="1"/>
          <p:nvPr/>
        </p:nvSpPr>
        <p:spPr>
          <a:xfrm>
            <a:off x="2148840" y="5596128"/>
            <a:ext cx="1280160" cy="310896"/>
          </a:xfrm>
          <a:prstGeom prst="rect">
            <a:avLst/>
          </a:prstGeom>
          <a:noFill/>
          <a:ln/>
        </p:spPr>
        <p:txBody>
          <a:bodyPr wrap="square" lIns="0" tIns="0" rIns="0" bIns="0" rtlCol="0" anchor="ctr"/>
          <a:lstStyle/>
          <a:p>
            <a:pPr indent="0" marL="0">
              <a:buNone/>
            </a:pPr>
            <a:r>
              <a:rPr lang="en-US" sz="1200" dirty="0">
                <a:solidFill>
                  <a:schemeClr val="tx1"/>
                </a:solidFill>
              </a:rPr>
              <a:t>Unobserved</a:t>
            </a:r>
            <a:endParaRPr lang="en-US" sz="1200" dirty="0"/>
          </a:p>
        </p:txBody>
      </p:sp>
      <p:sp>
        <p:nvSpPr>
          <p:cNvPr id="10" name="Text 7"/>
          <p:cNvSpPr txBox="1"/>
          <p:nvPr/>
        </p:nvSpPr>
        <p:spPr>
          <a:xfrm>
            <a:off x="548640" y="5943600"/>
            <a:ext cx="4389120" cy="274320"/>
          </a:xfrm>
          <a:prstGeom prst="rect">
            <a:avLst/>
          </a:prstGeom>
          <a:noFill/>
          <a:ln/>
        </p:spPr>
        <p:txBody>
          <a:bodyPr wrap="square" lIns="0" tIns="0" rIns="0" bIns="0" rtlCol="0" anchor="t"/>
          <a:lstStyle/>
          <a:p>
            <a:pPr indent="0" marL="0">
              <a:buNone/>
            </a:pPr>
            <a:r>
              <a:rPr lang="en-US" sz="1050" i="1" dirty="0">
                <a:solidFill>
                  <a:schemeClr val="accent4"/>
                </a:solidFill>
              </a:rPr>
              <a:t>Real s-05 mesh, current pipeline: the part is Observed, the artifacts are not</a:t>
            </a:r>
            <a:endParaRPr lang="en-US" sz="1050" dirty="0"/>
          </a:p>
        </p:txBody>
      </p:sp>
      <p:sp>
        <p:nvSpPr>
          <p:cNvPr id="11" name="Shape 8"/>
          <p:cNvSpPr/>
          <p:nvPr/>
        </p:nvSpPr>
        <p:spPr>
          <a:xfrm>
            <a:off x="5074920" y="1463040"/>
            <a:ext cx="6568135" cy="868680"/>
          </a:xfrm>
          <a:prstGeom prst="roundRect">
            <a:avLst>
              <a:gd name="adj" fmla="val 7368"/>
            </a:avLst>
          </a:prstGeom>
          <a:solidFill>
            <a:schemeClr val="tx2"/>
          </a:solidFill>
          <a:ln w="12700">
            <a:solidFill>
              <a:schemeClr val="tx2"/>
            </a:solidFill>
            <a:prstDash val="solid"/>
          </a:ln>
        </p:spPr>
      </p:sp>
      <p:sp>
        <p:nvSpPr>
          <p:cNvPr id="12" name="Text 9"/>
          <p:cNvSpPr txBox="1"/>
          <p:nvPr/>
        </p:nvSpPr>
        <p:spPr>
          <a:xfrm>
            <a:off x="5349240" y="1463040"/>
            <a:ext cx="6019495" cy="868680"/>
          </a:xfrm>
          <a:prstGeom prst="rect">
            <a:avLst/>
          </a:prstGeom>
          <a:noFill/>
          <a:ln/>
        </p:spPr>
        <p:txBody>
          <a:bodyPr wrap="square" lIns="0" tIns="0" rIns="0" bIns="0" rtlCol="0" anchor="ctr"/>
          <a:lstStyle/>
          <a:p>
            <a:pPr indent="0" marL="0">
              <a:buNone/>
            </a:pPr>
            <a:r>
              <a:rPr lang="en-US" sz="1900" dirty="0">
                <a:solidFill>
                  <a:schemeClr val="bg1"/>
                </a:solidFill>
                <a:latin typeface="+mj-lt" pitchFamily="34" charset="0"/>
                <a:ea typeface="+mj-lt" pitchFamily="34" charset="-122"/>
                <a:cs typeface="+mj-lt" pitchFamily="34" charset="-120"/>
              </a:rPr>
              <a:t>If the camera did not really see it, it can only trigger a Rescan.</a:t>
            </a:r>
            <a:endParaRPr lang="en-US" sz="1900" dirty="0"/>
          </a:p>
        </p:txBody>
      </p:sp>
      <p:sp>
        <p:nvSpPr>
          <p:cNvPr id="13" name="Shape 10"/>
          <p:cNvSpPr/>
          <p:nvPr/>
        </p:nvSpPr>
        <p:spPr>
          <a:xfrm>
            <a:off x="5074920" y="2587752"/>
            <a:ext cx="365760" cy="365760"/>
          </a:xfrm>
          <a:prstGeom prst="ellipse">
            <a:avLst/>
          </a:prstGeom>
          <a:solidFill>
            <a:schemeClr val="accent1"/>
          </a:solidFill>
          <a:ln w="12700">
            <a:solidFill>
              <a:schemeClr val="accent1"/>
            </a:solidFill>
            <a:prstDash val="solid"/>
          </a:ln>
        </p:spPr>
      </p:sp>
      <p:sp>
        <p:nvSpPr>
          <p:cNvPr id="14" name="Text 11"/>
          <p:cNvSpPr txBox="1"/>
          <p:nvPr/>
        </p:nvSpPr>
        <p:spPr>
          <a:xfrm>
            <a:off x="5074920" y="2587752"/>
            <a:ext cx="365760" cy="365760"/>
          </a:xfrm>
          <a:prstGeom prst="rect">
            <a:avLst/>
          </a:prstGeom>
          <a:noFill/>
          <a:ln/>
        </p:spPr>
        <p:txBody>
          <a:bodyPr wrap="square" lIns="0" tIns="0" rIns="0" bIns="0" rtlCol="0" anchor="ctr"/>
          <a:lstStyle/>
          <a:p>
            <a:pPr algn="ctr" indent="0" marL="0">
              <a:buNone/>
            </a:pPr>
            <a:r>
              <a:rPr lang="en-US" sz="1360" b="1" dirty="0">
                <a:solidFill>
                  <a:schemeClr val="bg1"/>
                </a:solidFill>
              </a:rPr>
              <a:t>1</a:t>
            </a:r>
            <a:endParaRPr lang="en-US" sz="1360" dirty="0"/>
          </a:p>
        </p:txBody>
      </p:sp>
      <p:sp>
        <p:nvSpPr>
          <p:cNvPr id="15" name="Text 12"/>
          <p:cNvSpPr txBox="1"/>
          <p:nvPr/>
        </p:nvSpPr>
        <p:spPr>
          <a:xfrm>
            <a:off x="5577840" y="2560320"/>
            <a:ext cx="6065215" cy="640080"/>
          </a:xfrm>
          <a:prstGeom prst="rect">
            <a:avLst/>
          </a:prstGeom>
          <a:noFill/>
          <a:ln/>
        </p:spPr>
        <p:txBody>
          <a:bodyPr wrap="square" lIns="0" tIns="0" rIns="0" bIns="0" rtlCol="0" anchor="t"/>
          <a:lstStyle/>
          <a:p>
            <a:pPr indent="0" marL="0">
              <a:buNone/>
            </a:pPr>
            <a:r>
              <a:rPr lang="en-US" sz="1300" b="1" dirty="0">
                <a:solidFill>
                  <a:schemeClr val="tx1"/>
                </a:solidFill>
              </a:rPr>
              <a:t>Observed: </a:t>
            </a:r>
            <a:pPr indent="0" marL="0">
              <a:buNone/>
            </a:pPr>
            <a:r>
              <a:rPr lang="en-US" sz="1300" dirty="0">
                <a:solidFill>
                  <a:schemeClr val="tx1"/>
                </a:solidFill>
              </a:rPr>
              <a:t>seen by at least 2 photos, at least 2° apart, through pixels the model is confident about, and not hidden behind other surface</a:t>
            </a:r>
            <a:endParaRPr lang="en-US" sz="1300" dirty="0"/>
          </a:p>
        </p:txBody>
      </p:sp>
      <p:sp>
        <p:nvSpPr>
          <p:cNvPr id="16" name="Shape 13"/>
          <p:cNvSpPr/>
          <p:nvPr/>
        </p:nvSpPr>
        <p:spPr>
          <a:xfrm>
            <a:off x="5074920" y="3300984"/>
            <a:ext cx="365760" cy="365760"/>
          </a:xfrm>
          <a:prstGeom prst="ellipse">
            <a:avLst/>
          </a:prstGeom>
          <a:solidFill>
            <a:schemeClr val="accent1"/>
          </a:solidFill>
          <a:ln w="12700">
            <a:solidFill>
              <a:schemeClr val="accent1"/>
            </a:solidFill>
            <a:prstDash val="solid"/>
          </a:ln>
        </p:spPr>
      </p:sp>
      <p:sp>
        <p:nvSpPr>
          <p:cNvPr id="17" name="Text 14"/>
          <p:cNvSpPr txBox="1"/>
          <p:nvPr/>
        </p:nvSpPr>
        <p:spPr>
          <a:xfrm>
            <a:off x="5074920" y="3300984"/>
            <a:ext cx="365760" cy="365760"/>
          </a:xfrm>
          <a:prstGeom prst="rect">
            <a:avLst/>
          </a:prstGeom>
          <a:noFill/>
          <a:ln/>
        </p:spPr>
        <p:txBody>
          <a:bodyPr wrap="square" lIns="0" tIns="0" rIns="0" bIns="0" rtlCol="0" anchor="ctr"/>
          <a:lstStyle/>
          <a:p>
            <a:pPr algn="ctr" indent="0" marL="0">
              <a:buNone/>
            </a:pPr>
            <a:r>
              <a:rPr lang="en-US" sz="1360" b="1" dirty="0">
                <a:solidFill>
                  <a:schemeClr val="bg1"/>
                </a:solidFill>
              </a:rPr>
              <a:t>2</a:t>
            </a:r>
            <a:endParaRPr lang="en-US" sz="1360" dirty="0"/>
          </a:p>
        </p:txBody>
      </p:sp>
      <p:sp>
        <p:nvSpPr>
          <p:cNvPr id="18" name="Text 15"/>
          <p:cNvSpPr txBox="1"/>
          <p:nvPr/>
        </p:nvSpPr>
        <p:spPr>
          <a:xfrm>
            <a:off x="5577840" y="3273552"/>
            <a:ext cx="6065215" cy="640080"/>
          </a:xfrm>
          <a:prstGeom prst="rect">
            <a:avLst/>
          </a:prstGeom>
          <a:noFill/>
          <a:ln/>
        </p:spPr>
        <p:txBody>
          <a:bodyPr wrap="square" lIns="0" tIns="0" rIns="0" bIns="0" rtlCol="0" anchor="t"/>
          <a:lstStyle/>
          <a:p>
            <a:pPr indent="0" marL="0">
              <a:buNone/>
            </a:pPr>
            <a:r>
              <a:rPr lang="en-US" sz="1300" b="1" dirty="0">
                <a:solidFill>
                  <a:schemeClr val="tx1"/>
                </a:solidFill>
              </a:rPr>
              <a:t>σ per vertex: </a:t>
            </a:r>
            <a:pPr indent="0" marL="0">
              <a:buNone/>
            </a:pPr>
            <a:r>
              <a:rPr lang="en-US" sz="1300" dirty="0">
                <a:solidFill>
                  <a:schemeClr val="tx1"/>
                </a:solidFill>
              </a:rPr>
              <a:t>spread of depth across the photos that see it; above 3 mm it is downgraded to Unobserved</a:t>
            </a:r>
            <a:endParaRPr lang="en-US" sz="1300" dirty="0"/>
          </a:p>
        </p:txBody>
      </p:sp>
      <p:sp>
        <p:nvSpPr>
          <p:cNvPr id="19" name="Shape 16"/>
          <p:cNvSpPr/>
          <p:nvPr/>
        </p:nvSpPr>
        <p:spPr>
          <a:xfrm>
            <a:off x="5074920" y="4014216"/>
            <a:ext cx="365760" cy="365760"/>
          </a:xfrm>
          <a:prstGeom prst="ellipse">
            <a:avLst/>
          </a:prstGeom>
          <a:solidFill>
            <a:schemeClr val="accent1"/>
          </a:solidFill>
          <a:ln w="12700">
            <a:solidFill>
              <a:schemeClr val="accent1"/>
            </a:solidFill>
            <a:prstDash val="solid"/>
          </a:ln>
        </p:spPr>
      </p:sp>
      <p:sp>
        <p:nvSpPr>
          <p:cNvPr id="20" name="Text 17"/>
          <p:cNvSpPr txBox="1"/>
          <p:nvPr/>
        </p:nvSpPr>
        <p:spPr>
          <a:xfrm>
            <a:off x="5074920" y="4014216"/>
            <a:ext cx="365760" cy="365760"/>
          </a:xfrm>
          <a:prstGeom prst="rect">
            <a:avLst/>
          </a:prstGeom>
          <a:noFill/>
          <a:ln/>
        </p:spPr>
        <p:txBody>
          <a:bodyPr wrap="square" lIns="0" tIns="0" rIns="0" bIns="0" rtlCol="0" anchor="ctr"/>
          <a:lstStyle/>
          <a:p>
            <a:pPr algn="ctr" indent="0" marL="0">
              <a:buNone/>
            </a:pPr>
            <a:r>
              <a:rPr lang="en-US" sz="1360" b="1" dirty="0">
                <a:solidFill>
                  <a:schemeClr val="bg1"/>
                </a:solidFill>
              </a:rPr>
              <a:t>3</a:t>
            </a:r>
            <a:endParaRPr lang="en-US" sz="1360" dirty="0"/>
          </a:p>
        </p:txBody>
      </p:sp>
      <p:sp>
        <p:nvSpPr>
          <p:cNvPr id="21" name="Text 18"/>
          <p:cNvSpPr txBox="1"/>
          <p:nvPr/>
        </p:nvSpPr>
        <p:spPr>
          <a:xfrm>
            <a:off x="5577840" y="3986784"/>
            <a:ext cx="6065215" cy="640080"/>
          </a:xfrm>
          <a:prstGeom prst="rect">
            <a:avLst/>
          </a:prstGeom>
          <a:noFill/>
          <a:ln/>
        </p:spPr>
        <p:txBody>
          <a:bodyPr wrap="square" lIns="0" tIns="0" rIns="0" bIns="0" rtlCol="0" anchor="t"/>
          <a:lstStyle/>
          <a:p>
            <a:pPr indent="0" marL="0">
              <a:buNone/>
            </a:pPr>
            <a:r>
              <a:rPr lang="en-US" sz="1300" b="1" dirty="0">
                <a:solidFill>
                  <a:schemeClr val="tx1"/>
                </a:solidFill>
              </a:rPr>
              <a:t>Enforced: </a:t>
            </a:r>
            <a:pPr indent="0" marL="0">
              <a:buNone/>
            </a:pPr>
            <a:r>
              <a:rPr lang="en-US" sz="1300" dirty="0">
                <a:solidFill>
                  <a:schemeClr val="tx1"/>
                </a:solidFill>
              </a:rPr>
              <a:t>labels travel as vertex colours in the GLB; the API contract bars unseen regions from any verdict, and a test checks it</a:t>
            </a:r>
            <a:endParaRPr lang="en-US" sz="1300" dirty="0"/>
          </a:p>
        </p:txBody>
      </p:sp>
      <p:sp>
        <p:nvSpPr>
          <p:cNvPr id="22" name="Shape 19"/>
          <p:cNvSpPr/>
          <p:nvPr/>
        </p:nvSpPr>
        <p:spPr>
          <a:xfrm>
            <a:off x="5074920" y="4800600"/>
            <a:ext cx="3169768" cy="1280160"/>
          </a:xfrm>
          <a:prstGeom prst="roundRect">
            <a:avLst>
              <a:gd name="adj" fmla="val 5000"/>
            </a:avLst>
          </a:prstGeom>
          <a:solidFill>
            <a:schemeClr val="bg2"/>
          </a:solidFill>
          <a:ln w="12700">
            <a:solidFill>
              <a:schemeClr val="bg2"/>
            </a:solidFill>
            <a:prstDash val="solid"/>
          </a:ln>
        </p:spPr>
      </p:sp>
      <p:sp>
        <p:nvSpPr>
          <p:cNvPr id="23" name="Text 20"/>
          <p:cNvSpPr txBox="1"/>
          <p:nvPr/>
        </p:nvSpPr>
        <p:spPr>
          <a:xfrm>
            <a:off x="5276088" y="4892040"/>
            <a:ext cx="2767432" cy="5029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13%</a:t>
            </a:r>
            <a:endParaRPr lang="en-US" sz="2600" dirty="0"/>
          </a:p>
        </p:txBody>
      </p:sp>
      <p:sp>
        <p:nvSpPr>
          <p:cNvPr id="24" name="Text 21"/>
          <p:cNvSpPr txBox="1"/>
          <p:nvPr/>
        </p:nvSpPr>
        <p:spPr>
          <a:xfrm>
            <a:off x="5276088" y="5413248"/>
            <a:ext cx="2767432" cy="603504"/>
          </a:xfrm>
          <a:prstGeom prst="rect">
            <a:avLst/>
          </a:prstGeom>
          <a:noFill/>
          <a:ln/>
        </p:spPr>
        <p:txBody>
          <a:bodyPr wrap="square" lIns="0" tIns="0" rIns="0" bIns="0" rtlCol="0" anchor="t"/>
          <a:lstStyle/>
          <a:p>
            <a:pPr indent="0" marL="0">
              <a:buNone/>
            </a:pPr>
            <a:r>
              <a:rPr lang="en-US" sz="1150" dirty="0">
                <a:solidFill>
                  <a:schemeClr val="accent4"/>
                </a:solidFill>
              </a:rPr>
              <a:t>of the s-05 mesh is Observed, mainly the part. The rest can only trigger a Rescan</a:t>
            </a:r>
            <a:endParaRPr lang="en-US" sz="1150" dirty="0"/>
          </a:p>
        </p:txBody>
      </p:sp>
      <p:sp>
        <p:nvSpPr>
          <p:cNvPr id="25" name="Shape 22"/>
          <p:cNvSpPr/>
          <p:nvPr/>
        </p:nvSpPr>
        <p:spPr>
          <a:xfrm>
            <a:off x="8473288" y="4800600"/>
            <a:ext cx="3169768" cy="1280160"/>
          </a:xfrm>
          <a:prstGeom prst="roundRect">
            <a:avLst>
              <a:gd name="adj" fmla="val 5000"/>
            </a:avLst>
          </a:prstGeom>
          <a:solidFill>
            <a:schemeClr val="bg2"/>
          </a:solidFill>
          <a:ln w="12700">
            <a:solidFill>
              <a:schemeClr val="bg2"/>
            </a:solidFill>
            <a:prstDash val="solid"/>
          </a:ln>
        </p:spPr>
      </p:sp>
      <p:sp>
        <p:nvSpPr>
          <p:cNvPr id="26" name="Text 23"/>
          <p:cNvSpPr txBox="1"/>
          <p:nvPr/>
        </p:nvSpPr>
        <p:spPr>
          <a:xfrm>
            <a:off x="8674456" y="4892040"/>
            <a:ext cx="2767432" cy="5029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1.2–2.1 mm</a:t>
            </a:r>
            <a:endParaRPr lang="en-US" sz="2600" dirty="0"/>
          </a:p>
        </p:txBody>
      </p:sp>
      <p:sp>
        <p:nvSpPr>
          <p:cNvPr id="27" name="Text 24"/>
          <p:cNvSpPr txBox="1"/>
          <p:nvPr/>
        </p:nvSpPr>
        <p:spPr>
          <a:xfrm>
            <a:off x="8674456" y="5413248"/>
            <a:ext cx="2767432" cy="603504"/>
          </a:xfrm>
          <a:prstGeom prst="rect">
            <a:avLst/>
          </a:prstGeom>
          <a:noFill/>
          <a:ln/>
        </p:spPr>
        <p:txBody>
          <a:bodyPr wrap="square" lIns="0" tIns="0" rIns="0" bIns="0" rtlCol="0" anchor="t"/>
          <a:lstStyle/>
          <a:p>
            <a:pPr indent="0" marL="0">
              <a:buNone/>
            </a:pPr>
            <a:r>
              <a:rPr lang="en-US" sz="1150" dirty="0">
                <a:solidFill>
                  <a:schemeClr val="accent4"/>
                </a:solidFill>
              </a:rPr>
              <a:t>median σ per object across the five golden objects</a:t>
            </a:r>
            <a:endParaRPr lang="en-US" sz="11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COMPLETED WORK · CAPTURE APP</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Yashi</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The capture app: camera to coloured model</a:t>
            </a:r>
            <a:endParaRPr lang="en-US" sz="3000" dirty="0"/>
          </a:p>
        </p:txBody>
      </p:sp>
      <p:sp>
        <p:nvSpPr>
          <p:cNvPr id="5" name="Text 3"/>
          <p:cNvSpPr txBox="1"/>
          <p:nvPr/>
        </p:nvSpPr>
        <p:spPr>
          <a:xfrm>
            <a:off x="594360" y="1371600"/>
            <a:ext cx="3559604" cy="237744"/>
          </a:xfrm>
          <a:prstGeom prst="rect">
            <a:avLst/>
          </a:prstGeom>
          <a:noFill/>
          <a:ln/>
        </p:spPr>
        <p:txBody>
          <a:bodyPr wrap="square" lIns="0" tIns="0" rIns="0" bIns="0" rtlCol="0" anchor="t"/>
          <a:lstStyle/>
          <a:p>
            <a:pPr algn="ctr" indent="0" marL="0">
              <a:buNone/>
            </a:pPr>
            <a:r>
              <a:rPr lang="en-US" sz="1000" b="1" spc="150" kern="0" dirty="0">
                <a:solidFill>
                  <a:schemeClr val="accent4"/>
                </a:solidFill>
              </a:rPr>
              <a:t>CAPTURE</a:t>
            </a:r>
            <a:endParaRPr lang="en-US" sz="1000" dirty="0"/>
          </a:p>
        </p:txBody>
      </p:sp>
      <p:sp>
        <p:nvSpPr>
          <p:cNvPr id="6" name="Shape 4"/>
          <p:cNvSpPr/>
          <p:nvPr/>
        </p:nvSpPr>
        <p:spPr>
          <a:xfrm>
            <a:off x="594360" y="1691640"/>
            <a:ext cx="3559604" cy="4389120"/>
          </a:xfrm>
          <a:prstGeom prst="roundRect">
            <a:avLst>
              <a:gd name="adj" fmla="val 5138"/>
            </a:avLst>
          </a:prstGeom>
          <a:solidFill>
            <a:schemeClr val="tx1"/>
          </a:solidFill>
          <a:ln w="12700">
            <a:solidFill>
              <a:schemeClr val="tx1"/>
            </a:solidFill>
            <a:prstDash val="solid"/>
          </a:ln>
        </p:spPr>
      </p:sp>
      <p:pic>
        <p:nvPicPr>
          <p:cNvPr id="7" name="Image 0" descr="/private/tmp/ps-deck-wt/submissions/assets/2026-10-16/fig_desktop_capture.jpg">    </p:cNvPr>
          <p:cNvPicPr>
            <a:picLocks noChangeAspect="1"/>
          </p:cNvPicPr>
          <p:nvPr/>
        </p:nvPicPr>
        <p:blipFill>
          <a:blip r:embed="rId1"/>
          <a:stretch>
            <a:fillRect/>
          </a:stretch>
        </p:blipFill>
        <p:spPr>
          <a:xfrm>
            <a:off x="704088" y="1874520"/>
            <a:ext cx="3340148" cy="4023360"/>
          </a:xfrm>
          <a:prstGeom prst="rect">
            <a:avLst/>
          </a:prstGeom>
        </p:spPr>
      </p:pic>
      <p:sp>
        <p:nvSpPr>
          <p:cNvPr id="8" name="Text 5"/>
          <p:cNvSpPr txBox="1"/>
          <p:nvPr/>
        </p:nvSpPr>
        <p:spPr>
          <a:xfrm>
            <a:off x="4428284" y="1371600"/>
            <a:ext cx="2514600" cy="237744"/>
          </a:xfrm>
          <a:prstGeom prst="rect">
            <a:avLst/>
          </a:prstGeom>
          <a:noFill/>
          <a:ln/>
        </p:spPr>
        <p:txBody>
          <a:bodyPr wrap="square" lIns="0" tIns="0" rIns="0" bIns="0" rtlCol="0" anchor="t"/>
          <a:lstStyle/>
          <a:p>
            <a:pPr algn="ctr" indent="0" marL="0">
              <a:buNone/>
            </a:pPr>
            <a:r>
              <a:rPr lang="en-US" sz="1000" b="1" spc="150" kern="0" dirty="0">
                <a:solidFill>
                  <a:schemeClr val="accent4"/>
                </a:solidFill>
              </a:rPr>
              <a:t>RESULT</a:t>
            </a:r>
            <a:endParaRPr lang="en-US" sz="1000" dirty="0"/>
          </a:p>
        </p:txBody>
      </p:sp>
      <p:sp>
        <p:nvSpPr>
          <p:cNvPr id="9" name="Shape 6"/>
          <p:cNvSpPr/>
          <p:nvPr/>
        </p:nvSpPr>
        <p:spPr>
          <a:xfrm>
            <a:off x="4373420" y="1636776"/>
            <a:ext cx="2624328" cy="1359771"/>
          </a:xfrm>
          <a:prstGeom prst="roundRect">
            <a:avLst>
              <a:gd name="adj" fmla="val 4035"/>
            </a:avLst>
          </a:prstGeom>
          <a:solidFill>
            <a:schemeClr val="bg1"/>
          </a:solidFill>
          <a:ln w="12700">
            <a:solidFill>
              <a:schemeClr val="accent6"/>
            </a:solidFill>
            <a:prstDash val="solid"/>
          </a:ln>
        </p:spPr>
      </p:sp>
      <p:pic>
        <p:nvPicPr>
          <p:cNvPr id="10" name="Image 1" descr="/private/tmp/ps-deck-wt/submissions/assets/2026-10-16/fig_desktop_viewer.jpg">    </p:cNvPr>
          <p:cNvPicPr>
            <a:picLocks noChangeAspect="1"/>
          </p:cNvPicPr>
          <p:nvPr/>
        </p:nvPicPr>
        <p:blipFill>
          <a:blip r:embed="rId2"/>
          <a:stretch>
            <a:fillRect/>
          </a:stretch>
        </p:blipFill>
        <p:spPr>
          <a:xfrm>
            <a:off x="4428284" y="1691640"/>
            <a:ext cx="2514600" cy="1250043"/>
          </a:xfrm>
          <a:prstGeom prst="rect">
            <a:avLst/>
          </a:prstGeom>
        </p:spPr>
      </p:pic>
      <p:sp>
        <p:nvSpPr>
          <p:cNvPr id="11" name="Text 7"/>
          <p:cNvSpPr txBox="1"/>
          <p:nvPr/>
        </p:nvSpPr>
        <p:spPr>
          <a:xfrm>
            <a:off x="4373420" y="3078843"/>
            <a:ext cx="2624328" cy="685800"/>
          </a:xfrm>
          <a:prstGeom prst="rect">
            <a:avLst/>
          </a:prstGeom>
          <a:noFill/>
          <a:ln/>
        </p:spPr>
        <p:txBody>
          <a:bodyPr wrap="square" lIns="0" tIns="0" rIns="0" bIns="0" rtlCol="0" anchor="t"/>
          <a:lstStyle/>
          <a:p>
            <a:pPr indent="0" marL="0">
              <a:buNone/>
            </a:pPr>
            <a:r>
              <a:rPr lang="en-US" sz="1000" i="1" dirty="0">
                <a:solidFill>
                  <a:schemeClr val="accent4"/>
                </a:solidFill>
              </a:rPr>
              <a:t>Desktop Chrome at phone size: a golden photo as the camera feed, our real s-05 mesh in the viewer.</a:t>
            </a:r>
            <a:endParaRPr lang="en-US" sz="1000" dirty="0"/>
          </a:p>
        </p:txBody>
      </p:sp>
      <p:sp>
        <p:nvSpPr>
          <p:cNvPr id="12" name="Shape 8"/>
          <p:cNvSpPr/>
          <p:nvPr/>
        </p:nvSpPr>
        <p:spPr>
          <a:xfrm>
            <a:off x="7354364" y="1435608"/>
            <a:ext cx="512064" cy="512064"/>
          </a:xfrm>
          <a:prstGeom prst="ellipse">
            <a:avLst/>
          </a:prstGeom>
          <a:solidFill>
            <a:schemeClr val="bg2"/>
          </a:solidFill>
          <a:ln w="12700">
            <a:solidFill>
              <a:schemeClr val="bg2"/>
            </a:solidFill>
            <a:prstDash val="solid"/>
          </a:ln>
        </p:spPr>
      </p:sp>
      <p:pic>
        <p:nvPicPr>
          <p:cNvPr id="13" name="Image 2" descr="preencoded.png">    </p:cNvPr>
          <p:cNvPicPr>
            <a:picLocks noChangeAspect="1"/>
          </p:cNvPicPr>
          <p:nvPr/>
        </p:nvPicPr>
        <p:blipFill>
          <a:blip r:embed="rId3"/>
          <a:stretch>
            <a:fillRect/>
          </a:stretch>
        </p:blipFill>
        <p:spPr>
          <a:xfrm>
            <a:off x="7482380" y="1563624"/>
            <a:ext cx="256032" cy="256032"/>
          </a:xfrm>
          <a:prstGeom prst="rect">
            <a:avLst/>
          </a:prstGeom>
        </p:spPr>
      </p:pic>
      <p:sp>
        <p:nvSpPr>
          <p:cNvPr id="14" name="Text 9"/>
          <p:cNvSpPr txBox="1"/>
          <p:nvPr/>
        </p:nvSpPr>
        <p:spPr>
          <a:xfrm>
            <a:off x="8012732" y="1417320"/>
            <a:ext cx="3630323" cy="274320"/>
          </a:xfrm>
          <a:prstGeom prst="rect">
            <a:avLst/>
          </a:prstGeom>
          <a:noFill/>
          <a:ln/>
        </p:spPr>
        <p:txBody>
          <a:bodyPr wrap="square" lIns="0" tIns="0" rIns="0" bIns="0" rtlCol="0" anchor="ctr"/>
          <a:lstStyle/>
          <a:p>
            <a:pPr indent="0" marL="0">
              <a:buNone/>
            </a:pPr>
            <a:r>
              <a:rPr lang="en-US" sz="1400" b="1" dirty="0">
                <a:solidFill>
                  <a:schemeClr val="tx1"/>
                </a:solidFill>
              </a:rPr>
              <a:t>Camera + gyro permissions</a:t>
            </a:r>
            <a:endParaRPr lang="en-US" sz="1400" dirty="0"/>
          </a:p>
        </p:txBody>
      </p:sp>
      <p:sp>
        <p:nvSpPr>
          <p:cNvPr id="15" name="Text 10"/>
          <p:cNvSpPr txBox="1"/>
          <p:nvPr/>
        </p:nvSpPr>
        <p:spPr>
          <a:xfrm>
            <a:off x="8012732" y="1700784"/>
            <a:ext cx="3630323" cy="457200"/>
          </a:xfrm>
          <a:prstGeom prst="rect">
            <a:avLst/>
          </a:prstGeom>
          <a:noFill/>
          <a:ln/>
        </p:spPr>
        <p:txBody>
          <a:bodyPr wrap="square" lIns="0" tIns="0" rIns="0" bIns="0" rtlCol="0" anchor="t"/>
          <a:lstStyle/>
          <a:p>
            <a:pPr indent="0" marL="0">
              <a:buNone/>
            </a:pPr>
            <a:r>
              <a:rPr lang="en-US" sz="1150" dirty="0">
                <a:solidFill>
                  <a:schemeClr val="accent4"/>
                </a:solidFill>
              </a:rPr>
              <a:t>iOS grants them only from a direct tap; verified on real iPhones</a:t>
            </a:r>
            <a:endParaRPr lang="en-US" sz="1150" dirty="0"/>
          </a:p>
        </p:txBody>
      </p:sp>
      <p:sp>
        <p:nvSpPr>
          <p:cNvPr id="16" name="Shape 11"/>
          <p:cNvSpPr/>
          <p:nvPr/>
        </p:nvSpPr>
        <p:spPr>
          <a:xfrm>
            <a:off x="7354364" y="2258568"/>
            <a:ext cx="512064" cy="512064"/>
          </a:xfrm>
          <a:prstGeom prst="ellipse">
            <a:avLst/>
          </a:prstGeom>
          <a:solidFill>
            <a:schemeClr val="bg2"/>
          </a:solidFill>
          <a:ln w="12700">
            <a:solidFill>
              <a:schemeClr val="bg2"/>
            </a:solidFill>
            <a:prstDash val="solid"/>
          </a:ln>
        </p:spPr>
      </p:sp>
      <p:pic>
        <p:nvPicPr>
          <p:cNvPr id="17" name="Image 3" descr="preencoded.png">    </p:cNvPr>
          <p:cNvPicPr>
            <a:picLocks noChangeAspect="1"/>
          </p:cNvPicPr>
          <p:nvPr/>
        </p:nvPicPr>
        <p:blipFill>
          <a:blip r:embed="rId4"/>
          <a:stretch>
            <a:fillRect/>
          </a:stretch>
        </p:blipFill>
        <p:spPr>
          <a:xfrm>
            <a:off x="7482380" y="2386584"/>
            <a:ext cx="256032" cy="256032"/>
          </a:xfrm>
          <a:prstGeom prst="rect">
            <a:avLst/>
          </a:prstGeom>
        </p:spPr>
      </p:pic>
      <p:sp>
        <p:nvSpPr>
          <p:cNvPr id="18" name="Text 12"/>
          <p:cNvSpPr txBox="1"/>
          <p:nvPr/>
        </p:nvSpPr>
        <p:spPr>
          <a:xfrm>
            <a:off x="8012732" y="2240280"/>
            <a:ext cx="3630323" cy="274320"/>
          </a:xfrm>
          <a:prstGeom prst="rect">
            <a:avLst/>
          </a:prstGeom>
          <a:noFill/>
          <a:ln/>
        </p:spPr>
        <p:txBody>
          <a:bodyPr wrap="square" lIns="0" tIns="0" rIns="0" bIns="0" rtlCol="0" anchor="ctr"/>
          <a:lstStyle/>
          <a:p>
            <a:pPr indent="0" marL="0">
              <a:buNone/>
            </a:pPr>
            <a:r>
              <a:rPr lang="en-US" sz="1400" b="1" dirty="0">
                <a:solidFill>
                  <a:schemeClr val="tx1"/>
                </a:solidFill>
              </a:rPr>
              <a:t>Live camera + capture loop</a:t>
            </a:r>
            <a:endParaRPr lang="en-US" sz="1400" dirty="0"/>
          </a:p>
        </p:txBody>
      </p:sp>
      <p:sp>
        <p:nvSpPr>
          <p:cNvPr id="19" name="Text 13"/>
          <p:cNvSpPr txBox="1"/>
          <p:nvPr/>
        </p:nvSpPr>
        <p:spPr>
          <a:xfrm>
            <a:off x="8012732" y="2523744"/>
            <a:ext cx="3630323" cy="457200"/>
          </a:xfrm>
          <a:prstGeom prst="rect">
            <a:avLst/>
          </a:prstGeom>
          <a:noFill/>
          <a:ln/>
        </p:spPr>
        <p:txBody>
          <a:bodyPr wrap="square" lIns="0" tIns="0" rIns="0" bIns="0" rtlCol="0" anchor="t"/>
          <a:lstStyle/>
          <a:p>
            <a:pPr indent="0" marL="0">
              <a:buNone/>
            </a:pPr>
            <a:r>
              <a:rPr lang="en-US" sz="1150" dirty="0">
                <a:solidFill>
                  <a:schemeClr val="accent4"/>
                </a:solidFill>
              </a:rPr>
              <a:t>Gate → JPEG → upload; only a server accept marks an orbit slot</a:t>
            </a:r>
            <a:endParaRPr lang="en-US" sz="1150" dirty="0"/>
          </a:p>
        </p:txBody>
      </p:sp>
      <p:sp>
        <p:nvSpPr>
          <p:cNvPr id="20" name="Shape 14"/>
          <p:cNvSpPr/>
          <p:nvPr/>
        </p:nvSpPr>
        <p:spPr>
          <a:xfrm>
            <a:off x="7354364" y="3081528"/>
            <a:ext cx="512064" cy="512064"/>
          </a:xfrm>
          <a:prstGeom prst="ellipse">
            <a:avLst/>
          </a:prstGeom>
          <a:solidFill>
            <a:schemeClr val="bg2"/>
          </a:solidFill>
          <a:ln w="12700">
            <a:solidFill>
              <a:schemeClr val="bg2"/>
            </a:solidFill>
            <a:prstDash val="solid"/>
          </a:ln>
        </p:spPr>
      </p:sp>
      <p:pic>
        <p:nvPicPr>
          <p:cNvPr id="21" name="Image 4" descr="preencoded.png">    </p:cNvPr>
          <p:cNvPicPr>
            <a:picLocks noChangeAspect="1"/>
          </p:cNvPicPr>
          <p:nvPr/>
        </p:nvPicPr>
        <p:blipFill>
          <a:blip r:embed="rId5"/>
          <a:stretch>
            <a:fillRect/>
          </a:stretch>
        </p:blipFill>
        <p:spPr>
          <a:xfrm>
            <a:off x="7482380" y="3209544"/>
            <a:ext cx="256032" cy="256032"/>
          </a:xfrm>
          <a:prstGeom prst="rect">
            <a:avLst/>
          </a:prstGeom>
        </p:spPr>
      </p:pic>
      <p:sp>
        <p:nvSpPr>
          <p:cNvPr id="22" name="Text 15"/>
          <p:cNvSpPr txBox="1"/>
          <p:nvPr/>
        </p:nvSpPr>
        <p:spPr>
          <a:xfrm>
            <a:off x="8012732" y="3063240"/>
            <a:ext cx="3630323" cy="274320"/>
          </a:xfrm>
          <a:prstGeom prst="rect">
            <a:avLst/>
          </a:prstGeom>
          <a:noFill/>
          <a:ln/>
        </p:spPr>
        <p:txBody>
          <a:bodyPr wrap="square" lIns="0" tIns="0" rIns="0" bIns="0" rtlCol="0" anchor="ctr"/>
          <a:lstStyle/>
          <a:p>
            <a:pPr indent="0" marL="0">
              <a:buNone/>
            </a:pPr>
            <a:r>
              <a:rPr lang="en-US" sz="1400" b="1" dirty="0">
                <a:solidFill>
                  <a:schemeClr val="tx1"/>
                </a:solidFill>
              </a:rPr>
              <a:t>On-device frame gate</a:t>
            </a:r>
            <a:endParaRPr lang="en-US" sz="1400" dirty="0"/>
          </a:p>
        </p:txBody>
      </p:sp>
      <p:sp>
        <p:nvSpPr>
          <p:cNvPr id="23" name="Text 16"/>
          <p:cNvSpPr txBox="1"/>
          <p:nvPr/>
        </p:nvSpPr>
        <p:spPr>
          <a:xfrm>
            <a:off x="8012732" y="3346704"/>
            <a:ext cx="3630323" cy="457200"/>
          </a:xfrm>
          <a:prstGeom prst="rect">
            <a:avLst/>
          </a:prstGeom>
          <a:noFill/>
          <a:ln/>
        </p:spPr>
        <p:txBody>
          <a:bodyPr wrap="square" lIns="0" tIns="0" rIns="0" bIns="0" rtlCol="0" anchor="t"/>
          <a:lstStyle/>
          <a:p>
            <a:pPr indent="0" marL="0">
              <a:buNone/>
            </a:pPr>
            <a:r>
              <a:rPr lang="en-US" sz="1150" dirty="0">
                <a:solidFill>
                  <a:schemeClr val="accent4"/>
                </a:solidFill>
              </a:rPr>
              <a:t>Rejects blur, clipped exposure and near-duplicates</a:t>
            </a:r>
            <a:endParaRPr lang="en-US" sz="1150" dirty="0"/>
          </a:p>
        </p:txBody>
      </p:sp>
      <p:sp>
        <p:nvSpPr>
          <p:cNvPr id="24" name="Shape 17"/>
          <p:cNvSpPr/>
          <p:nvPr/>
        </p:nvSpPr>
        <p:spPr>
          <a:xfrm>
            <a:off x="7354364" y="3904488"/>
            <a:ext cx="512064" cy="512064"/>
          </a:xfrm>
          <a:prstGeom prst="ellipse">
            <a:avLst/>
          </a:prstGeom>
          <a:solidFill>
            <a:schemeClr val="bg2"/>
          </a:solidFill>
          <a:ln w="12700">
            <a:solidFill>
              <a:schemeClr val="bg2"/>
            </a:solidFill>
            <a:prstDash val="solid"/>
          </a:ln>
        </p:spPr>
      </p:sp>
      <p:pic>
        <p:nvPicPr>
          <p:cNvPr id="25" name="Image 5" descr="preencoded.png">    </p:cNvPr>
          <p:cNvPicPr>
            <a:picLocks noChangeAspect="1"/>
          </p:cNvPicPr>
          <p:nvPr/>
        </p:nvPicPr>
        <p:blipFill>
          <a:blip r:embed="rId6"/>
          <a:stretch>
            <a:fillRect/>
          </a:stretch>
        </p:blipFill>
        <p:spPr>
          <a:xfrm>
            <a:off x="7482380" y="4032504"/>
            <a:ext cx="256032" cy="256032"/>
          </a:xfrm>
          <a:prstGeom prst="rect">
            <a:avLst/>
          </a:prstGeom>
        </p:spPr>
      </p:pic>
      <p:sp>
        <p:nvSpPr>
          <p:cNvPr id="26" name="Text 18"/>
          <p:cNvSpPr txBox="1"/>
          <p:nvPr/>
        </p:nvSpPr>
        <p:spPr>
          <a:xfrm>
            <a:off x="8012732" y="3886200"/>
            <a:ext cx="3630323" cy="274320"/>
          </a:xfrm>
          <a:prstGeom prst="rect">
            <a:avLst/>
          </a:prstGeom>
          <a:noFill/>
          <a:ln/>
        </p:spPr>
        <p:txBody>
          <a:bodyPr wrap="square" lIns="0" tIns="0" rIns="0" bIns="0" rtlCol="0" anchor="ctr"/>
          <a:lstStyle/>
          <a:p>
            <a:pPr indent="0" marL="0">
              <a:buNone/>
            </a:pPr>
            <a:r>
              <a:rPr lang="en-US" sz="1400" b="1" dirty="0">
                <a:solidFill>
                  <a:schemeClr val="tx1"/>
                </a:solidFill>
              </a:rPr>
              <a:t>Orbit guidance</a:t>
            </a:r>
            <a:endParaRPr lang="en-US" sz="1400" dirty="0"/>
          </a:p>
        </p:txBody>
      </p:sp>
      <p:sp>
        <p:nvSpPr>
          <p:cNvPr id="27" name="Text 19"/>
          <p:cNvSpPr txBox="1"/>
          <p:nvPr/>
        </p:nvSpPr>
        <p:spPr>
          <a:xfrm>
            <a:off x="8012732" y="4169664"/>
            <a:ext cx="3630323" cy="457200"/>
          </a:xfrm>
          <a:prstGeom prst="rect">
            <a:avLst/>
          </a:prstGeom>
          <a:noFill/>
          <a:ln/>
        </p:spPr>
        <p:txBody>
          <a:bodyPr wrap="square" lIns="0" tIns="0" rIns="0" bIns="0" rtlCol="0" anchor="t"/>
          <a:lstStyle/>
          <a:p>
            <a:pPr indent="0" marL="0">
              <a:buNone/>
            </a:pPr>
            <a:r>
              <a:rPr lang="en-US" sz="1150" dirty="0">
                <a:solidFill>
                  <a:schemeClr val="accent4"/>
                </a:solidFill>
              </a:rPr>
              <a:t>13 target views and a gyro-driven arrow; walked 13/13 on an iPhone</a:t>
            </a:r>
            <a:endParaRPr lang="en-US" sz="1150" dirty="0"/>
          </a:p>
        </p:txBody>
      </p:sp>
      <p:sp>
        <p:nvSpPr>
          <p:cNvPr id="28" name="Shape 20"/>
          <p:cNvSpPr/>
          <p:nvPr/>
        </p:nvSpPr>
        <p:spPr>
          <a:xfrm>
            <a:off x="7354364" y="4727448"/>
            <a:ext cx="512064" cy="512064"/>
          </a:xfrm>
          <a:prstGeom prst="ellipse">
            <a:avLst/>
          </a:prstGeom>
          <a:solidFill>
            <a:schemeClr val="bg2"/>
          </a:solidFill>
          <a:ln w="12700">
            <a:solidFill>
              <a:schemeClr val="bg2"/>
            </a:solidFill>
            <a:prstDash val="solid"/>
          </a:ln>
        </p:spPr>
      </p:sp>
      <p:pic>
        <p:nvPicPr>
          <p:cNvPr id="29" name="Image 6" descr="preencoded.png">    </p:cNvPr>
          <p:cNvPicPr>
            <a:picLocks noChangeAspect="1"/>
          </p:cNvPicPr>
          <p:nvPr/>
        </p:nvPicPr>
        <p:blipFill>
          <a:blip r:embed="rId7"/>
          <a:stretch>
            <a:fillRect/>
          </a:stretch>
        </p:blipFill>
        <p:spPr>
          <a:xfrm>
            <a:off x="7482380" y="4855464"/>
            <a:ext cx="256032" cy="256032"/>
          </a:xfrm>
          <a:prstGeom prst="rect">
            <a:avLst/>
          </a:prstGeom>
        </p:spPr>
      </p:pic>
      <p:sp>
        <p:nvSpPr>
          <p:cNvPr id="30" name="Text 21"/>
          <p:cNvSpPr txBox="1"/>
          <p:nvPr/>
        </p:nvSpPr>
        <p:spPr>
          <a:xfrm>
            <a:off x="8012732" y="4709160"/>
            <a:ext cx="3630323" cy="274320"/>
          </a:xfrm>
          <a:prstGeom prst="rect">
            <a:avLst/>
          </a:prstGeom>
          <a:noFill/>
          <a:ln/>
        </p:spPr>
        <p:txBody>
          <a:bodyPr wrap="square" lIns="0" tIns="0" rIns="0" bIns="0" rtlCol="0" anchor="ctr"/>
          <a:lstStyle/>
          <a:p>
            <a:pPr indent="0" marL="0">
              <a:buNone/>
            </a:pPr>
            <a:r>
              <a:rPr lang="en-US" sz="1400" b="1" dirty="0">
                <a:solidFill>
                  <a:schemeClr val="tx1"/>
                </a:solidFill>
              </a:rPr>
              <a:t>Viewer with provenance colours</a:t>
            </a:r>
            <a:endParaRPr lang="en-US" sz="1400" dirty="0"/>
          </a:p>
        </p:txBody>
      </p:sp>
      <p:sp>
        <p:nvSpPr>
          <p:cNvPr id="31" name="Text 22"/>
          <p:cNvSpPr txBox="1"/>
          <p:nvPr/>
        </p:nvSpPr>
        <p:spPr>
          <a:xfrm>
            <a:off x="8012732" y="4992624"/>
            <a:ext cx="3630323" cy="457200"/>
          </a:xfrm>
          <a:prstGeom prst="rect">
            <a:avLst/>
          </a:prstGeom>
          <a:noFill/>
          <a:ln/>
        </p:spPr>
        <p:txBody>
          <a:bodyPr wrap="square" lIns="0" tIns="0" rIns="0" bIns="0" rtlCol="0" anchor="t"/>
          <a:lstStyle/>
          <a:p>
            <a:pPr indent="0" marL="0">
              <a:buNone/>
            </a:pPr>
            <a:r>
              <a:rPr lang="en-US" sz="1150" dirty="0">
                <a:solidFill>
                  <a:schemeClr val="accent4"/>
                </a:solidFill>
              </a:rPr>
              <a:t>three.js; blue Observed, slate Unobserved, with a legend</a:t>
            </a:r>
            <a:endParaRPr lang="en-US" sz="1150" dirty="0"/>
          </a:p>
        </p:txBody>
      </p:sp>
      <p:sp>
        <p:nvSpPr>
          <p:cNvPr id="32" name="Shape 23"/>
          <p:cNvSpPr/>
          <p:nvPr/>
        </p:nvSpPr>
        <p:spPr>
          <a:xfrm>
            <a:off x="7354364" y="5596128"/>
            <a:ext cx="4288691" cy="548640"/>
          </a:xfrm>
          <a:prstGeom prst="roundRect">
            <a:avLst>
              <a:gd name="adj" fmla="val 10000"/>
            </a:avLst>
          </a:prstGeom>
          <a:solidFill>
            <a:schemeClr val="bg2"/>
          </a:solidFill>
          <a:ln w="12700">
            <a:solidFill>
              <a:schemeClr val="bg2"/>
            </a:solidFill>
            <a:prstDash val="solid"/>
          </a:ln>
        </p:spPr>
      </p:sp>
      <p:sp>
        <p:nvSpPr>
          <p:cNvPr id="33" name="Text 24"/>
          <p:cNvSpPr txBox="1"/>
          <p:nvPr/>
        </p:nvSpPr>
        <p:spPr>
          <a:xfrm>
            <a:off x="7537244" y="5596128"/>
            <a:ext cx="3922931" cy="548640"/>
          </a:xfrm>
          <a:prstGeom prst="rect">
            <a:avLst/>
          </a:prstGeom>
          <a:noFill/>
          <a:ln/>
        </p:spPr>
        <p:txBody>
          <a:bodyPr wrap="square" lIns="0" tIns="0" rIns="0" bIns="0" rtlCol="0" anchor="ctr"/>
          <a:lstStyle/>
          <a:p>
            <a:pPr indent="0" marL="0">
              <a:buNone/>
            </a:pPr>
            <a:r>
              <a:rPr lang="en-US" sz="1200" b="1" dirty="0">
                <a:solidFill>
                  <a:schemeClr val="tx1"/>
                </a:solidFill>
              </a:rPr>
              <a:t>11 of 13 capture stories done. </a:t>
            </a:r>
            <a:pPr indent="0" marL="0">
              <a:buNone/>
            </a:pPr>
            <a:r>
              <a:rPr lang="en-US" sz="1200" dirty="0">
                <a:solidFill>
                  <a:schemeClr val="tx1"/>
                </a:solidFill>
              </a:rPr>
              <a:t>Vite + TypeScript, no framework · 203 tests.</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COMPLETED WORK · NEXT-VIEW SCORING</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Yashi</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Where to point the camera next</a:t>
            </a:r>
            <a:endParaRPr lang="en-US" sz="3000" dirty="0"/>
          </a:p>
        </p:txBody>
      </p:sp>
      <p:pic>
        <p:nvPicPr>
          <p:cNvPr id="5" name="Image 0" descr="/private/tmp/ps-deck-wt/submissions/assets/2026-10-16/fig_nextview.png">    </p:cNvPr>
          <p:cNvPicPr>
            <a:picLocks noChangeAspect="1"/>
          </p:cNvPicPr>
          <p:nvPr/>
        </p:nvPicPr>
        <p:blipFill>
          <a:blip r:embed="rId1"/>
          <a:stretch>
            <a:fillRect/>
          </a:stretch>
        </p:blipFill>
        <p:spPr>
          <a:xfrm>
            <a:off x="548640" y="1374190"/>
            <a:ext cx="7406640" cy="3698141"/>
          </a:xfrm>
          <a:prstGeom prst="rect">
            <a:avLst/>
          </a:prstGeom>
        </p:spPr>
      </p:pic>
      <p:sp>
        <p:nvSpPr>
          <p:cNvPr id="6" name="Text 3"/>
          <p:cNvSpPr txBox="1"/>
          <p:nvPr/>
        </p:nvSpPr>
        <p:spPr>
          <a:xfrm>
            <a:off x="548640" y="5230368"/>
            <a:ext cx="5669280" cy="274320"/>
          </a:xfrm>
          <a:prstGeom prst="rect">
            <a:avLst/>
          </a:prstGeom>
          <a:noFill/>
          <a:ln/>
        </p:spPr>
        <p:txBody>
          <a:bodyPr wrap="square" lIns="0" tIns="0" rIns="0" bIns="0" rtlCol="0" anchor="t"/>
          <a:lstStyle/>
          <a:p>
            <a:pPr indent="0" marL="0">
              <a:buNone/>
            </a:pPr>
            <a:r>
              <a:rPr lang="en-US" sz="1100" dirty="0">
                <a:solidFill>
                  <a:schemeClr val="accent4"/>
                </a:solidFill>
              </a:rPr>
              <a:t>Each dot is a candidate camera (top-down). Darker = sees more of the unseen face.</a:t>
            </a:r>
            <a:endParaRPr lang="en-US" sz="1100" dirty="0"/>
          </a:p>
        </p:txBody>
      </p:sp>
      <p:sp>
        <p:nvSpPr>
          <p:cNvPr id="7" name="Shape 4"/>
          <p:cNvSpPr/>
          <p:nvPr/>
        </p:nvSpPr>
        <p:spPr>
          <a:xfrm>
            <a:off x="6309360" y="5285232"/>
            <a:ext cx="164592" cy="164592"/>
          </a:xfrm>
          <a:prstGeom prst="ellipse">
            <a:avLst/>
          </a:prstGeom>
          <a:solidFill>
            <a:srgbClr val="E3E9EB"/>
          </a:solidFill>
          <a:ln w="12700">
            <a:solidFill>
              <a:srgbClr val="E3E9EB"/>
            </a:solidFill>
            <a:prstDash val="solid"/>
          </a:ln>
        </p:spPr>
      </p:sp>
      <p:sp>
        <p:nvSpPr>
          <p:cNvPr id="8" name="Shape 5"/>
          <p:cNvSpPr/>
          <p:nvPr/>
        </p:nvSpPr>
        <p:spPr>
          <a:xfrm>
            <a:off x="6556248" y="5285232"/>
            <a:ext cx="164592" cy="164592"/>
          </a:xfrm>
          <a:prstGeom prst="ellipse">
            <a:avLst/>
          </a:prstGeom>
          <a:solidFill>
            <a:srgbClr val="7FB3BE"/>
          </a:solidFill>
          <a:ln w="12700">
            <a:solidFill>
              <a:srgbClr val="7FB3BE"/>
            </a:solidFill>
            <a:prstDash val="solid"/>
          </a:ln>
        </p:spPr>
      </p:sp>
      <p:sp>
        <p:nvSpPr>
          <p:cNvPr id="9" name="Shape 6"/>
          <p:cNvSpPr/>
          <p:nvPr/>
        </p:nvSpPr>
        <p:spPr>
          <a:xfrm>
            <a:off x="6803136" y="5285232"/>
            <a:ext cx="164592" cy="164592"/>
          </a:xfrm>
          <a:prstGeom prst="ellipse">
            <a:avLst/>
          </a:prstGeom>
          <a:solidFill>
            <a:srgbClr val="16697A"/>
          </a:solidFill>
          <a:ln w="12700">
            <a:solidFill>
              <a:srgbClr val="16697A"/>
            </a:solidFill>
            <a:prstDash val="solid"/>
          </a:ln>
        </p:spPr>
      </p:sp>
      <p:sp>
        <p:nvSpPr>
          <p:cNvPr id="10" name="Shape 7"/>
          <p:cNvSpPr/>
          <p:nvPr/>
        </p:nvSpPr>
        <p:spPr>
          <a:xfrm>
            <a:off x="7050024" y="5285232"/>
            <a:ext cx="164592" cy="164592"/>
          </a:xfrm>
          <a:prstGeom prst="ellipse">
            <a:avLst/>
          </a:prstGeom>
          <a:solidFill>
            <a:srgbClr val="0E2F36"/>
          </a:solidFill>
          <a:ln w="12700">
            <a:solidFill>
              <a:srgbClr val="0E2F36"/>
            </a:solidFill>
            <a:prstDash val="solid"/>
          </a:ln>
        </p:spPr>
      </p:sp>
      <p:sp>
        <p:nvSpPr>
          <p:cNvPr id="11" name="Shape 8"/>
          <p:cNvSpPr/>
          <p:nvPr/>
        </p:nvSpPr>
        <p:spPr>
          <a:xfrm>
            <a:off x="7452360" y="5248656"/>
            <a:ext cx="237744" cy="237744"/>
          </a:xfrm>
          <a:prstGeom prst="ellipse">
            <a:avLst/>
          </a:prstGeom>
          <a:ln w="22225">
            <a:solidFill>
              <a:srgbClr val="C8402F"/>
            </a:solidFill>
            <a:prstDash val="solid"/>
          </a:ln>
        </p:spPr>
      </p:sp>
      <p:sp>
        <p:nvSpPr>
          <p:cNvPr id="12" name="Text 9"/>
          <p:cNvSpPr txBox="1"/>
          <p:nvPr/>
        </p:nvSpPr>
        <p:spPr>
          <a:xfrm>
            <a:off x="7744968" y="5230368"/>
            <a:ext cx="548640" cy="274320"/>
          </a:xfrm>
          <a:prstGeom prst="rect">
            <a:avLst/>
          </a:prstGeom>
          <a:noFill/>
          <a:ln/>
        </p:spPr>
        <p:txBody>
          <a:bodyPr wrap="square" lIns="0" tIns="0" rIns="0" bIns="0" rtlCol="0" anchor="t"/>
          <a:lstStyle/>
          <a:p>
            <a:pPr indent="0" marL="0">
              <a:buNone/>
            </a:pPr>
            <a:r>
              <a:rPr lang="en-US" sz="1100" b="1" dirty="0">
                <a:solidFill>
                  <a:schemeClr val="accent3"/>
                </a:solidFill>
              </a:rPr>
              <a:t>best</a:t>
            </a:r>
            <a:endParaRPr lang="en-US" sz="1100" dirty="0"/>
          </a:p>
        </p:txBody>
      </p:sp>
      <p:sp>
        <p:nvSpPr>
          <p:cNvPr id="13" name="Shape 10"/>
          <p:cNvSpPr/>
          <p:nvPr/>
        </p:nvSpPr>
        <p:spPr>
          <a:xfrm>
            <a:off x="8275320" y="1481328"/>
            <a:ext cx="365760" cy="365760"/>
          </a:xfrm>
          <a:prstGeom prst="ellipse">
            <a:avLst/>
          </a:prstGeom>
          <a:solidFill>
            <a:schemeClr val="accent1"/>
          </a:solidFill>
          <a:ln w="12700">
            <a:solidFill>
              <a:schemeClr val="accent1"/>
            </a:solidFill>
            <a:prstDash val="solid"/>
          </a:ln>
        </p:spPr>
      </p:sp>
      <p:sp>
        <p:nvSpPr>
          <p:cNvPr id="14" name="Text 11"/>
          <p:cNvSpPr txBox="1"/>
          <p:nvPr/>
        </p:nvSpPr>
        <p:spPr>
          <a:xfrm>
            <a:off x="8275320" y="1481328"/>
            <a:ext cx="365760" cy="365760"/>
          </a:xfrm>
          <a:prstGeom prst="rect">
            <a:avLst/>
          </a:prstGeom>
          <a:noFill/>
          <a:ln/>
        </p:spPr>
        <p:txBody>
          <a:bodyPr wrap="square" lIns="0" tIns="0" rIns="0" bIns="0" rtlCol="0" anchor="ctr"/>
          <a:lstStyle/>
          <a:p>
            <a:pPr algn="ctr" indent="0" marL="0">
              <a:buNone/>
            </a:pPr>
            <a:r>
              <a:rPr lang="en-US" sz="1360" b="1" dirty="0">
                <a:solidFill>
                  <a:schemeClr val="bg1"/>
                </a:solidFill>
              </a:rPr>
              <a:t>1</a:t>
            </a:r>
            <a:endParaRPr lang="en-US" sz="1360" dirty="0"/>
          </a:p>
        </p:txBody>
      </p:sp>
      <p:sp>
        <p:nvSpPr>
          <p:cNvPr id="15" name="Text 12"/>
          <p:cNvSpPr txBox="1"/>
          <p:nvPr/>
        </p:nvSpPr>
        <p:spPr>
          <a:xfrm>
            <a:off x="8778240" y="1463040"/>
            <a:ext cx="2864815" cy="292608"/>
          </a:xfrm>
          <a:prstGeom prst="rect">
            <a:avLst/>
          </a:prstGeom>
          <a:noFill/>
          <a:ln/>
        </p:spPr>
        <p:txBody>
          <a:bodyPr wrap="square" lIns="0" tIns="0" rIns="0" bIns="0" rtlCol="0" anchor="t"/>
          <a:lstStyle/>
          <a:p>
            <a:pPr indent="0" marL="0">
              <a:buNone/>
            </a:pPr>
            <a:r>
              <a:rPr lang="en-US" sz="1400" b="1" dirty="0">
                <a:solidFill>
                  <a:schemeClr val="tx1"/>
                </a:solidFill>
              </a:rPr>
              <a:t>147 candidate views</a:t>
            </a:r>
            <a:endParaRPr lang="en-US" sz="1400" dirty="0"/>
          </a:p>
        </p:txBody>
      </p:sp>
      <p:sp>
        <p:nvSpPr>
          <p:cNvPr id="16" name="Text 13"/>
          <p:cNvSpPr txBox="1"/>
          <p:nvPr/>
        </p:nvSpPr>
        <p:spPr>
          <a:xfrm>
            <a:off x="8778240" y="1773936"/>
            <a:ext cx="2864815" cy="731520"/>
          </a:xfrm>
          <a:prstGeom prst="rect">
            <a:avLst/>
          </a:prstGeom>
          <a:noFill/>
          <a:ln/>
        </p:spPr>
        <p:txBody>
          <a:bodyPr wrap="square" lIns="0" tIns="0" rIns="0" bIns="0" rtlCol="0" anchor="t"/>
          <a:lstStyle/>
          <a:p>
            <a:pPr indent="0" marL="0">
              <a:buNone/>
            </a:pPr>
            <a:r>
              <a:rPr lang="en-US" sz="1200" dirty="0">
                <a:solidFill>
                  <a:schemeClr val="accent4"/>
                </a:solidFill>
              </a:rPr>
              <a:t>on a hemisphere round the part, 25–40 cm away, at most 60° from vertical</a:t>
            </a:r>
            <a:endParaRPr lang="en-US" sz="1200" dirty="0"/>
          </a:p>
        </p:txBody>
      </p:sp>
      <p:sp>
        <p:nvSpPr>
          <p:cNvPr id="17" name="Shape 14"/>
          <p:cNvSpPr/>
          <p:nvPr/>
        </p:nvSpPr>
        <p:spPr>
          <a:xfrm>
            <a:off x="8275320" y="2578608"/>
            <a:ext cx="365760" cy="365760"/>
          </a:xfrm>
          <a:prstGeom prst="ellipse">
            <a:avLst/>
          </a:prstGeom>
          <a:solidFill>
            <a:schemeClr val="accent1"/>
          </a:solidFill>
          <a:ln w="12700">
            <a:solidFill>
              <a:schemeClr val="accent1"/>
            </a:solidFill>
            <a:prstDash val="solid"/>
          </a:ln>
        </p:spPr>
      </p:sp>
      <p:sp>
        <p:nvSpPr>
          <p:cNvPr id="18" name="Text 15"/>
          <p:cNvSpPr txBox="1"/>
          <p:nvPr/>
        </p:nvSpPr>
        <p:spPr>
          <a:xfrm>
            <a:off x="8275320" y="2578608"/>
            <a:ext cx="365760" cy="365760"/>
          </a:xfrm>
          <a:prstGeom prst="rect">
            <a:avLst/>
          </a:prstGeom>
          <a:noFill/>
          <a:ln/>
        </p:spPr>
        <p:txBody>
          <a:bodyPr wrap="square" lIns="0" tIns="0" rIns="0" bIns="0" rtlCol="0" anchor="ctr"/>
          <a:lstStyle/>
          <a:p>
            <a:pPr algn="ctr" indent="0" marL="0">
              <a:buNone/>
            </a:pPr>
            <a:r>
              <a:rPr lang="en-US" sz="1360" b="1" dirty="0">
                <a:solidFill>
                  <a:schemeClr val="bg1"/>
                </a:solidFill>
              </a:rPr>
              <a:t>2</a:t>
            </a:r>
            <a:endParaRPr lang="en-US" sz="1360" dirty="0"/>
          </a:p>
        </p:txBody>
      </p:sp>
      <p:sp>
        <p:nvSpPr>
          <p:cNvPr id="19" name="Text 16"/>
          <p:cNvSpPr txBox="1"/>
          <p:nvPr/>
        </p:nvSpPr>
        <p:spPr>
          <a:xfrm>
            <a:off x="8778240" y="2560320"/>
            <a:ext cx="2864815" cy="292608"/>
          </a:xfrm>
          <a:prstGeom prst="rect">
            <a:avLst/>
          </a:prstGeom>
          <a:noFill/>
          <a:ln/>
        </p:spPr>
        <p:txBody>
          <a:bodyPr wrap="square" lIns="0" tIns="0" rIns="0" bIns="0" rtlCol="0" anchor="t"/>
          <a:lstStyle/>
          <a:p>
            <a:pPr indent="0" marL="0">
              <a:buNone/>
            </a:pPr>
            <a:r>
              <a:rPr lang="en-US" sz="1400" b="1" dirty="0">
                <a:solidFill>
                  <a:schemeClr val="tx1"/>
                </a:solidFill>
              </a:rPr>
              <a:t>Ray-cast to every unseen vertex</a:t>
            </a:r>
            <a:endParaRPr lang="en-US" sz="1400" dirty="0"/>
          </a:p>
        </p:txBody>
      </p:sp>
      <p:sp>
        <p:nvSpPr>
          <p:cNvPr id="20" name="Text 17"/>
          <p:cNvSpPr txBox="1"/>
          <p:nvPr/>
        </p:nvSpPr>
        <p:spPr>
          <a:xfrm>
            <a:off x="8778240" y="2871216"/>
            <a:ext cx="2864815" cy="731520"/>
          </a:xfrm>
          <a:prstGeom prst="rect">
            <a:avLst/>
          </a:prstGeom>
          <a:noFill/>
          <a:ln/>
        </p:spPr>
        <p:txBody>
          <a:bodyPr wrap="square" lIns="0" tIns="0" rIns="0" bIns="0" rtlCol="0" anchor="t"/>
          <a:lstStyle/>
          <a:p>
            <a:pPr indent="0" marL="0">
              <a:buNone/>
            </a:pPr>
            <a:r>
              <a:rPr lang="en-US" sz="1200" dirty="0">
                <a:solidFill>
                  <a:schemeClr val="accent4"/>
                </a:solidFill>
              </a:rPr>
              <a:t>the whole mesh blocks the rays, so Observed surface still hides what is behind it</a:t>
            </a:r>
            <a:endParaRPr lang="en-US" sz="1200" dirty="0"/>
          </a:p>
        </p:txBody>
      </p:sp>
      <p:sp>
        <p:nvSpPr>
          <p:cNvPr id="21" name="Shape 18"/>
          <p:cNvSpPr/>
          <p:nvPr/>
        </p:nvSpPr>
        <p:spPr>
          <a:xfrm>
            <a:off x="8275320" y="3675888"/>
            <a:ext cx="365760" cy="365760"/>
          </a:xfrm>
          <a:prstGeom prst="ellipse">
            <a:avLst/>
          </a:prstGeom>
          <a:solidFill>
            <a:schemeClr val="accent1"/>
          </a:solidFill>
          <a:ln w="12700">
            <a:solidFill>
              <a:schemeClr val="accent1"/>
            </a:solidFill>
            <a:prstDash val="solid"/>
          </a:ln>
        </p:spPr>
      </p:sp>
      <p:sp>
        <p:nvSpPr>
          <p:cNvPr id="22" name="Text 19"/>
          <p:cNvSpPr txBox="1"/>
          <p:nvPr/>
        </p:nvSpPr>
        <p:spPr>
          <a:xfrm>
            <a:off x="8275320" y="3675888"/>
            <a:ext cx="365760" cy="365760"/>
          </a:xfrm>
          <a:prstGeom prst="rect">
            <a:avLst/>
          </a:prstGeom>
          <a:noFill/>
          <a:ln/>
        </p:spPr>
        <p:txBody>
          <a:bodyPr wrap="square" lIns="0" tIns="0" rIns="0" bIns="0" rtlCol="0" anchor="ctr"/>
          <a:lstStyle/>
          <a:p>
            <a:pPr algn="ctr" indent="0" marL="0">
              <a:buNone/>
            </a:pPr>
            <a:r>
              <a:rPr lang="en-US" sz="1360" b="1" dirty="0">
                <a:solidFill>
                  <a:schemeClr val="bg1"/>
                </a:solidFill>
              </a:rPr>
              <a:t>3</a:t>
            </a:r>
            <a:endParaRPr lang="en-US" sz="1360" dirty="0"/>
          </a:p>
        </p:txBody>
      </p:sp>
      <p:sp>
        <p:nvSpPr>
          <p:cNvPr id="23" name="Text 20"/>
          <p:cNvSpPr txBox="1"/>
          <p:nvPr/>
        </p:nvSpPr>
        <p:spPr>
          <a:xfrm>
            <a:off x="8778240" y="3657600"/>
            <a:ext cx="2864815" cy="292608"/>
          </a:xfrm>
          <a:prstGeom prst="rect">
            <a:avLst/>
          </a:prstGeom>
          <a:noFill/>
          <a:ln/>
        </p:spPr>
        <p:txBody>
          <a:bodyPr wrap="square" lIns="0" tIns="0" rIns="0" bIns="0" rtlCol="0" anchor="t"/>
          <a:lstStyle/>
          <a:p>
            <a:pPr indent="0" marL="0">
              <a:buNone/>
            </a:pPr>
            <a:r>
              <a:rPr lang="en-US" sz="1400" b="1" dirty="0">
                <a:solidFill>
                  <a:schemeClr val="tx1"/>
                </a:solidFill>
              </a:rPr>
              <a:t>Score = unseen vertices in view</a:t>
            </a:r>
            <a:endParaRPr lang="en-US" sz="1400" dirty="0"/>
          </a:p>
        </p:txBody>
      </p:sp>
      <p:sp>
        <p:nvSpPr>
          <p:cNvPr id="24" name="Text 21"/>
          <p:cNvSpPr txBox="1"/>
          <p:nvPr/>
        </p:nvSpPr>
        <p:spPr>
          <a:xfrm>
            <a:off x="8778240" y="3968496"/>
            <a:ext cx="2864815" cy="731520"/>
          </a:xfrm>
          <a:prstGeom prst="rect">
            <a:avLst/>
          </a:prstGeom>
          <a:noFill/>
          <a:ln/>
        </p:spPr>
        <p:txBody>
          <a:bodyPr wrap="square" lIns="0" tIns="0" rIns="0" bIns="0" rtlCol="0" anchor="t"/>
          <a:lstStyle/>
          <a:p>
            <a:pPr indent="0" marL="0">
              <a:buNone/>
            </a:pPr>
            <a:r>
              <a:rPr lang="en-US" sz="1200" dirty="0">
                <a:solidFill>
                  <a:schemeClr val="accent4"/>
                </a:solidFill>
              </a:rPr>
              <a:t>ties go to the most head-on view</a:t>
            </a:r>
            <a:endParaRPr lang="en-US" sz="1200" dirty="0"/>
          </a:p>
        </p:txBody>
      </p:sp>
      <p:sp>
        <p:nvSpPr>
          <p:cNvPr id="25" name="Shape 22"/>
          <p:cNvSpPr/>
          <p:nvPr/>
        </p:nvSpPr>
        <p:spPr>
          <a:xfrm>
            <a:off x="548640" y="5596128"/>
            <a:ext cx="11094415" cy="548640"/>
          </a:xfrm>
          <a:prstGeom prst="roundRect">
            <a:avLst>
              <a:gd name="adj" fmla="val 10000"/>
            </a:avLst>
          </a:prstGeom>
          <a:solidFill>
            <a:schemeClr val="bg1"/>
          </a:solidFill>
          <a:ln w="15875">
            <a:solidFill>
              <a:schemeClr val="accent2"/>
            </a:solidFill>
            <a:prstDash val="solid"/>
          </a:ln>
        </p:spPr>
      </p:sp>
      <p:sp>
        <p:nvSpPr>
          <p:cNvPr id="26" name="Text 23"/>
          <p:cNvSpPr txBox="1"/>
          <p:nvPr/>
        </p:nvSpPr>
        <p:spPr>
          <a:xfrm>
            <a:off x="777240" y="5596128"/>
            <a:ext cx="10637215" cy="548640"/>
          </a:xfrm>
          <a:prstGeom prst="rect">
            <a:avLst/>
          </a:prstGeom>
          <a:noFill/>
          <a:ln/>
        </p:spPr>
        <p:txBody>
          <a:bodyPr wrap="square" lIns="0" tIns="0" rIns="0" bIns="0" rtlCol="0" anchor="ctr"/>
          <a:lstStyle/>
          <a:p>
            <a:pPr indent="0" marL="0">
              <a:buNone/>
            </a:pPr>
            <a:r>
              <a:rPr lang="en-US" sz="1250" b="1" dirty="0">
                <a:solidFill>
                  <a:schemeClr val="accent2"/>
                </a:solidFill>
              </a:rPr>
              <a:t>Pull request #144, in review. </a:t>
            </a:r>
            <a:pPr indent="0" marL="0">
              <a:buNone/>
            </a:pPr>
            <a:r>
              <a:rPr lang="en-US" sz="1250" dirty="0">
                <a:solidFill>
                  <a:schemeClr val="tx1"/>
                </a:solidFill>
              </a:rPr>
              <a:t>Tested on synthetic meshes. On today's real meshes the fusion artifacts are Unobserved too, so it would chase them; it pays off once the mesh fixes land.</a:t>
            </a:r>
            <a:endParaRPr lang="en-US" sz="12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COMPLETED WORK · CONNECTING TO THE REAL SERVICE</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Tabeen</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First real-phone attempt, and what it found</a:t>
            </a:r>
            <a:endParaRPr lang="en-US" sz="3000" dirty="0"/>
          </a:p>
        </p:txBody>
      </p:sp>
      <p:sp>
        <p:nvSpPr>
          <p:cNvPr id="5" name="Shape 3"/>
          <p:cNvSpPr/>
          <p:nvPr/>
        </p:nvSpPr>
        <p:spPr>
          <a:xfrm>
            <a:off x="548640" y="1417320"/>
            <a:ext cx="5387188" cy="3977640"/>
          </a:xfrm>
          <a:prstGeom prst="roundRect">
            <a:avLst>
              <a:gd name="adj" fmla="val 1609"/>
            </a:avLst>
          </a:prstGeom>
          <a:solidFill>
            <a:schemeClr val="bg2"/>
          </a:solidFill>
          <a:ln w="12700">
            <a:solidFill>
              <a:schemeClr val="bg2"/>
            </a:solidFill>
            <a:prstDash val="solid"/>
          </a:ln>
        </p:spPr>
      </p:sp>
      <p:sp>
        <p:nvSpPr>
          <p:cNvPr id="6" name="Text 4"/>
          <p:cNvSpPr txBox="1"/>
          <p:nvPr/>
        </p:nvSpPr>
        <p:spPr>
          <a:xfrm>
            <a:off x="822960" y="1618488"/>
            <a:ext cx="4838548" cy="347472"/>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Attempt 1: the deployed service</a:t>
            </a:r>
            <a:endParaRPr lang="en-US" sz="1600" dirty="0"/>
          </a:p>
        </p:txBody>
      </p:sp>
      <p:pic>
        <p:nvPicPr>
          <p:cNvPr id="7" name="Image 0" descr="preencoded.png">    </p:cNvPr>
          <p:cNvPicPr>
            <a:picLocks noChangeAspect="1"/>
          </p:cNvPicPr>
          <p:nvPr/>
        </p:nvPicPr>
        <p:blipFill>
          <a:blip r:embed="rId1"/>
          <a:stretch>
            <a:fillRect/>
          </a:stretch>
        </p:blipFill>
        <p:spPr>
          <a:xfrm>
            <a:off x="822960" y="2231136"/>
            <a:ext cx="237744" cy="237744"/>
          </a:xfrm>
          <a:prstGeom prst="rect">
            <a:avLst/>
          </a:prstGeom>
        </p:spPr>
      </p:pic>
      <p:sp>
        <p:nvSpPr>
          <p:cNvPr id="8" name="Text 5"/>
          <p:cNvSpPr txBox="1"/>
          <p:nvPr/>
        </p:nvSpPr>
        <p:spPr>
          <a:xfrm>
            <a:off x="1207008" y="2194560"/>
            <a:ext cx="4472788" cy="822960"/>
          </a:xfrm>
          <a:prstGeom prst="rect">
            <a:avLst/>
          </a:prstGeom>
          <a:noFill/>
          <a:ln/>
        </p:spPr>
        <p:txBody>
          <a:bodyPr wrap="square" lIns="0" tIns="0" rIns="0" bIns="0" rtlCol="0" anchor="t"/>
          <a:lstStyle/>
          <a:p>
            <a:pPr indent="0" marL="0">
              <a:buNone/>
            </a:pPr>
            <a:r>
              <a:rPr lang="en-US" sz="1250" b="1" dirty="0">
                <a:solidFill>
                  <a:schemeClr val="tx1"/>
                </a:solidFill>
              </a:rPr>
              <a:t>Same chicken-and-egg R-15 found — </a:t>
            </a:r>
            <a:pPr indent="0" marL="0">
              <a:buNone/>
            </a:pPr>
            <a:r>
              <a:rPr lang="en-US" sz="1250" dirty="0">
                <a:solidFill>
                  <a:schemeClr val="tx1"/>
                </a:solidFill>
              </a:rPr>
              <a:t>the deployed image only has code already on main — our own CORS fix couldn't be tested there before it merged</a:t>
            </a:r>
            <a:endParaRPr lang="en-US" sz="1250" dirty="0"/>
          </a:p>
        </p:txBody>
      </p:sp>
      <p:pic>
        <p:nvPicPr>
          <p:cNvPr id="9" name="Image 1" descr="preencoded.png">    </p:cNvPr>
          <p:cNvPicPr>
            <a:picLocks noChangeAspect="1"/>
          </p:cNvPicPr>
          <p:nvPr/>
        </p:nvPicPr>
        <p:blipFill>
          <a:blip r:embed="rId2"/>
          <a:stretch>
            <a:fillRect/>
          </a:stretch>
        </p:blipFill>
        <p:spPr>
          <a:xfrm>
            <a:off x="822960" y="3145536"/>
            <a:ext cx="237744" cy="237744"/>
          </a:xfrm>
          <a:prstGeom prst="rect">
            <a:avLst/>
          </a:prstGeom>
        </p:spPr>
      </p:pic>
      <p:sp>
        <p:nvSpPr>
          <p:cNvPr id="10" name="Text 6"/>
          <p:cNvSpPr txBox="1"/>
          <p:nvPr/>
        </p:nvSpPr>
        <p:spPr>
          <a:xfrm>
            <a:off x="1207008" y="3108960"/>
            <a:ext cx="4472788" cy="822960"/>
          </a:xfrm>
          <a:prstGeom prst="rect">
            <a:avLst/>
          </a:prstGeom>
          <a:noFill/>
          <a:ln/>
        </p:spPr>
        <p:txBody>
          <a:bodyPr wrap="square" lIns="0" tIns="0" rIns="0" bIns="0" rtlCol="0" anchor="t"/>
          <a:lstStyle/>
          <a:p>
            <a:pPr indent="0" marL="0">
              <a:buNone/>
            </a:pPr>
            <a:r>
              <a:rPr lang="en-US" sz="1250" b="1" dirty="0">
                <a:solidFill>
                  <a:schemeClr val="tx1"/>
                </a:solidFill>
              </a:rPr>
              <a:t>Stopped that deployment — </a:t>
            </a:r>
            <a:pPr indent="0" marL="0">
              <a:buNone/>
            </a:pPr>
            <a:r>
              <a:rPr lang="en-US" sz="1250" dirty="0">
                <a:solidFill>
                  <a:schemeClr val="tx1"/>
                </a:solidFill>
              </a:rPr>
              <a:t>rather than let it keep billing against a check it couldn't pass</a:t>
            </a:r>
            <a:endParaRPr lang="en-US" sz="1250" dirty="0"/>
          </a:p>
        </p:txBody>
      </p:sp>
      <p:sp>
        <p:nvSpPr>
          <p:cNvPr id="11" name="Shape 7"/>
          <p:cNvSpPr/>
          <p:nvPr/>
        </p:nvSpPr>
        <p:spPr>
          <a:xfrm>
            <a:off x="822960" y="4023360"/>
            <a:ext cx="4838548" cy="1143000"/>
          </a:xfrm>
          <a:prstGeom prst="roundRect">
            <a:avLst>
              <a:gd name="adj" fmla="val 4800"/>
            </a:avLst>
          </a:prstGeom>
          <a:solidFill>
            <a:schemeClr val="bg1"/>
          </a:solidFill>
          <a:ln w="12700">
            <a:solidFill>
              <a:schemeClr val="accent6"/>
            </a:solidFill>
            <a:prstDash val="solid"/>
          </a:ln>
        </p:spPr>
      </p:sp>
      <p:pic>
        <p:nvPicPr>
          <p:cNvPr id="12" name="Image 2" descr="preencoded.png">    </p:cNvPr>
          <p:cNvPicPr>
            <a:picLocks noChangeAspect="1"/>
          </p:cNvPicPr>
          <p:nvPr/>
        </p:nvPicPr>
        <p:blipFill>
          <a:blip r:embed="rId3"/>
          <a:stretch>
            <a:fillRect/>
          </a:stretch>
        </p:blipFill>
        <p:spPr>
          <a:xfrm>
            <a:off x="1024128" y="4233672"/>
            <a:ext cx="274320" cy="274320"/>
          </a:xfrm>
          <a:prstGeom prst="rect">
            <a:avLst/>
          </a:prstGeom>
        </p:spPr>
      </p:pic>
      <p:sp>
        <p:nvSpPr>
          <p:cNvPr id="13" name="Text 8"/>
          <p:cNvSpPr txBox="1"/>
          <p:nvPr/>
        </p:nvSpPr>
        <p:spPr>
          <a:xfrm>
            <a:off x="1417320" y="4142232"/>
            <a:ext cx="4244188" cy="914400"/>
          </a:xfrm>
          <a:prstGeom prst="rect">
            <a:avLst/>
          </a:prstGeom>
          <a:noFill/>
          <a:ln/>
        </p:spPr>
        <p:txBody>
          <a:bodyPr wrap="square" lIns="0" tIns="0" rIns="0" bIns="0" rtlCol="0" anchor="ctr"/>
          <a:lstStyle/>
          <a:p>
            <a:pPr indent="0" marL="0">
              <a:buNone/>
            </a:pPr>
            <a:r>
              <a:rPr lang="en-US" sz="1250" b="1" dirty="0">
                <a:solidFill>
                  <a:schemeClr val="accent1"/>
                </a:solidFill>
              </a:rPr>
              <a:t>Decision (D-049): </a:t>
            </a:r>
            <a:pPr indent="0" marL="0">
              <a:buNone/>
            </a:pPr>
            <a:r>
              <a:rPr lang="en-US" sz="1250" dirty="0">
                <a:solidFill>
                  <a:schemeClr val="tx1"/>
                </a:solidFill>
              </a:rPr>
              <a:t>move the end-to-end check to our M2 Max laptop, running the service locally, with Tabeen joining C-13 as co-owner.</a:t>
            </a:r>
            <a:endParaRPr lang="en-US" sz="1250" dirty="0"/>
          </a:p>
        </p:txBody>
      </p:sp>
      <p:sp>
        <p:nvSpPr>
          <p:cNvPr id="14" name="Shape 9"/>
          <p:cNvSpPr/>
          <p:nvPr/>
        </p:nvSpPr>
        <p:spPr>
          <a:xfrm>
            <a:off x="6255868" y="1417320"/>
            <a:ext cx="5387188" cy="3977640"/>
          </a:xfrm>
          <a:prstGeom prst="roundRect">
            <a:avLst>
              <a:gd name="adj" fmla="val 1609"/>
            </a:avLst>
          </a:prstGeom>
          <a:solidFill>
            <a:schemeClr val="bg2"/>
          </a:solidFill>
          <a:ln w="12700">
            <a:solidFill>
              <a:schemeClr val="bg2"/>
            </a:solidFill>
            <a:prstDash val="solid"/>
          </a:ln>
        </p:spPr>
      </p:sp>
      <p:sp>
        <p:nvSpPr>
          <p:cNvPr id="15" name="Text 10"/>
          <p:cNvSpPr txBox="1"/>
          <p:nvPr/>
        </p:nvSpPr>
        <p:spPr>
          <a:xfrm>
            <a:off x="6530188" y="1618488"/>
            <a:ext cx="4838548" cy="347472"/>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Attempt 2: on the Mac — zero poses</a:t>
            </a:r>
            <a:endParaRPr lang="en-US" sz="1600" dirty="0"/>
          </a:p>
        </p:txBody>
      </p:sp>
      <p:sp>
        <p:nvSpPr>
          <p:cNvPr id="16" name="Text 11"/>
          <p:cNvSpPr txBox="1"/>
          <p:nvPr/>
        </p:nvSpPr>
        <p:spPr>
          <a:xfrm>
            <a:off x="6914236" y="2194560"/>
            <a:ext cx="4472788" cy="640080"/>
          </a:xfrm>
          <a:prstGeom prst="rect">
            <a:avLst/>
          </a:prstGeom>
          <a:noFill/>
          <a:ln/>
        </p:spPr>
        <p:txBody>
          <a:bodyPr wrap="square" lIns="0" tIns="0" rIns="0" bIns="0" rtlCol="0" anchor="t"/>
          <a:lstStyle/>
          <a:p>
            <a:pPr indent="0" marL="0">
              <a:buNone/>
            </a:pPr>
            <a:r>
              <a:rPr lang="en-US" sz="1250" b="1" dirty="0">
                <a:solidFill>
                  <a:schemeClr val="tx1"/>
                </a:solidFill>
              </a:rPr>
              <a:t>19 and 17 frames, both failed</a:t>
            </a:r>
            <a:pPr indent="0" marL="0">
              <a:buNone/>
            </a:pPr>
            <a:r>
              <a:rPr lang="en-US" sz="1250" dirty="0">
                <a:solidFill>
                  <a:schemeClr val="tx1"/>
                </a:solidFill>
              </a:rPr>
              <a:t> — the board was detected in every frame, but every frame came back intrinsics_unavailable.</a:t>
            </a:r>
            <a:endParaRPr lang="en-US" sz="1250" dirty="0"/>
          </a:p>
        </p:txBody>
      </p:sp>
      <p:pic>
        <p:nvPicPr>
          <p:cNvPr id="17" name="Image 3" descr="preencoded.png">    </p:cNvPr>
          <p:cNvPicPr>
            <a:picLocks noChangeAspect="1"/>
          </p:cNvPicPr>
          <p:nvPr/>
        </p:nvPicPr>
        <p:blipFill>
          <a:blip r:embed="rId4"/>
          <a:stretch>
            <a:fillRect/>
          </a:stretch>
        </p:blipFill>
        <p:spPr>
          <a:xfrm>
            <a:off x="6530188" y="2240280"/>
            <a:ext cx="237744" cy="237744"/>
          </a:xfrm>
          <a:prstGeom prst="rect">
            <a:avLst/>
          </a:prstGeom>
        </p:spPr>
      </p:pic>
      <p:sp>
        <p:nvSpPr>
          <p:cNvPr id="18" name="Text 12"/>
          <p:cNvSpPr txBox="1"/>
          <p:nvPr/>
        </p:nvSpPr>
        <p:spPr>
          <a:xfrm>
            <a:off x="6530188" y="2926080"/>
            <a:ext cx="4838548" cy="594360"/>
          </a:xfrm>
          <a:prstGeom prst="rect">
            <a:avLst/>
          </a:prstGeom>
          <a:noFill/>
          <a:ln/>
        </p:spPr>
        <p:txBody>
          <a:bodyPr wrap="square" lIns="0" tIns="0" rIns="0" bIns="0" rtlCol="0" anchor="t"/>
          <a:lstStyle/>
          <a:p>
            <a:pPr indent="0" marL="0">
              <a:buNone/>
            </a:pPr>
            <a:r>
              <a:rPr lang="en-US" sz="1250" b="1" dirty="0">
                <a:solidFill>
                  <a:schemeClr val="tx1"/>
                </a:solidFill>
              </a:rPr>
              <a:t>Root cause: </a:t>
            </a:r>
            <a:pPr indent="0" marL="0">
              <a:buNone/>
            </a:pPr>
            <a:r>
              <a:rPr lang="en-US" sz="1250" dirty="0">
                <a:solidFill>
                  <a:schemeClr val="tx1"/>
                </a:solidFill>
              </a:rPr>
              <a:t>frames from the live camera preview carry no EXIF focal length, unlike the golden capture's Camera-app photos.</a:t>
            </a:r>
            <a:endParaRPr lang="en-US" sz="1250" dirty="0"/>
          </a:p>
        </p:txBody>
      </p:sp>
      <p:sp>
        <p:nvSpPr>
          <p:cNvPr id="19" name="Shape 13"/>
          <p:cNvSpPr/>
          <p:nvPr/>
        </p:nvSpPr>
        <p:spPr>
          <a:xfrm>
            <a:off x="6530188" y="3611880"/>
            <a:ext cx="4838548" cy="1554480"/>
          </a:xfrm>
          <a:prstGeom prst="roundRect">
            <a:avLst>
              <a:gd name="adj" fmla="val 3529"/>
            </a:avLst>
          </a:prstGeom>
          <a:solidFill>
            <a:schemeClr val="bg1"/>
          </a:solidFill>
          <a:ln w="12700">
            <a:solidFill>
              <a:schemeClr val="accent6"/>
            </a:solidFill>
            <a:prstDash val="solid"/>
          </a:ln>
        </p:spPr>
      </p:sp>
      <p:pic>
        <p:nvPicPr>
          <p:cNvPr id="20" name="Image 4" descr="preencoded.png">    </p:cNvPr>
          <p:cNvPicPr>
            <a:picLocks noChangeAspect="1"/>
          </p:cNvPicPr>
          <p:nvPr/>
        </p:nvPicPr>
        <p:blipFill>
          <a:blip r:embed="rId5"/>
          <a:stretch>
            <a:fillRect/>
          </a:stretch>
        </p:blipFill>
        <p:spPr>
          <a:xfrm>
            <a:off x="6731356" y="3794760"/>
            <a:ext cx="256032" cy="256032"/>
          </a:xfrm>
          <a:prstGeom prst="rect">
            <a:avLst/>
          </a:prstGeom>
        </p:spPr>
      </p:pic>
      <p:sp>
        <p:nvSpPr>
          <p:cNvPr id="21" name="Text 14"/>
          <p:cNvSpPr txBox="1"/>
          <p:nvPr/>
        </p:nvSpPr>
        <p:spPr>
          <a:xfrm>
            <a:off x="7124548" y="3749040"/>
            <a:ext cx="4244188" cy="502920"/>
          </a:xfrm>
          <a:prstGeom prst="rect">
            <a:avLst/>
          </a:prstGeom>
          <a:noFill/>
          <a:ln/>
        </p:spPr>
        <p:txBody>
          <a:bodyPr wrap="square" lIns="0" tIns="0" rIns="0" bIns="0" rtlCol="0" anchor="t"/>
          <a:lstStyle/>
          <a:p>
            <a:pPr indent="0" marL="0">
              <a:buNone/>
            </a:pPr>
            <a:r>
              <a:rPr lang="en-US" sz="1250" b="1" dirty="0">
                <a:solidFill>
                  <a:schemeClr val="accent1"/>
                </a:solidFill>
              </a:rPr>
              <a:t>Fix (D-050): </a:t>
            </a:r>
            <a:pPr indent="0" marL="0">
              <a:buNone/>
            </a:pPr>
            <a:r>
              <a:rPr lang="en-US" sz="1250" dirty="0">
                <a:solidFill>
                  <a:schemeClr val="tx1"/>
                </a:solidFill>
              </a:rPr>
              <a:t>calibrate the camera from the board itself when EXIF is missing.</a:t>
            </a:r>
            <a:endParaRPr lang="en-US" sz="1250" dirty="0"/>
          </a:p>
        </p:txBody>
      </p:sp>
      <p:sp>
        <p:nvSpPr>
          <p:cNvPr id="22" name="Text 15"/>
          <p:cNvSpPr txBox="1"/>
          <p:nvPr/>
        </p:nvSpPr>
        <p:spPr>
          <a:xfrm>
            <a:off x="6530188" y="4297680"/>
            <a:ext cx="4838548" cy="822960"/>
          </a:xfrm>
          <a:prstGeom prst="rect">
            <a:avLst/>
          </a:prstGeom>
          <a:noFill/>
          <a:ln/>
        </p:spPr>
        <p:txBody>
          <a:bodyPr wrap="square" lIns="0" tIns="0" rIns="0" bIns="0" rtlCol="0" anchor="t"/>
          <a:lstStyle/>
          <a:p>
            <a:pPr indent="0" marL="0">
              <a:buNone/>
            </a:pPr>
            <a:r>
              <a:rPr lang="en-US" sz="1150" b="1" dirty="0">
                <a:solidFill>
                  <a:schemeClr val="accent4"/>
                </a:solidFill>
              </a:rPr>
              <a:t>Validated offline, not yet live: </a:t>
            </a:r>
            <a:pPr indent="0" marL="0">
              <a:buNone/>
            </a:pPr>
            <a:r>
              <a:rPr lang="en-US" sz="1150" dirty="0">
                <a:solidFill>
                  <a:schemeClr val="accent4"/>
                </a:solidFill>
              </a:rPr>
              <a:t>reprocessed the failed session's own 19 frames — 0.20 px calibration error, 18 of 19 posed, a real metric result. Confirming it on an actual phone is next (slide 14).</a:t>
            </a:r>
            <a:endParaRPr lang="en-US" sz="1150" dirty="0"/>
          </a:p>
        </p:txBody>
      </p:sp>
      <p:sp>
        <p:nvSpPr>
          <p:cNvPr id="23" name="Shape 16"/>
          <p:cNvSpPr/>
          <p:nvPr/>
        </p:nvSpPr>
        <p:spPr>
          <a:xfrm>
            <a:off x="548640" y="5623560"/>
            <a:ext cx="11094415" cy="548640"/>
          </a:xfrm>
          <a:prstGeom prst="roundRect">
            <a:avLst>
              <a:gd name="adj" fmla="val 10000"/>
            </a:avLst>
          </a:prstGeom>
          <a:solidFill>
            <a:schemeClr val="bg1"/>
          </a:solidFill>
          <a:ln w="12700">
            <a:solidFill>
              <a:schemeClr val="accent6"/>
            </a:solidFill>
            <a:prstDash val="solid"/>
          </a:ln>
        </p:spPr>
      </p:sp>
      <p:pic>
        <p:nvPicPr>
          <p:cNvPr id="24" name="Image 5" descr="preencoded.png">    </p:cNvPr>
          <p:cNvPicPr>
            <a:picLocks noChangeAspect="1"/>
          </p:cNvPicPr>
          <p:nvPr/>
        </p:nvPicPr>
        <p:blipFill>
          <a:blip r:embed="rId6"/>
          <a:stretch>
            <a:fillRect/>
          </a:stretch>
        </p:blipFill>
        <p:spPr>
          <a:xfrm>
            <a:off x="749808" y="5769864"/>
            <a:ext cx="256032" cy="256032"/>
          </a:xfrm>
          <a:prstGeom prst="rect">
            <a:avLst/>
          </a:prstGeom>
        </p:spPr>
      </p:pic>
      <p:sp>
        <p:nvSpPr>
          <p:cNvPr id="25" name="Text 17"/>
          <p:cNvSpPr txBox="1"/>
          <p:nvPr/>
        </p:nvSpPr>
        <p:spPr>
          <a:xfrm>
            <a:off x="1143000" y="5623560"/>
            <a:ext cx="10317175" cy="548640"/>
          </a:xfrm>
          <a:prstGeom prst="rect">
            <a:avLst/>
          </a:prstGeom>
          <a:noFill/>
          <a:ln/>
        </p:spPr>
        <p:txBody>
          <a:bodyPr wrap="square" lIns="0" tIns="0" rIns="0" bIns="0" rtlCol="0" anchor="ctr"/>
          <a:lstStyle/>
          <a:p>
            <a:pPr indent="0" marL="0">
              <a:buNone/>
            </a:pPr>
            <a:r>
              <a:rPr lang="en-US" sz="1200" b="1" dirty="0">
                <a:solidFill>
                  <a:schemeClr val="tx1"/>
                </a:solidFill>
              </a:rPr>
              <a:t>Cloud deployment (R-15): </a:t>
            </a:r>
            <a:pPr indent="0" marL="0">
              <a:buNone/>
            </a:pPr>
            <a:r>
              <a:rPr lang="en-US" sz="1200" dirty="0">
                <a:solidFill>
                  <a:schemeClr val="tx1"/>
                </a:solidFill>
              </a:rPr>
              <a:t>image built and smoke-tested in CI → registry → one-command deploy to a Lightning T4 over token-gated HTTPS, verified 9 Oct. Browser → cloud GPU still open (O-005).</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COMPLETED WORK · TESTING ON REAL DATA</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Tabeen</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Real photos exposed what unit tests could not</a:t>
            </a:r>
            <a:endParaRPr lang="en-US" sz="3000" dirty="0"/>
          </a:p>
        </p:txBody>
      </p:sp>
      <p:pic>
        <p:nvPicPr>
          <p:cNvPr id="5" name="Image 0" descr="/private/tmp/ps-deck-wt/submissions/assets/2026-10-16/fig_confidence.jpg">    </p:cNvPr>
          <p:cNvPicPr>
            <a:picLocks noChangeAspect="1"/>
          </p:cNvPicPr>
          <p:nvPr/>
        </p:nvPicPr>
        <p:blipFill>
          <a:blip r:embed="rId1"/>
          <a:stretch>
            <a:fillRect/>
          </a:stretch>
        </p:blipFill>
        <p:spPr>
          <a:xfrm>
            <a:off x="548640" y="1681569"/>
            <a:ext cx="5577840" cy="2671902"/>
          </a:xfrm>
          <a:prstGeom prst="rect">
            <a:avLst/>
          </a:prstGeom>
        </p:spPr>
      </p:pic>
      <p:sp>
        <p:nvSpPr>
          <p:cNvPr id="6" name="Text 3"/>
          <p:cNvSpPr txBox="1"/>
          <p:nvPr/>
        </p:nvSpPr>
        <p:spPr>
          <a:xfrm>
            <a:off x="548640" y="4553712"/>
            <a:ext cx="5577840" cy="502920"/>
          </a:xfrm>
          <a:prstGeom prst="rect">
            <a:avLst/>
          </a:prstGeom>
          <a:noFill/>
          <a:ln/>
        </p:spPr>
        <p:txBody>
          <a:bodyPr wrap="square" lIns="0" tIns="0" rIns="0" bIns="0" rtlCol="0" anchor="t"/>
          <a:lstStyle/>
          <a:p>
            <a:pPr indent="0" marL="0">
              <a:buNone/>
            </a:pPr>
            <a:r>
              <a:rPr lang="en-US" sz="1050" i="1" dirty="0">
                <a:solidFill>
                  <a:schemeClr val="accent4"/>
                </a:solidFill>
              </a:rPr>
              <a:t>s-05, segmented points: (a) every pixel kept, 17.7% stray; (b) VGGT's confidence floor applied (R-20), 2.5% stray. Stray = outside the part's main cluster.</a:t>
            </a:r>
            <a:endParaRPr lang="en-US" sz="1050" dirty="0"/>
          </a:p>
        </p:txBody>
      </p:sp>
      <p:sp>
        <p:nvSpPr>
          <p:cNvPr id="7" name="Text 4"/>
          <p:cNvSpPr txBox="1"/>
          <p:nvPr/>
        </p:nvSpPr>
        <p:spPr>
          <a:xfrm>
            <a:off x="6446520" y="1417320"/>
            <a:ext cx="5196535" cy="548640"/>
          </a:xfrm>
          <a:prstGeom prst="rect">
            <a:avLst/>
          </a:prstGeom>
          <a:noFill/>
          <a:ln/>
        </p:spPr>
        <p:txBody>
          <a:bodyPr wrap="square" lIns="0" tIns="0" rIns="0" bIns="0" rtlCol="0" anchor="t"/>
          <a:lstStyle/>
          <a:p>
            <a:pPr indent="0" marL="0">
              <a:buNone/>
            </a:pPr>
            <a:r>
              <a:rPr lang="en-US" sz="1300" b="1" dirty="0">
                <a:solidFill>
                  <a:schemeClr val="tx1"/>
                </a:solidFill>
              </a:rPr>
              <a:t>A visual check of all five objects (R-17) passed none. Each cause became its own story:</a:t>
            </a:r>
            <a:endParaRPr lang="en-US" sz="1300" dirty="0"/>
          </a:p>
        </p:txBody>
      </p:sp>
      <p:sp>
        <p:nvSpPr>
          <p:cNvPr id="8" name="Shape 5"/>
          <p:cNvSpPr/>
          <p:nvPr/>
        </p:nvSpPr>
        <p:spPr>
          <a:xfrm>
            <a:off x="6446520" y="2103120"/>
            <a:ext cx="5196535" cy="1051560"/>
          </a:xfrm>
          <a:prstGeom prst="roundRect">
            <a:avLst>
              <a:gd name="adj" fmla="val 6087"/>
            </a:avLst>
          </a:prstGeom>
          <a:solidFill>
            <a:schemeClr val="bg2"/>
          </a:solidFill>
          <a:ln w="12700">
            <a:solidFill>
              <a:schemeClr val="bg2"/>
            </a:solidFill>
            <a:prstDash val="solid"/>
          </a:ln>
        </p:spPr>
      </p:sp>
      <p:sp>
        <p:nvSpPr>
          <p:cNvPr id="9" name="Shape 6"/>
          <p:cNvSpPr/>
          <p:nvPr/>
        </p:nvSpPr>
        <p:spPr>
          <a:xfrm>
            <a:off x="6629400" y="2267712"/>
            <a:ext cx="347472" cy="347472"/>
          </a:xfrm>
          <a:prstGeom prst="ellipse">
            <a:avLst/>
          </a:prstGeom>
          <a:solidFill>
            <a:schemeClr val="accent3"/>
          </a:solidFill>
          <a:ln w="12700">
            <a:solidFill>
              <a:schemeClr val="accent3"/>
            </a:solidFill>
            <a:prstDash val="solid"/>
          </a:ln>
        </p:spPr>
      </p:sp>
      <p:sp>
        <p:nvSpPr>
          <p:cNvPr id="10" name="Text 7"/>
          <p:cNvSpPr txBox="1"/>
          <p:nvPr/>
        </p:nvSpPr>
        <p:spPr>
          <a:xfrm>
            <a:off x="6629400" y="2267712"/>
            <a:ext cx="347472" cy="347472"/>
          </a:xfrm>
          <a:prstGeom prst="rect">
            <a:avLst/>
          </a:prstGeom>
          <a:noFill/>
          <a:ln/>
        </p:spPr>
        <p:txBody>
          <a:bodyPr wrap="square" lIns="0" tIns="0" rIns="0" bIns="0" rtlCol="0" anchor="ctr"/>
          <a:lstStyle/>
          <a:p>
            <a:pPr algn="ctr" indent="0" marL="0">
              <a:buNone/>
            </a:pPr>
            <a:r>
              <a:rPr lang="en-US" sz="1292" b="1" dirty="0">
                <a:solidFill>
                  <a:schemeClr val="bg1"/>
                </a:solidFill>
              </a:rPr>
              <a:t>1</a:t>
            </a:r>
            <a:endParaRPr lang="en-US" sz="1292" dirty="0"/>
          </a:p>
        </p:txBody>
      </p:sp>
      <p:sp>
        <p:nvSpPr>
          <p:cNvPr id="11" name="Text 8"/>
          <p:cNvSpPr txBox="1"/>
          <p:nvPr/>
        </p:nvSpPr>
        <p:spPr>
          <a:xfrm>
            <a:off x="7132320" y="2212848"/>
            <a:ext cx="2864815" cy="347472"/>
          </a:xfrm>
          <a:prstGeom prst="rect">
            <a:avLst/>
          </a:prstGeom>
          <a:noFill/>
          <a:ln/>
        </p:spPr>
        <p:txBody>
          <a:bodyPr wrap="square" lIns="0" tIns="0" rIns="0" bIns="0" rtlCol="0" anchor="ctr"/>
          <a:lstStyle/>
          <a:p>
            <a:pPr indent="0" marL="0">
              <a:buNone/>
            </a:pPr>
            <a:r>
              <a:rPr lang="en-US" sz="1400" b="1" dirty="0">
                <a:solidFill>
                  <a:schemeClr val="tx1"/>
                </a:solidFill>
              </a:rPr>
              <a:t>Stray low-confidence points</a:t>
            </a:r>
            <a:endParaRPr lang="en-US" sz="1400" dirty="0"/>
          </a:p>
        </p:txBody>
      </p:sp>
      <p:sp>
        <p:nvSpPr>
          <p:cNvPr id="12" name="Shape 9"/>
          <p:cNvSpPr/>
          <p:nvPr/>
        </p:nvSpPr>
        <p:spPr>
          <a:xfrm>
            <a:off x="10042855" y="2240280"/>
            <a:ext cx="1435608" cy="292608"/>
          </a:xfrm>
          <a:prstGeom prst="roundRect">
            <a:avLst>
              <a:gd name="adj" fmla="val 46875"/>
            </a:avLst>
          </a:prstGeom>
          <a:solidFill>
            <a:srgbClr val="FFFFFF"/>
          </a:solidFill>
          <a:ln w="9525">
            <a:solidFill>
              <a:srgbClr val="CDD6D9"/>
            </a:solidFill>
            <a:prstDash val="solid"/>
          </a:ln>
        </p:spPr>
      </p:sp>
      <p:sp>
        <p:nvSpPr>
          <p:cNvPr id="13" name="Text 10"/>
          <p:cNvSpPr txBox="1"/>
          <p:nvPr/>
        </p:nvSpPr>
        <p:spPr>
          <a:xfrm>
            <a:off x="10116007" y="2240280"/>
            <a:ext cx="1289304" cy="292608"/>
          </a:xfrm>
          <a:prstGeom prst="rect">
            <a:avLst/>
          </a:prstGeom>
          <a:noFill/>
          <a:ln/>
        </p:spPr>
        <p:txBody>
          <a:bodyPr wrap="square" lIns="0" tIns="0" rIns="0" bIns="0" rtlCol="0" anchor="ctr">
            <a:normAutofit/>
          </a:bodyPr>
          <a:lstStyle/>
          <a:p>
            <a:pPr algn="ctr" indent="0" marL="0">
              <a:buNone/>
            </a:pPr>
            <a:r>
              <a:rPr lang="en-US" sz="1050" b="1" dirty="0">
                <a:solidFill>
                  <a:schemeClr val="accent1"/>
                </a:solidFill>
              </a:rPr>
              <a:t>R-20, R-24 · merged</a:t>
            </a:r>
            <a:endParaRPr lang="en-US" sz="1050" dirty="0"/>
          </a:p>
        </p:txBody>
      </p:sp>
      <p:sp>
        <p:nvSpPr>
          <p:cNvPr id="14" name="Text 11"/>
          <p:cNvSpPr txBox="1"/>
          <p:nvPr/>
        </p:nvSpPr>
        <p:spPr>
          <a:xfrm>
            <a:off x="7132320" y="2578608"/>
            <a:ext cx="4327855" cy="530352"/>
          </a:xfrm>
          <a:prstGeom prst="rect">
            <a:avLst/>
          </a:prstGeom>
          <a:noFill/>
          <a:ln/>
        </p:spPr>
        <p:txBody>
          <a:bodyPr wrap="square" lIns="0" tIns="0" rIns="0" bIns="0" rtlCol="0" anchor="t"/>
          <a:lstStyle/>
          <a:p>
            <a:pPr indent="0" marL="0">
              <a:buNone/>
            </a:pPr>
            <a:r>
              <a:rPr lang="en-US" sz="1200" dirty="0">
                <a:solidFill>
                  <a:schemeClr val="accent4"/>
                </a:solidFill>
              </a:rPr>
              <a:t>Threshold set at VGGT's confidence floor: stray 11–29% → ≤2.5%. Provenance trusts only those pixels too</a:t>
            </a:r>
            <a:endParaRPr lang="en-US" sz="1200" dirty="0"/>
          </a:p>
        </p:txBody>
      </p:sp>
      <p:sp>
        <p:nvSpPr>
          <p:cNvPr id="15" name="Shape 12"/>
          <p:cNvSpPr/>
          <p:nvPr/>
        </p:nvSpPr>
        <p:spPr>
          <a:xfrm>
            <a:off x="6446520" y="3291840"/>
            <a:ext cx="5196535" cy="1051560"/>
          </a:xfrm>
          <a:prstGeom prst="roundRect">
            <a:avLst>
              <a:gd name="adj" fmla="val 6087"/>
            </a:avLst>
          </a:prstGeom>
          <a:solidFill>
            <a:schemeClr val="bg2"/>
          </a:solidFill>
          <a:ln w="12700">
            <a:solidFill>
              <a:schemeClr val="bg2"/>
            </a:solidFill>
            <a:prstDash val="solid"/>
          </a:ln>
        </p:spPr>
      </p:sp>
      <p:sp>
        <p:nvSpPr>
          <p:cNvPr id="16" name="Shape 13"/>
          <p:cNvSpPr/>
          <p:nvPr/>
        </p:nvSpPr>
        <p:spPr>
          <a:xfrm>
            <a:off x="6629400" y="3456432"/>
            <a:ext cx="347472" cy="347472"/>
          </a:xfrm>
          <a:prstGeom prst="ellipse">
            <a:avLst/>
          </a:prstGeom>
          <a:solidFill>
            <a:schemeClr val="accent3"/>
          </a:solidFill>
          <a:ln w="12700">
            <a:solidFill>
              <a:schemeClr val="accent3"/>
            </a:solidFill>
            <a:prstDash val="solid"/>
          </a:ln>
        </p:spPr>
      </p:sp>
      <p:sp>
        <p:nvSpPr>
          <p:cNvPr id="17" name="Text 14"/>
          <p:cNvSpPr txBox="1"/>
          <p:nvPr/>
        </p:nvSpPr>
        <p:spPr>
          <a:xfrm>
            <a:off x="6629400" y="3456432"/>
            <a:ext cx="347472" cy="347472"/>
          </a:xfrm>
          <a:prstGeom prst="rect">
            <a:avLst/>
          </a:prstGeom>
          <a:noFill/>
          <a:ln/>
        </p:spPr>
        <p:txBody>
          <a:bodyPr wrap="square" lIns="0" tIns="0" rIns="0" bIns="0" rtlCol="0" anchor="ctr"/>
          <a:lstStyle/>
          <a:p>
            <a:pPr algn="ctr" indent="0" marL="0">
              <a:buNone/>
            </a:pPr>
            <a:r>
              <a:rPr lang="en-US" sz="1292" b="1" dirty="0">
                <a:solidFill>
                  <a:schemeClr val="bg1"/>
                </a:solidFill>
              </a:rPr>
              <a:t>2</a:t>
            </a:r>
            <a:endParaRPr lang="en-US" sz="1292" dirty="0"/>
          </a:p>
        </p:txBody>
      </p:sp>
      <p:sp>
        <p:nvSpPr>
          <p:cNvPr id="18" name="Text 15"/>
          <p:cNvSpPr txBox="1"/>
          <p:nvPr/>
        </p:nvSpPr>
        <p:spPr>
          <a:xfrm>
            <a:off x="7132320" y="3401568"/>
            <a:ext cx="2864815" cy="347472"/>
          </a:xfrm>
          <a:prstGeom prst="rect">
            <a:avLst/>
          </a:prstGeom>
          <a:noFill/>
          <a:ln/>
        </p:spPr>
        <p:txBody>
          <a:bodyPr wrap="square" lIns="0" tIns="0" rIns="0" bIns="0" rtlCol="0" anchor="ctr"/>
          <a:lstStyle/>
          <a:p>
            <a:pPr indent="0" marL="0">
              <a:buNone/>
            </a:pPr>
            <a:r>
              <a:rPr lang="en-US" sz="1400" b="1" dirty="0">
                <a:solidFill>
                  <a:schemeClr val="tx1"/>
                </a:solidFill>
              </a:rPr>
              <a:t>Base of every part cut off</a:t>
            </a:r>
            <a:endParaRPr lang="en-US" sz="1400" dirty="0"/>
          </a:p>
        </p:txBody>
      </p:sp>
      <p:sp>
        <p:nvSpPr>
          <p:cNvPr id="19" name="Shape 16"/>
          <p:cNvSpPr/>
          <p:nvPr/>
        </p:nvSpPr>
        <p:spPr>
          <a:xfrm>
            <a:off x="10042855" y="3429000"/>
            <a:ext cx="1435608" cy="292608"/>
          </a:xfrm>
          <a:prstGeom prst="roundRect">
            <a:avLst>
              <a:gd name="adj" fmla="val 46875"/>
            </a:avLst>
          </a:prstGeom>
          <a:solidFill>
            <a:srgbClr val="FFFFFF"/>
          </a:solidFill>
          <a:ln w="9525">
            <a:solidFill>
              <a:srgbClr val="CDD6D9"/>
            </a:solidFill>
            <a:prstDash val="solid"/>
          </a:ln>
        </p:spPr>
      </p:sp>
      <p:sp>
        <p:nvSpPr>
          <p:cNvPr id="20" name="Text 17"/>
          <p:cNvSpPr txBox="1"/>
          <p:nvPr/>
        </p:nvSpPr>
        <p:spPr>
          <a:xfrm>
            <a:off x="10116007" y="3429000"/>
            <a:ext cx="1289304" cy="292608"/>
          </a:xfrm>
          <a:prstGeom prst="rect">
            <a:avLst/>
          </a:prstGeom>
          <a:noFill/>
          <a:ln/>
        </p:spPr>
        <p:txBody>
          <a:bodyPr wrap="square" lIns="0" tIns="0" rIns="0" bIns="0" rtlCol="0" anchor="ctr">
            <a:normAutofit/>
          </a:bodyPr>
          <a:lstStyle/>
          <a:p>
            <a:pPr algn="ctr" indent="0" marL="0">
              <a:buNone/>
            </a:pPr>
            <a:r>
              <a:rPr lang="en-US" sz="1050" b="1" dirty="0">
                <a:solidFill>
                  <a:schemeClr val="accent1"/>
                </a:solidFill>
              </a:rPr>
              <a:t>R-21 · merged</a:t>
            </a:r>
            <a:endParaRPr lang="en-US" sz="1050" dirty="0"/>
          </a:p>
        </p:txBody>
      </p:sp>
      <p:sp>
        <p:nvSpPr>
          <p:cNvPr id="21" name="Text 18"/>
          <p:cNvSpPr txBox="1"/>
          <p:nvPr/>
        </p:nvSpPr>
        <p:spPr>
          <a:xfrm>
            <a:off x="7132320" y="3767328"/>
            <a:ext cx="4327855" cy="530352"/>
          </a:xfrm>
          <a:prstGeom prst="rect">
            <a:avLst/>
          </a:prstGeom>
          <a:noFill/>
          <a:ln/>
        </p:spPr>
        <p:txBody>
          <a:bodyPr wrap="square" lIns="0" tIns="0" rIns="0" bIns="0" rtlCol="0" anchor="t"/>
          <a:lstStyle/>
          <a:p>
            <a:pPr indent="0" marL="0">
              <a:buNone/>
            </a:pPr>
            <a:r>
              <a:rPr lang="en-US" sz="1200" dirty="0">
                <a:solidFill>
                  <a:schemeClr val="accent4"/>
                </a:solidFill>
              </a:rPr>
              <a:t>Cut sat 3.6–7.4 mm above the real board. Now fit the board plane and cut from its own noise</a:t>
            </a:r>
            <a:endParaRPr lang="en-US" sz="1200" dirty="0"/>
          </a:p>
        </p:txBody>
      </p:sp>
      <p:sp>
        <p:nvSpPr>
          <p:cNvPr id="22" name="Shape 19"/>
          <p:cNvSpPr/>
          <p:nvPr/>
        </p:nvSpPr>
        <p:spPr>
          <a:xfrm>
            <a:off x="6446520" y="4480560"/>
            <a:ext cx="5196535" cy="1051560"/>
          </a:xfrm>
          <a:prstGeom prst="roundRect">
            <a:avLst>
              <a:gd name="adj" fmla="val 6087"/>
            </a:avLst>
          </a:prstGeom>
          <a:solidFill>
            <a:schemeClr val="bg2"/>
          </a:solidFill>
          <a:ln w="12700">
            <a:solidFill>
              <a:schemeClr val="bg2"/>
            </a:solidFill>
            <a:prstDash val="solid"/>
          </a:ln>
        </p:spPr>
      </p:sp>
      <p:sp>
        <p:nvSpPr>
          <p:cNvPr id="23" name="Shape 20"/>
          <p:cNvSpPr/>
          <p:nvPr/>
        </p:nvSpPr>
        <p:spPr>
          <a:xfrm>
            <a:off x="6629400" y="4645152"/>
            <a:ext cx="347472" cy="347472"/>
          </a:xfrm>
          <a:prstGeom prst="ellipse">
            <a:avLst/>
          </a:prstGeom>
          <a:solidFill>
            <a:schemeClr val="accent3"/>
          </a:solidFill>
          <a:ln w="12700">
            <a:solidFill>
              <a:schemeClr val="accent3"/>
            </a:solidFill>
            <a:prstDash val="solid"/>
          </a:ln>
        </p:spPr>
      </p:sp>
      <p:sp>
        <p:nvSpPr>
          <p:cNvPr id="24" name="Text 21"/>
          <p:cNvSpPr txBox="1"/>
          <p:nvPr/>
        </p:nvSpPr>
        <p:spPr>
          <a:xfrm>
            <a:off x="6629400" y="4645152"/>
            <a:ext cx="347472" cy="347472"/>
          </a:xfrm>
          <a:prstGeom prst="rect">
            <a:avLst/>
          </a:prstGeom>
          <a:noFill/>
          <a:ln/>
        </p:spPr>
        <p:txBody>
          <a:bodyPr wrap="square" lIns="0" tIns="0" rIns="0" bIns="0" rtlCol="0" anchor="ctr"/>
          <a:lstStyle/>
          <a:p>
            <a:pPr algn="ctr" indent="0" marL="0">
              <a:buNone/>
            </a:pPr>
            <a:r>
              <a:rPr lang="en-US" sz="1292" b="1" dirty="0">
                <a:solidFill>
                  <a:schemeClr val="bg1"/>
                </a:solidFill>
              </a:rPr>
              <a:t>3</a:t>
            </a:r>
            <a:endParaRPr lang="en-US" sz="1292" dirty="0"/>
          </a:p>
        </p:txBody>
      </p:sp>
      <p:sp>
        <p:nvSpPr>
          <p:cNvPr id="25" name="Text 22"/>
          <p:cNvSpPr txBox="1"/>
          <p:nvPr/>
        </p:nvSpPr>
        <p:spPr>
          <a:xfrm>
            <a:off x="7132320" y="4590288"/>
            <a:ext cx="2864815" cy="347472"/>
          </a:xfrm>
          <a:prstGeom prst="rect">
            <a:avLst/>
          </a:prstGeom>
          <a:noFill/>
          <a:ln/>
        </p:spPr>
        <p:txBody>
          <a:bodyPr wrap="square" lIns="0" tIns="0" rIns="0" bIns="0" rtlCol="0" anchor="ctr"/>
          <a:lstStyle/>
          <a:p>
            <a:pPr indent="0" marL="0">
              <a:buNone/>
            </a:pPr>
            <a:r>
              <a:rPr lang="en-US" sz="1400" b="1" dirty="0">
                <a:solidFill>
                  <a:schemeClr val="tx1"/>
                </a:solidFill>
              </a:rPr>
              <a:t>Everything comes out too small</a:t>
            </a:r>
            <a:endParaRPr lang="en-US" sz="1400" dirty="0"/>
          </a:p>
        </p:txBody>
      </p:sp>
      <p:sp>
        <p:nvSpPr>
          <p:cNvPr id="26" name="Shape 23"/>
          <p:cNvSpPr/>
          <p:nvPr/>
        </p:nvSpPr>
        <p:spPr>
          <a:xfrm>
            <a:off x="10042855" y="4617720"/>
            <a:ext cx="1435608" cy="292608"/>
          </a:xfrm>
          <a:prstGeom prst="roundRect">
            <a:avLst>
              <a:gd name="adj" fmla="val 46875"/>
            </a:avLst>
          </a:prstGeom>
          <a:solidFill>
            <a:srgbClr val="FFFFFF"/>
          </a:solidFill>
          <a:ln w="9525">
            <a:solidFill>
              <a:srgbClr val="CDD6D9"/>
            </a:solidFill>
            <a:prstDash val="solid"/>
          </a:ln>
        </p:spPr>
      </p:sp>
      <p:sp>
        <p:nvSpPr>
          <p:cNvPr id="27" name="Text 24"/>
          <p:cNvSpPr txBox="1"/>
          <p:nvPr/>
        </p:nvSpPr>
        <p:spPr>
          <a:xfrm>
            <a:off x="10116007" y="4617720"/>
            <a:ext cx="1289304" cy="292608"/>
          </a:xfrm>
          <a:prstGeom prst="rect">
            <a:avLst/>
          </a:prstGeom>
          <a:noFill/>
          <a:ln/>
        </p:spPr>
        <p:txBody>
          <a:bodyPr wrap="square" lIns="0" tIns="0" rIns="0" bIns="0" rtlCol="0" anchor="ctr">
            <a:normAutofit/>
          </a:bodyPr>
          <a:lstStyle/>
          <a:p>
            <a:pPr algn="ctr" indent="0" marL="0">
              <a:buNone/>
            </a:pPr>
            <a:r>
              <a:rPr lang="en-US" sz="1050" b="1" dirty="0">
                <a:solidFill>
                  <a:schemeClr val="accent1"/>
                </a:solidFill>
              </a:rPr>
              <a:t>R-22 · merged</a:t>
            </a:r>
            <a:endParaRPr lang="en-US" sz="1050" dirty="0"/>
          </a:p>
        </p:txBody>
      </p:sp>
      <p:sp>
        <p:nvSpPr>
          <p:cNvPr id="28" name="Text 25"/>
          <p:cNvSpPr txBox="1"/>
          <p:nvPr/>
        </p:nvSpPr>
        <p:spPr>
          <a:xfrm>
            <a:off x="7132320" y="4956048"/>
            <a:ext cx="4327855" cy="530352"/>
          </a:xfrm>
          <a:prstGeom prst="rect">
            <a:avLst/>
          </a:prstGeom>
          <a:noFill/>
          <a:ln/>
        </p:spPr>
        <p:txBody>
          <a:bodyPr wrap="square" lIns="0" tIns="0" rIns="0" bIns="0" rtlCol="0" anchor="t"/>
          <a:lstStyle/>
          <a:p>
            <a:pPr indent="0" marL="0">
              <a:buNone/>
            </a:pPr>
            <a:r>
              <a:rPr lang="en-US" sz="1200" dirty="0">
                <a:solidFill>
                  <a:schemeClr val="accent4"/>
                </a:solidFill>
              </a:rPr>
              <a:t>Whole scene 4–9% small, from camera-centre alignment (slide 5). R-23 is filed but not yet claimed. Walls shrink further: open</a:t>
            </a:r>
            <a:endParaRPr lang="en-US" sz="1200" dirty="0"/>
          </a:p>
        </p:txBody>
      </p:sp>
      <p:sp>
        <p:nvSpPr>
          <p:cNvPr id="29" name="Shape 26"/>
          <p:cNvSpPr/>
          <p:nvPr/>
        </p:nvSpPr>
        <p:spPr>
          <a:xfrm>
            <a:off x="548640" y="5669280"/>
            <a:ext cx="11094415" cy="502920"/>
          </a:xfrm>
          <a:prstGeom prst="roundRect">
            <a:avLst>
              <a:gd name="adj" fmla="val 10909"/>
            </a:avLst>
          </a:prstGeom>
          <a:solidFill>
            <a:schemeClr val="bg1"/>
          </a:solidFill>
          <a:ln w="15875">
            <a:solidFill>
              <a:schemeClr val="accent2"/>
            </a:solidFill>
            <a:prstDash val="solid"/>
          </a:ln>
        </p:spPr>
      </p:sp>
      <p:sp>
        <p:nvSpPr>
          <p:cNvPr id="30" name="Text 27"/>
          <p:cNvSpPr txBox="1"/>
          <p:nvPr/>
        </p:nvSpPr>
        <p:spPr>
          <a:xfrm>
            <a:off x="777240" y="5669280"/>
            <a:ext cx="10637215" cy="502920"/>
          </a:xfrm>
          <a:prstGeom prst="rect">
            <a:avLst/>
          </a:prstGeom>
          <a:noFill/>
          <a:ln/>
        </p:spPr>
        <p:txBody>
          <a:bodyPr wrap="square" lIns="0" tIns="0" rIns="0" bIns="0" rtlCol="0" anchor="ctr"/>
          <a:lstStyle/>
          <a:p>
            <a:pPr indent="0" marL="0">
              <a:buNone/>
            </a:pPr>
            <a:r>
              <a:rPr lang="en-US" sz="1250" b="1" dirty="0">
                <a:solidFill>
                  <a:schemeClr val="accent2"/>
                </a:solidFill>
              </a:rPr>
              <a:t>Honest status: </a:t>
            </a:r>
            <a:pPr indent="0" marL="0">
              <a:buNone/>
            </a:pPr>
            <a:r>
              <a:rPr lang="en-US" sz="1250" dirty="0">
                <a:solidFill>
                  <a:schemeClr val="tx1"/>
                </a:solidFill>
              </a:rPr>
              <a:t>meshes still don't close into a recognisable part. Next: the scale fix, then confirming the phone fix (slide 10) on a real device.</a:t>
            </a:r>
            <a:endParaRPr lang="en-US" sz="12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COMPLETED WORK · PROGRESS AND PROCESS</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Tabeen</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Progress so far, and how we keep it honest</a:t>
            </a:r>
            <a:endParaRPr lang="en-US" sz="3000" dirty="0"/>
          </a:p>
        </p:txBody>
      </p:sp>
      <p:sp>
        <p:nvSpPr>
          <p:cNvPr id="5" name="Shape 3"/>
          <p:cNvSpPr/>
          <p:nvPr/>
        </p:nvSpPr>
        <p:spPr>
          <a:xfrm>
            <a:off x="548640" y="1463040"/>
            <a:ext cx="2602154" cy="1417320"/>
          </a:xfrm>
          <a:prstGeom prst="roundRect">
            <a:avLst>
              <a:gd name="adj" fmla="val 4516"/>
            </a:avLst>
          </a:prstGeom>
          <a:solidFill>
            <a:schemeClr val="bg2"/>
          </a:solidFill>
          <a:ln w="12700">
            <a:solidFill>
              <a:schemeClr val="bg2"/>
            </a:solidFill>
            <a:prstDash val="solid"/>
          </a:ln>
        </p:spPr>
      </p:sp>
      <p:sp>
        <p:nvSpPr>
          <p:cNvPr id="6" name="Text 4"/>
          <p:cNvSpPr txBox="1"/>
          <p:nvPr/>
        </p:nvSpPr>
        <p:spPr>
          <a:xfrm>
            <a:off x="777240" y="1554480"/>
            <a:ext cx="2144954" cy="64008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40 / 44</a:t>
            </a:r>
            <a:endParaRPr lang="en-US" sz="3400" dirty="0"/>
          </a:p>
        </p:txBody>
      </p:sp>
      <p:sp>
        <p:nvSpPr>
          <p:cNvPr id="7" name="Text 5"/>
          <p:cNvSpPr txBox="1"/>
          <p:nvPr/>
        </p:nvSpPr>
        <p:spPr>
          <a:xfrm>
            <a:off x="777240" y="2212848"/>
            <a:ext cx="2144954" cy="274320"/>
          </a:xfrm>
          <a:prstGeom prst="rect">
            <a:avLst/>
          </a:prstGeom>
          <a:noFill/>
          <a:ln/>
        </p:spPr>
        <p:txBody>
          <a:bodyPr wrap="square" lIns="0" tIns="0" rIns="0" bIns="0" rtlCol="0" anchor="t"/>
          <a:lstStyle/>
          <a:p>
            <a:pPr indent="0" marL="0">
              <a:buNone/>
            </a:pPr>
            <a:r>
              <a:rPr lang="en-US" sz="1350" b="1" dirty="0">
                <a:solidFill>
                  <a:schemeClr val="tx1"/>
                </a:solidFill>
              </a:rPr>
              <a:t>stories done</a:t>
            </a:r>
            <a:endParaRPr lang="en-US" sz="1350" dirty="0"/>
          </a:p>
        </p:txBody>
      </p:sp>
      <p:sp>
        <p:nvSpPr>
          <p:cNvPr id="8" name="Text 6"/>
          <p:cNvSpPr txBox="1"/>
          <p:nvPr/>
        </p:nvSpPr>
        <p:spPr>
          <a:xfrm>
            <a:off x="777240" y="2505456"/>
            <a:ext cx="2144954" cy="274320"/>
          </a:xfrm>
          <a:prstGeom prst="rect">
            <a:avLst/>
          </a:prstGeom>
          <a:noFill/>
          <a:ln/>
        </p:spPr>
        <p:txBody>
          <a:bodyPr wrap="square" lIns="0" tIns="0" rIns="0" bIns="0" rtlCol="0" anchor="t"/>
          <a:lstStyle/>
          <a:p>
            <a:pPr indent="0" marL="0">
              <a:buNone/>
            </a:pPr>
            <a:r>
              <a:rPr lang="en-US" sz="1150" dirty="0">
                <a:solidFill>
                  <a:schemeClr val="accent4"/>
                </a:solidFill>
              </a:rPr>
              <a:t>2 open PRs, 1 filed, 1 blocked</a:t>
            </a:r>
            <a:endParaRPr lang="en-US" sz="1150" dirty="0"/>
          </a:p>
        </p:txBody>
      </p:sp>
      <p:sp>
        <p:nvSpPr>
          <p:cNvPr id="9" name="Shape 7"/>
          <p:cNvSpPr/>
          <p:nvPr/>
        </p:nvSpPr>
        <p:spPr>
          <a:xfrm>
            <a:off x="3379394" y="1463040"/>
            <a:ext cx="2602154" cy="1417320"/>
          </a:xfrm>
          <a:prstGeom prst="roundRect">
            <a:avLst>
              <a:gd name="adj" fmla="val 4516"/>
            </a:avLst>
          </a:prstGeom>
          <a:solidFill>
            <a:schemeClr val="bg2"/>
          </a:solidFill>
          <a:ln w="12700">
            <a:solidFill>
              <a:schemeClr val="bg2"/>
            </a:solidFill>
            <a:prstDash val="solid"/>
          </a:ln>
        </p:spPr>
      </p:sp>
      <p:sp>
        <p:nvSpPr>
          <p:cNvPr id="10" name="Text 8"/>
          <p:cNvSpPr txBox="1"/>
          <p:nvPr/>
        </p:nvSpPr>
        <p:spPr>
          <a:xfrm>
            <a:off x="3607994" y="1554480"/>
            <a:ext cx="2144954" cy="64008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130</a:t>
            </a:r>
            <a:endParaRPr lang="en-US" sz="3400" dirty="0"/>
          </a:p>
        </p:txBody>
      </p:sp>
      <p:sp>
        <p:nvSpPr>
          <p:cNvPr id="11" name="Text 9"/>
          <p:cNvSpPr txBox="1"/>
          <p:nvPr/>
        </p:nvSpPr>
        <p:spPr>
          <a:xfrm>
            <a:off x="3607994" y="2212848"/>
            <a:ext cx="2144954" cy="274320"/>
          </a:xfrm>
          <a:prstGeom prst="rect">
            <a:avLst/>
          </a:prstGeom>
          <a:noFill/>
          <a:ln/>
        </p:spPr>
        <p:txBody>
          <a:bodyPr wrap="square" lIns="0" tIns="0" rIns="0" bIns="0" rtlCol="0" anchor="t"/>
          <a:lstStyle/>
          <a:p>
            <a:pPr indent="0" marL="0">
              <a:buNone/>
            </a:pPr>
            <a:r>
              <a:rPr lang="en-US" sz="1350" b="1" dirty="0">
                <a:solidFill>
                  <a:schemeClr val="tx1"/>
                </a:solidFill>
              </a:rPr>
              <a:t>pull requests merged</a:t>
            </a:r>
            <a:endParaRPr lang="en-US" sz="1350" dirty="0"/>
          </a:p>
        </p:txBody>
      </p:sp>
      <p:sp>
        <p:nvSpPr>
          <p:cNvPr id="12" name="Text 10"/>
          <p:cNvSpPr txBox="1"/>
          <p:nvPr/>
        </p:nvSpPr>
        <p:spPr>
          <a:xfrm>
            <a:off x="3607994" y="2505456"/>
            <a:ext cx="2144954" cy="274320"/>
          </a:xfrm>
          <a:prstGeom prst="rect">
            <a:avLst/>
          </a:prstGeom>
          <a:noFill/>
          <a:ln/>
        </p:spPr>
        <p:txBody>
          <a:bodyPr wrap="square" lIns="0" tIns="0" rIns="0" bIns="0" rtlCol="0" anchor="t"/>
          <a:lstStyle/>
          <a:p>
            <a:pPr indent="0" marL="0">
              <a:buNone/>
            </a:pPr>
            <a:r>
              <a:rPr lang="en-US" sz="1150" dirty="0">
                <a:solidFill>
                  <a:schemeClr val="accent4"/>
                </a:solidFill>
              </a:rPr>
              <a:t>each approved by a teammate</a:t>
            </a:r>
            <a:endParaRPr lang="en-US" sz="1150" dirty="0"/>
          </a:p>
        </p:txBody>
      </p:sp>
      <p:sp>
        <p:nvSpPr>
          <p:cNvPr id="13" name="Shape 11"/>
          <p:cNvSpPr/>
          <p:nvPr/>
        </p:nvSpPr>
        <p:spPr>
          <a:xfrm>
            <a:off x="6210148" y="1463040"/>
            <a:ext cx="2602154" cy="1417320"/>
          </a:xfrm>
          <a:prstGeom prst="roundRect">
            <a:avLst>
              <a:gd name="adj" fmla="val 4516"/>
            </a:avLst>
          </a:prstGeom>
          <a:solidFill>
            <a:schemeClr val="bg2"/>
          </a:solidFill>
          <a:ln w="12700">
            <a:solidFill>
              <a:schemeClr val="bg2"/>
            </a:solidFill>
            <a:prstDash val="solid"/>
          </a:ln>
        </p:spPr>
      </p:sp>
      <p:sp>
        <p:nvSpPr>
          <p:cNvPr id="14" name="Text 12"/>
          <p:cNvSpPr txBox="1"/>
          <p:nvPr/>
        </p:nvSpPr>
        <p:spPr>
          <a:xfrm>
            <a:off x="6438748" y="1554480"/>
            <a:ext cx="2144954" cy="64008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585</a:t>
            </a:r>
            <a:endParaRPr lang="en-US" sz="3400" dirty="0"/>
          </a:p>
        </p:txBody>
      </p:sp>
      <p:sp>
        <p:nvSpPr>
          <p:cNvPr id="15" name="Text 13"/>
          <p:cNvSpPr txBox="1"/>
          <p:nvPr/>
        </p:nvSpPr>
        <p:spPr>
          <a:xfrm>
            <a:off x="6438748" y="2212848"/>
            <a:ext cx="2144954" cy="274320"/>
          </a:xfrm>
          <a:prstGeom prst="rect">
            <a:avLst/>
          </a:prstGeom>
          <a:noFill/>
          <a:ln/>
        </p:spPr>
        <p:txBody>
          <a:bodyPr wrap="square" lIns="0" tIns="0" rIns="0" bIns="0" rtlCol="0" anchor="t"/>
          <a:lstStyle/>
          <a:p>
            <a:pPr indent="0" marL="0">
              <a:buNone/>
            </a:pPr>
            <a:r>
              <a:rPr lang="en-US" sz="1350" b="1" dirty="0">
                <a:solidFill>
                  <a:schemeClr val="tx1"/>
                </a:solidFill>
              </a:rPr>
              <a:t>automated tests passing</a:t>
            </a:r>
            <a:endParaRPr lang="en-US" sz="1350" dirty="0"/>
          </a:p>
        </p:txBody>
      </p:sp>
      <p:sp>
        <p:nvSpPr>
          <p:cNvPr id="16" name="Text 14"/>
          <p:cNvSpPr txBox="1"/>
          <p:nvPr/>
        </p:nvSpPr>
        <p:spPr>
          <a:xfrm>
            <a:off x="6438748" y="2505456"/>
            <a:ext cx="2144954" cy="274320"/>
          </a:xfrm>
          <a:prstGeom prst="rect">
            <a:avLst/>
          </a:prstGeom>
          <a:noFill/>
          <a:ln/>
        </p:spPr>
        <p:txBody>
          <a:bodyPr wrap="square" lIns="0" tIns="0" rIns="0" bIns="0" rtlCol="0" anchor="t"/>
          <a:lstStyle/>
          <a:p>
            <a:pPr indent="0" marL="0">
              <a:buNone/>
            </a:pPr>
            <a:r>
              <a:rPr lang="en-US" sz="1150" dirty="0">
                <a:solidFill>
                  <a:schemeClr val="accent4"/>
                </a:solidFill>
              </a:rPr>
              <a:t>404 Python · 181 TypeScript</a:t>
            </a:r>
            <a:endParaRPr lang="en-US" sz="1150" dirty="0"/>
          </a:p>
        </p:txBody>
      </p:sp>
      <p:sp>
        <p:nvSpPr>
          <p:cNvPr id="17" name="Shape 15"/>
          <p:cNvSpPr/>
          <p:nvPr/>
        </p:nvSpPr>
        <p:spPr>
          <a:xfrm>
            <a:off x="9040901" y="1463040"/>
            <a:ext cx="2602154" cy="1417320"/>
          </a:xfrm>
          <a:prstGeom prst="roundRect">
            <a:avLst>
              <a:gd name="adj" fmla="val 4516"/>
            </a:avLst>
          </a:prstGeom>
          <a:solidFill>
            <a:schemeClr val="bg2"/>
          </a:solidFill>
          <a:ln w="12700">
            <a:solidFill>
              <a:schemeClr val="bg2"/>
            </a:solidFill>
            <a:prstDash val="solid"/>
          </a:ln>
        </p:spPr>
      </p:sp>
      <p:sp>
        <p:nvSpPr>
          <p:cNvPr id="18" name="Text 16"/>
          <p:cNvSpPr txBox="1"/>
          <p:nvPr/>
        </p:nvSpPr>
        <p:spPr>
          <a:xfrm>
            <a:off x="9269501" y="1554480"/>
            <a:ext cx="2144954" cy="64008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45</a:t>
            </a:r>
            <a:endParaRPr lang="en-US" sz="3400" dirty="0"/>
          </a:p>
        </p:txBody>
      </p:sp>
      <p:sp>
        <p:nvSpPr>
          <p:cNvPr id="19" name="Text 17"/>
          <p:cNvSpPr txBox="1"/>
          <p:nvPr/>
        </p:nvSpPr>
        <p:spPr>
          <a:xfrm>
            <a:off x="9269501" y="2212848"/>
            <a:ext cx="2144954" cy="274320"/>
          </a:xfrm>
          <a:prstGeom prst="rect">
            <a:avLst/>
          </a:prstGeom>
          <a:noFill/>
          <a:ln/>
        </p:spPr>
        <p:txBody>
          <a:bodyPr wrap="square" lIns="0" tIns="0" rIns="0" bIns="0" rtlCol="0" anchor="t"/>
          <a:lstStyle/>
          <a:p>
            <a:pPr indent="0" marL="0">
              <a:buNone/>
            </a:pPr>
            <a:r>
              <a:rPr lang="en-US" sz="1350" b="1" dirty="0">
                <a:solidFill>
                  <a:schemeClr val="tx1"/>
                </a:solidFill>
              </a:rPr>
              <a:t>decisions recorded</a:t>
            </a:r>
            <a:endParaRPr lang="en-US" sz="1350" dirty="0"/>
          </a:p>
        </p:txBody>
      </p:sp>
      <p:sp>
        <p:nvSpPr>
          <p:cNvPr id="20" name="Text 18"/>
          <p:cNvSpPr txBox="1"/>
          <p:nvPr/>
        </p:nvSpPr>
        <p:spPr>
          <a:xfrm>
            <a:off x="9269501" y="2505456"/>
            <a:ext cx="2144954" cy="274320"/>
          </a:xfrm>
          <a:prstGeom prst="rect">
            <a:avLst/>
          </a:prstGeom>
          <a:noFill/>
          <a:ln/>
        </p:spPr>
        <p:txBody>
          <a:bodyPr wrap="square" lIns="0" tIns="0" rIns="0" bIns="0" rtlCol="0" anchor="t"/>
          <a:lstStyle/>
          <a:p>
            <a:pPr indent="0" marL="0">
              <a:buNone/>
            </a:pPr>
            <a:r>
              <a:rPr lang="en-US" sz="1150" dirty="0">
                <a:solidFill>
                  <a:schemeClr val="accent4"/>
                </a:solidFill>
              </a:rPr>
              <a:t>each with its reasoning</a:t>
            </a:r>
            <a:endParaRPr lang="en-US" sz="1150" dirty="0"/>
          </a:p>
        </p:txBody>
      </p:sp>
      <p:sp>
        <p:nvSpPr>
          <p:cNvPr id="21" name="Text 19"/>
          <p:cNvSpPr txBox="1"/>
          <p:nvPr/>
        </p:nvSpPr>
        <p:spPr>
          <a:xfrm>
            <a:off x="548640" y="3200400"/>
            <a:ext cx="5120640" cy="274320"/>
          </a:xfrm>
          <a:prstGeom prst="rect">
            <a:avLst/>
          </a:prstGeom>
          <a:noFill/>
          <a:ln/>
        </p:spPr>
        <p:txBody>
          <a:bodyPr wrap="square" lIns="0" tIns="0" rIns="0" bIns="0" rtlCol="0" anchor="t"/>
          <a:lstStyle/>
          <a:p>
            <a:pPr indent="0" marL="0">
              <a:buNone/>
            </a:pPr>
            <a:r>
              <a:rPr lang="en-US" sz="1300" b="1" dirty="0">
                <a:solidFill>
                  <a:schemeClr val="tx1"/>
                </a:solidFill>
              </a:rPr>
              <a:t>Stories done, by area of the code</a:t>
            </a:r>
            <a:endParaRPr lang="en-US" sz="1300" dirty="0"/>
          </a:p>
        </p:txBody>
      </p:sp>
      <p:sp>
        <p:nvSpPr>
          <p:cNvPr id="22" name="Text 20"/>
          <p:cNvSpPr txBox="1"/>
          <p:nvPr/>
        </p:nvSpPr>
        <p:spPr>
          <a:xfrm>
            <a:off x="548640" y="3657600"/>
            <a:ext cx="2103120" cy="329184"/>
          </a:xfrm>
          <a:prstGeom prst="rect">
            <a:avLst/>
          </a:prstGeom>
          <a:noFill/>
          <a:ln/>
        </p:spPr>
        <p:txBody>
          <a:bodyPr wrap="square" lIns="0" tIns="0" rIns="0" bIns="0" rtlCol="0" anchor="ctr"/>
          <a:lstStyle/>
          <a:p>
            <a:pPr indent="0" marL="0">
              <a:buNone/>
            </a:pPr>
            <a:r>
              <a:rPr lang="en-US" sz="1250" dirty="0">
                <a:solidFill>
                  <a:schemeClr val="tx1"/>
                </a:solidFill>
              </a:rPr>
              <a:t>Foundations</a:t>
            </a:r>
            <a:endParaRPr lang="en-US" sz="1250" dirty="0"/>
          </a:p>
        </p:txBody>
      </p:sp>
      <p:sp>
        <p:nvSpPr>
          <p:cNvPr id="23" name="Shape 21"/>
          <p:cNvSpPr/>
          <p:nvPr/>
        </p:nvSpPr>
        <p:spPr>
          <a:xfrm>
            <a:off x="2697480" y="3712464"/>
            <a:ext cx="3017520" cy="219456"/>
          </a:xfrm>
          <a:prstGeom prst="roundRect">
            <a:avLst>
              <a:gd name="adj" fmla="val 50000"/>
            </a:avLst>
          </a:prstGeom>
          <a:solidFill>
            <a:schemeClr val="bg2"/>
          </a:solidFill>
          <a:ln w="12700">
            <a:solidFill>
              <a:schemeClr val="bg2"/>
            </a:solidFill>
            <a:prstDash val="solid"/>
          </a:ln>
        </p:spPr>
      </p:sp>
      <p:sp>
        <p:nvSpPr>
          <p:cNvPr id="24" name="Shape 22"/>
          <p:cNvSpPr/>
          <p:nvPr/>
        </p:nvSpPr>
        <p:spPr>
          <a:xfrm>
            <a:off x="2697480" y="3712464"/>
            <a:ext cx="3017520" cy="219456"/>
          </a:xfrm>
          <a:prstGeom prst="roundRect">
            <a:avLst>
              <a:gd name="adj" fmla="val 50000"/>
            </a:avLst>
          </a:prstGeom>
          <a:solidFill>
            <a:schemeClr val="accent1"/>
          </a:solidFill>
          <a:ln w="12700">
            <a:solidFill>
              <a:schemeClr val="accent1"/>
            </a:solidFill>
            <a:prstDash val="solid"/>
          </a:ln>
        </p:spPr>
      </p:sp>
      <p:sp>
        <p:nvSpPr>
          <p:cNvPr id="25" name="Text 23"/>
          <p:cNvSpPr txBox="1"/>
          <p:nvPr/>
        </p:nvSpPr>
        <p:spPr>
          <a:xfrm>
            <a:off x="5824728" y="3657600"/>
            <a:ext cx="640080" cy="329184"/>
          </a:xfrm>
          <a:prstGeom prst="rect">
            <a:avLst/>
          </a:prstGeom>
          <a:noFill/>
          <a:ln/>
        </p:spPr>
        <p:txBody>
          <a:bodyPr wrap="square" lIns="0" tIns="0" rIns="0" bIns="0" rtlCol="0" anchor="ctr"/>
          <a:lstStyle/>
          <a:p>
            <a:pPr indent="0" marL="0">
              <a:buNone/>
            </a:pPr>
            <a:r>
              <a:rPr lang="en-US" sz="1250" b="1" dirty="0">
                <a:solidFill>
                  <a:schemeClr val="tx1"/>
                </a:solidFill>
              </a:rPr>
              <a:t>7/7</a:t>
            </a:r>
            <a:endParaRPr lang="en-US" sz="1250" dirty="0"/>
          </a:p>
        </p:txBody>
      </p:sp>
      <p:sp>
        <p:nvSpPr>
          <p:cNvPr id="26" name="Text 24"/>
          <p:cNvSpPr txBox="1"/>
          <p:nvPr/>
        </p:nvSpPr>
        <p:spPr>
          <a:xfrm>
            <a:off x="548640" y="4224528"/>
            <a:ext cx="2103120" cy="329184"/>
          </a:xfrm>
          <a:prstGeom prst="rect">
            <a:avLst/>
          </a:prstGeom>
          <a:noFill/>
          <a:ln/>
        </p:spPr>
        <p:txBody>
          <a:bodyPr wrap="square" lIns="0" tIns="0" rIns="0" bIns="0" rtlCol="0" anchor="ctr"/>
          <a:lstStyle/>
          <a:p>
            <a:pPr indent="0" marL="0">
              <a:buNone/>
            </a:pPr>
            <a:r>
              <a:rPr lang="en-US" sz="1250" dirty="0">
                <a:solidFill>
                  <a:schemeClr val="tx1"/>
                </a:solidFill>
              </a:rPr>
              <a:t>Reconstruction engine</a:t>
            </a:r>
            <a:endParaRPr lang="en-US" sz="1250" dirty="0"/>
          </a:p>
        </p:txBody>
      </p:sp>
      <p:sp>
        <p:nvSpPr>
          <p:cNvPr id="27" name="Shape 25"/>
          <p:cNvSpPr/>
          <p:nvPr/>
        </p:nvSpPr>
        <p:spPr>
          <a:xfrm>
            <a:off x="2697480" y="4279392"/>
            <a:ext cx="3017520" cy="219456"/>
          </a:xfrm>
          <a:prstGeom prst="roundRect">
            <a:avLst>
              <a:gd name="adj" fmla="val 50000"/>
            </a:avLst>
          </a:prstGeom>
          <a:solidFill>
            <a:schemeClr val="bg2"/>
          </a:solidFill>
          <a:ln w="12700">
            <a:solidFill>
              <a:schemeClr val="bg2"/>
            </a:solidFill>
            <a:prstDash val="solid"/>
          </a:ln>
        </p:spPr>
      </p:sp>
      <p:sp>
        <p:nvSpPr>
          <p:cNvPr id="28" name="Shape 26"/>
          <p:cNvSpPr/>
          <p:nvPr/>
        </p:nvSpPr>
        <p:spPr>
          <a:xfrm>
            <a:off x="2697480" y="4279392"/>
            <a:ext cx="2766060" cy="219456"/>
          </a:xfrm>
          <a:prstGeom prst="roundRect">
            <a:avLst>
              <a:gd name="adj" fmla="val 50000"/>
            </a:avLst>
          </a:prstGeom>
          <a:solidFill>
            <a:schemeClr val="accent1"/>
          </a:solidFill>
          <a:ln w="12700">
            <a:solidFill>
              <a:schemeClr val="accent1"/>
            </a:solidFill>
            <a:prstDash val="solid"/>
          </a:ln>
        </p:spPr>
      </p:sp>
      <p:sp>
        <p:nvSpPr>
          <p:cNvPr id="29" name="Text 27"/>
          <p:cNvSpPr txBox="1"/>
          <p:nvPr/>
        </p:nvSpPr>
        <p:spPr>
          <a:xfrm>
            <a:off x="5824728" y="4224528"/>
            <a:ext cx="640080" cy="329184"/>
          </a:xfrm>
          <a:prstGeom prst="rect">
            <a:avLst/>
          </a:prstGeom>
          <a:noFill/>
          <a:ln/>
        </p:spPr>
        <p:txBody>
          <a:bodyPr wrap="square" lIns="0" tIns="0" rIns="0" bIns="0" rtlCol="0" anchor="ctr"/>
          <a:lstStyle/>
          <a:p>
            <a:pPr indent="0" marL="0">
              <a:buNone/>
            </a:pPr>
            <a:r>
              <a:rPr lang="en-US" sz="1250" b="1" dirty="0">
                <a:solidFill>
                  <a:schemeClr val="tx1"/>
                </a:solidFill>
              </a:rPr>
              <a:t>22/24</a:t>
            </a:r>
            <a:endParaRPr lang="en-US" sz="1250" dirty="0"/>
          </a:p>
        </p:txBody>
      </p:sp>
      <p:sp>
        <p:nvSpPr>
          <p:cNvPr id="30" name="Text 28"/>
          <p:cNvSpPr txBox="1"/>
          <p:nvPr/>
        </p:nvSpPr>
        <p:spPr>
          <a:xfrm>
            <a:off x="548640" y="4791456"/>
            <a:ext cx="2103120" cy="329184"/>
          </a:xfrm>
          <a:prstGeom prst="rect">
            <a:avLst/>
          </a:prstGeom>
          <a:noFill/>
          <a:ln/>
        </p:spPr>
        <p:txBody>
          <a:bodyPr wrap="square" lIns="0" tIns="0" rIns="0" bIns="0" rtlCol="0" anchor="ctr"/>
          <a:lstStyle/>
          <a:p>
            <a:pPr indent="0" marL="0">
              <a:buNone/>
            </a:pPr>
            <a:r>
              <a:rPr lang="en-US" sz="1250" dirty="0">
                <a:solidFill>
                  <a:schemeClr val="tx1"/>
                </a:solidFill>
              </a:rPr>
              <a:t>Capture app</a:t>
            </a:r>
            <a:endParaRPr lang="en-US" sz="1250" dirty="0"/>
          </a:p>
        </p:txBody>
      </p:sp>
      <p:sp>
        <p:nvSpPr>
          <p:cNvPr id="31" name="Shape 29"/>
          <p:cNvSpPr/>
          <p:nvPr/>
        </p:nvSpPr>
        <p:spPr>
          <a:xfrm>
            <a:off x="2697480" y="4846320"/>
            <a:ext cx="3017520" cy="219456"/>
          </a:xfrm>
          <a:prstGeom prst="roundRect">
            <a:avLst>
              <a:gd name="adj" fmla="val 50000"/>
            </a:avLst>
          </a:prstGeom>
          <a:solidFill>
            <a:schemeClr val="bg2"/>
          </a:solidFill>
          <a:ln w="12700">
            <a:solidFill>
              <a:schemeClr val="bg2"/>
            </a:solidFill>
            <a:prstDash val="solid"/>
          </a:ln>
        </p:spPr>
      </p:sp>
      <p:sp>
        <p:nvSpPr>
          <p:cNvPr id="32" name="Shape 30"/>
          <p:cNvSpPr/>
          <p:nvPr/>
        </p:nvSpPr>
        <p:spPr>
          <a:xfrm>
            <a:off x="2697480" y="4846320"/>
            <a:ext cx="2553286" cy="219456"/>
          </a:xfrm>
          <a:prstGeom prst="roundRect">
            <a:avLst>
              <a:gd name="adj" fmla="val 50000"/>
            </a:avLst>
          </a:prstGeom>
          <a:solidFill>
            <a:schemeClr val="accent1"/>
          </a:solidFill>
          <a:ln w="12700">
            <a:solidFill>
              <a:schemeClr val="accent1"/>
            </a:solidFill>
            <a:prstDash val="solid"/>
          </a:ln>
        </p:spPr>
      </p:sp>
      <p:sp>
        <p:nvSpPr>
          <p:cNvPr id="33" name="Text 31"/>
          <p:cNvSpPr txBox="1"/>
          <p:nvPr/>
        </p:nvSpPr>
        <p:spPr>
          <a:xfrm>
            <a:off x="5824728" y="4791456"/>
            <a:ext cx="640080" cy="329184"/>
          </a:xfrm>
          <a:prstGeom prst="rect">
            <a:avLst/>
          </a:prstGeom>
          <a:noFill/>
          <a:ln/>
        </p:spPr>
        <p:txBody>
          <a:bodyPr wrap="square" lIns="0" tIns="0" rIns="0" bIns="0" rtlCol="0" anchor="ctr"/>
          <a:lstStyle/>
          <a:p>
            <a:pPr indent="0" marL="0">
              <a:buNone/>
            </a:pPr>
            <a:r>
              <a:rPr lang="en-US" sz="1250" b="1" dirty="0">
                <a:solidFill>
                  <a:schemeClr val="tx1"/>
                </a:solidFill>
              </a:rPr>
              <a:t>11/13</a:t>
            </a:r>
            <a:endParaRPr lang="en-US" sz="1250" dirty="0"/>
          </a:p>
        </p:txBody>
      </p:sp>
      <p:sp>
        <p:nvSpPr>
          <p:cNvPr id="34" name="Text 32"/>
          <p:cNvSpPr txBox="1"/>
          <p:nvPr/>
        </p:nvSpPr>
        <p:spPr>
          <a:xfrm>
            <a:off x="548640" y="5440680"/>
            <a:ext cx="5394960" cy="548640"/>
          </a:xfrm>
          <a:prstGeom prst="rect">
            <a:avLst/>
          </a:prstGeom>
          <a:noFill/>
          <a:ln/>
        </p:spPr>
        <p:txBody>
          <a:bodyPr wrap="square" lIns="0" tIns="0" rIns="0" bIns="0" rtlCol="0" anchor="t"/>
          <a:lstStyle/>
          <a:p>
            <a:pPr indent="0" marL="0">
              <a:buNone/>
            </a:pPr>
            <a:r>
              <a:rPr lang="en-US" sz="1100" i="1" dirty="0">
                <a:solidFill>
                  <a:schemeClr val="accent4"/>
                </a:solidFill>
              </a:rPr>
              <a:t>Inspection, ground truth and generative-AI stories are written one sprint ahead, so they are not counted yet.</a:t>
            </a:r>
            <a:endParaRPr lang="en-US" sz="1100" dirty="0"/>
          </a:p>
        </p:txBody>
      </p:sp>
      <p:sp>
        <p:nvSpPr>
          <p:cNvPr id="35" name="Text 33"/>
          <p:cNvSpPr txBox="1"/>
          <p:nvPr/>
        </p:nvSpPr>
        <p:spPr>
          <a:xfrm>
            <a:off x="6537960" y="3200400"/>
            <a:ext cx="5105095" cy="274320"/>
          </a:xfrm>
          <a:prstGeom prst="rect">
            <a:avLst/>
          </a:prstGeom>
          <a:noFill/>
          <a:ln/>
        </p:spPr>
        <p:txBody>
          <a:bodyPr wrap="square" lIns="0" tIns="0" rIns="0" bIns="0" rtlCol="0" anchor="t"/>
          <a:lstStyle/>
          <a:p>
            <a:pPr indent="0" marL="0">
              <a:buNone/>
            </a:pPr>
            <a:r>
              <a:rPr lang="en-US" sz="1300" b="1" dirty="0">
                <a:solidFill>
                  <a:schemeClr val="tx1"/>
                </a:solidFill>
              </a:rPr>
              <a:t>Every story goes through the same gate</a:t>
            </a:r>
            <a:endParaRPr lang="en-US" sz="1300" dirty="0"/>
          </a:p>
        </p:txBody>
      </p:sp>
      <p:sp>
        <p:nvSpPr>
          <p:cNvPr id="36" name="Shape 34"/>
          <p:cNvSpPr/>
          <p:nvPr/>
        </p:nvSpPr>
        <p:spPr>
          <a:xfrm>
            <a:off x="6537960" y="3639312"/>
            <a:ext cx="310896" cy="310896"/>
          </a:xfrm>
          <a:prstGeom prst="ellipse">
            <a:avLst/>
          </a:prstGeom>
          <a:solidFill>
            <a:schemeClr val="accent1"/>
          </a:solidFill>
          <a:ln w="12700">
            <a:solidFill>
              <a:schemeClr val="accent1"/>
            </a:solidFill>
            <a:prstDash val="solid"/>
          </a:ln>
        </p:spPr>
      </p:sp>
      <p:sp>
        <p:nvSpPr>
          <p:cNvPr id="37" name="Text 35"/>
          <p:cNvSpPr txBox="1"/>
          <p:nvPr/>
        </p:nvSpPr>
        <p:spPr>
          <a:xfrm>
            <a:off x="6537960" y="3639312"/>
            <a:ext cx="310896" cy="310896"/>
          </a:xfrm>
          <a:prstGeom prst="rect">
            <a:avLst/>
          </a:prstGeom>
          <a:noFill/>
          <a:ln/>
        </p:spPr>
        <p:txBody>
          <a:bodyPr wrap="square" lIns="0" tIns="0" rIns="0" bIns="0" rtlCol="0" anchor="ctr"/>
          <a:lstStyle/>
          <a:p>
            <a:pPr algn="ctr" indent="0" marL="0">
              <a:buNone/>
            </a:pPr>
            <a:r>
              <a:rPr lang="en-US" sz="1156" b="1" dirty="0">
                <a:solidFill>
                  <a:schemeClr val="bg1"/>
                </a:solidFill>
              </a:rPr>
              <a:t>1</a:t>
            </a:r>
            <a:endParaRPr lang="en-US" sz="1156" dirty="0"/>
          </a:p>
        </p:txBody>
      </p:sp>
      <p:sp>
        <p:nvSpPr>
          <p:cNvPr id="38" name="Text 36"/>
          <p:cNvSpPr txBox="1"/>
          <p:nvPr/>
        </p:nvSpPr>
        <p:spPr>
          <a:xfrm>
            <a:off x="6995160" y="3611880"/>
            <a:ext cx="4647895" cy="365760"/>
          </a:xfrm>
          <a:prstGeom prst="rect">
            <a:avLst/>
          </a:prstGeom>
          <a:noFill/>
          <a:ln/>
        </p:spPr>
        <p:txBody>
          <a:bodyPr wrap="square" lIns="0" tIns="0" rIns="0" bIns="0" rtlCol="0" anchor="ctr"/>
          <a:lstStyle/>
          <a:p>
            <a:pPr indent="0" marL="0">
              <a:buNone/>
            </a:pPr>
            <a:r>
              <a:rPr lang="en-US" sz="1300" dirty="0">
                <a:solidFill>
                  <a:schemeClr val="tx1"/>
                </a:solidFill>
              </a:rPr>
              <a:t>Story file with testable criteria</a:t>
            </a:r>
            <a:endParaRPr lang="en-US" sz="1300" dirty="0"/>
          </a:p>
        </p:txBody>
      </p:sp>
      <p:sp>
        <p:nvSpPr>
          <p:cNvPr id="39" name="Shape 37"/>
          <p:cNvSpPr/>
          <p:nvPr/>
        </p:nvSpPr>
        <p:spPr>
          <a:xfrm>
            <a:off x="6537960" y="4114800"/>
            <a:ext cx="310896" cy="310896"/>
          </a:xfrm>
          <a:prstGeom prst="ellipse">
            <a:avLst/>
          </a:prstGeom>
          <a:solidFill>
            <a:schemeClr val="accent1"/>
          </a:solidFill>
          <a:ln w="12700">
            <a:solidFill>
              <a:schemeClr val="accent1"/>
            </a:solidFill>
            <a:prstDash val="solid"/>
          </a:ln>
        </p:spPr>
      </p:sp>
      <p:sp>
        <p:nvSpPr>
          <p:cNvPr id="40" name="Text 38"/>
          <p:cNvSpPr txBox="1"/>
          <p:nvPr/>
        </p:nvSpPr>
        <p:spPr>
          <a:xfrm>
            <a:off x="6537960" y="4114800"/>
            <a:ext cx="310896" cy="310896"/>
          </a:xfrm>
          <a:prstGeom prst="rect">
            <a:avLst/>
          </a:prstGeom>
          <a:noFill/>
          <a:ln/>
        </p:spPr>
        <p:txBody>
          <a:bodyPr wrap="square" lIns="0" tIns="0" rIns="0" bIns="0" rtlCol="0" anchor="ctr"/>
          <a:lstStyle/>
          <a:p>
            <a:pPr algn="ctr" indent="0" marL="0">
              <a:buNone/>
            </a:pPr>
            <a:r>
              <a:rPr lang="en-US" sz="1156" b="1" dirty="0">
                <a:solidFill>
                  <a:schemeClr val="bg1"/>
                </a:solidFill>
              </a:rPr>
              <a:t>2</a:t>
            </a:r>
            <a:endParaRPr lang="en-US" sz="1156" dirty="0"/>
          </a:p>
        </p:txBody>
      </p:sp>
      <p:sp>
        <p:nvSpPr>
          <p:cNvPr id="41" name="Text 39"/>
          <p:cNvSpPr txBox="1"/>
          <p:nvPr/>
        </p:nvSpPr>
        <p:spPr>
          <a:xfrm>
            <a:off x="6995160" y="4087368"/>
            <a:ext cx="4647895" cy="365760"/>
          </a:xfrm>
          <a:prstGeom prst="rect">
            <a:avLst/>
          </a:prstGeom>
          <a:noFill/>
          <a:ln/>
        </p:spPr>
        <p:txBody>
          <a:bodyPr wrap="square" lIns="0" tIns="0" rIns="0" bIns="0" rtlCol="0" anchor="ctr"/>
          <a:lstStyle/>
          <a:p>
            <a:pPr indent="0" marL="0">
              <a:buNone/>
            </a:pPr>
            <a:r>
              <a:rPr lang="en-US" sz="1300" dirty="0">
                <a:solidFill>
                  <a:schemeClr val="tx1"/>
                </a:solidFill>
              </a:rPr>
              <a:t>Claimed by one person, on main</a:t>
            </a:r>
            <a:endParaRPr lang="en-US" sz="1300" dirty="0"/>
          </a:p>
        </p:txBody>
      </p:sp>
      <p:sp>
        <p:nvSpPr>
          <p:cNvPr id="42" name="Shape 40"/>
          <p:cNvSpPr/>
          <p:nvPr/>
        </p:nvSpPr>
        <p:spPr>
          <a:xfrm>
            <a:off x="6537960" y="4590288"/>
            <a:ext cx="310896" cy="310896"/>
          </a:xfrm>
          <a:prstGeom prst="ellipse">
            <a:avLst/>
          </a:prstGeom>
          <a:solidFill>
            <a:schemeClr val="accent1"/>
          </a:solidFill>
          <a:ln w="12700">
            <a:solidFill>
              <a:schemeClr val="accent1"/>
            </a:solidFill>
            <a:prstDash val="solid"/>
          </a:ln>
        </p:spPr>
      </p:sp>
      <p:sp>
        <p:nvSpPr>
          <p:cNvPr id="43" name="Text 41"/>
          <p:cNvSpPr txBox="1"/>
          <p:nvPr/>
        </p:nvSpPr>
        <p:spPr>
          <a:xfrm>
            <a:off x="6537960" y="4590288"/>
            <a:ext cx="310896" cy="310896"/>
          </a:xfrm>
          <a:prstGeom prst="rect">
            <a:avLst/>
          </a:prstGeom>
          <a:noFill/>
          <a:ln/>
        </p:spPr>
        <p:txBody>
          <a:bodyPr wrap="square" lIns="0" tIns="0" rIns="0" bIns="0" rtlCol="0" anchor="ctr"/>
          <a:lstStyle/>
          <a:p>
            <a:pPr algn="ctr" indent="0" marL="0">
              <a:buNone/>
            </a:pPr>
            <a:r>
              <a:rPr lang="en-US" sz="1156" b="1" dirty="0">
                <a:solidFill>
                  <a:schemeClr val="bg1"/>
                </a:solidFill>
              </a:rPr>
              <a:t>3</a:t>
            </a:r>
            <a:endParaRPr lang="en-US" sz="1156" dirty="0"/>
          </a:p>
        </p:txBody>
      </p:sp>
      <p:sp>
        <p:nvSpPr>
          <p:cNvPr id="44" name="Text 42"/>
          <p:cNvSpPr txBox="1"/>
          <p:nvPr/>
        </p:nvSpPr>
        <p:spPr>
          <a:xfrm>
            <a:off x="6995160" y="4562856"/>
            <a:ext cx="4647895" cy="365760"/>
          </a:xfrm>
          <a:prstGeom prst="rect">
            <a:avLst/>
          </a:prstGeom>
          <a:noFill/>
          <a:ln/>
        </p:spPr>
        <p:txBody>
          <a:bodyPr wrap="square" lIns="0" tIns="0" rIns="0" bIns="0" rtlCol="0" anchor="ctr"/>
          <a:lstStyle/>
          <a:p>
            <a:pPr indent="0" marL="0">
              <a:buNone/>
            </a:pPr>
            <a:r>
              <a:rPr lang="en-US" sz="1300" dirty="0">
                <a:solidFill>
                  <a:schemeClr val="tx1"/>
                </a:solidFill>
              </a:rPr>
              <a:t>Tests written with the code</a:t>
            </a:r>
            <a:endParaRPr lang="en-US" sz="1300" dirty="0"/>
          </a:p>
        </p:txBody>
      </p:sp>
      <p:sp>
        <p:nvSpPr>
          <p:cNvPr id="45" name="Shape 43"/>
          <p:cNvSpPr/>
          <p:nvPr/>
        </p:nvSpPr>
        <p:spPr>
          <a:xfrm>
            <a:off x="6537960" y="5065776"/>
            <a:ext cx="310896" cy="310896"/>
          </a:xfrm>
          <a:prstGeom prst="ellipse">
            <a:avLst/>
          </a:prstGeom>
          <a:solidFill>
            <a:schemeClr val="accent1"/>
          </a:solidFill>
          <a:ln w="12700">
            <a:solidFill>
              <a:schemeClr val="accent1"/>
            </a:solidFill>
            <a:prstDash val="solid"/>
          </a:ln>
        </p:spPr>
      </p:sp>
      <p:sp>
        <p:nvSpPr>
          <p:cNvPr id="46" name="Text 44"/>
          <p:cNvSpPr txBox="1"/>
          <p:nvPr/>
        </p:nvSpPr>
        <p:spPr>
          <a:xfrm>
            <a:off x="6537960" y="5065776"/>
            <a:ext cx="310896" cy="310896"/>
          </a:xfrm>
          <a:prstGeom prst="rect">
            <a:avLst/>
          </a:prstGeom>
          <a:noFill/>
          <a:ln/>
        </p:spPr>
        <p:txBody>
          <a:bodyPr wrap="square" lIns="0" tIns="0" rIns="0" bIns="0" rtlCol="0" anchor="ctr"/>
          <a:lstStyle/>
          <a:p>
            <a:pPr algn="ctr" indent="0" marL="0">
              <a:buNone/>
            </a:pPr>
            <a:r>
              <a:rPr lang="en-US" sz="1156" b="1" dirty="0">
                <a:solidFill>
                  <a:schemeClr val="bg1"/>
                </a:solidFill>
              </a:rPr>
              <a:t>4</a:t>
            </a:r>
            <a:endParaRPr lang="en-US" sz="1156" dirty="0"/>
          </a:p>
        </p:txBody>
      </p:sp>
      <p:sp>
        <p:nvSpPr>
          <p:cNvPr id="47" name="Text 45"/>
          <p:cNvSpPr txBox="1"/>
          <p:nvPr/>
        </p:nvSpPr>
        <p:spPr>
          <a:xfrm>
            <a:off x="6995160" y="5038344"/>
            <a:ext cx="4647895" cy="365760"/>
          </a:xfrm>
          <a:prstGeom prst="rect">
            <a:avLst/>
          </a:prstGeom>
          <a:noFill/>
          <a:ln/>
        </p:spPr>
        <p:txBody>
          <a:bodyPr wrap="square" lIns="0" tIns="0" rIns="0" bIns="0" rtlCol="0" anchor="ctr"/>
          <a:lstStyle/>
          <a:p>
            <a:pPr indent="0" marL="0">
              <a:buNone/>
            </a:pPr>
            <a:r>
              <a:rPr lang="en-US" sz="1300" dirty="0">
                <a:solidFill>
                  <a:schemeClr val="tx1"/>
                </a:solidFill>
              </a:rPr>
              <a:t>Pull request + CI + teammate review</a:t>
            </a:r>
            <a:endParaRPr lang="en-US" sz="1300" dirty="0"/>
          </a:p>
        </p:txBody>
      </p:sp>
      <p:sp>
        <p:nvSpPr>
          <p:cNvPr id="48" name="Shape 46"/>
          <p:cNvSpPr/>
          <p:nvPr/>
        </p:nvSpPr>
        <p:spPr>
          <a:xfrm>
            <a:off x="6537960" y="5541264"/>
            <a:ext cx="310896" cy="310896"/>
          </a:xfrm>
          <a:prstGeom prst="ellipse">
            <a:avLst/>
          </a:prstGeom>
          <a:solidFill>
            <a:schemeClr val="accent1"/>
          </a:solidFill>
          <a:ln w="12700">
            <a:solidFill>
              <a:schemeClr val="accent1"/>
            </a:solidFill>
            <a:prstDash val="solid"/>
          </a:ln>
        </p:spPr>
      </p:sp>
      <p:sp>
        <p:nvSpPr>
          <p:cNvPr id="49" name="Text 47"/>
          <p:cNvSpPr txBox="1"/>
          <p:nvPr/>
        </p:nvSpPr>
        <p:spPr>
          <a:xfrm>
            <a:off x="6537960" y="5541264"/>
            <a:ext cx="310896" cy="310896"/>
          </a:xfrm>
          <a:prstGeom prst="rect">
            <a:avLst/>
          </a:prstGeom>
          <a:noFill/>
          <a:ln/>
        </p:spPr>
        <p:txBody>
          <a:bodyPr wrap="square" lIns="0" tIns="0" rIns="0" bIns="0" rtlCol="0" anchor="ctr"/>
          <a:lstStyle/>
          <a:p>
            <a:pPr algn="ctr" indent="0" marL="0">
              <a:buNone/>
            </a:pPr>
            <a:r>
              <a:rPr lang="en-US" sz="1156" b="1" dirty="0">
                <a:solidFill>
                  <a:schemeClr val="bg1"/>
                </a:solidFill>
              </a:rPr>
              <a:t>5</a:t>
            </a:r>
            <a:endParaRPr lang="en-US" sz="1156" dirty="0"/>
          </a:p>
        </p:txBody>
      </p:sp>
      <p:sp>
        <p:nvSpPr>
          <p:cNvPr id="50" name="Text 48"/>
          <p:cNvSpPr txBox="1"/>
          <p:nvPr/>
        </p:nvSpPr>
        <p:spPr>
          <a:xfrm>
            <a:off x="6995160" y="5513832"/>
            <a:ext cx="4647895" cy="365760"/>
          </a:xfrm>
          <a:prstGeom prst="rect">
            <a:avLst/>
          </a:prstGeom>
          <a:noFill/>
          <a:ln/>
        </p:spPr>
        <p:txBody>
          <a:bodyPr wrap="square" lIns="0" tIns="0" rIns="0" bIns="0" rtlCol="0" anchor="ctr"/>
          <a:lstStyle/>
          <a:p>
            <a:pPr indent="0" marL="0">
              <a:buNone/>
            </a:pPr>
            <a:r>
              <a:rPr lang="en-US" sz="1300" dirty="0">
                <a:solidFill>
                  <a:schemeClr val="tx1"/>
                </a:solidFill>
              </a:rPr>
              <a:t>Done; hours measured, never the estimate</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TIMELINE</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Tabeen</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Timeline: where we stand against the plan</a:t>
            </a:r>
            <a:endParaRPr lang="en-US" sz="3000" dirty="0"/>
          </a:p>
        </p:txBody>
      </p:sp>
      <p:sp>
        <p:nvSpPr>
          <p:cNvPr id="5" name="Shape 3"/>
          <p:cNvSpPr/>
          <p:nvPr/>
        </p:nvSpPr>
        <p:spPr>
          <a:xfrm>
            <a:off x="2743200" y="1783080"/>
            <a:ext cx="0" cy="4041648"/>
          </a:xfrm>
          <a:prstGeom prst="line">
            <a:avLst/>
          </a:prstGeom>
          <a:noFill/>
          <a:ln w="9525">
            <a:solidFill>
              <a:srgbClr val="E3E9EB"/>
            </a:solidFill>
            <a:prstDash val="solid"/>
          </a:ln>
        </p:spPr>
      </p:sp>
      <p:sp>
        <p:nvSpPr>
          <p:cNvPr id="6" name="Text 4"/>
          <p:cNvSpPr txBox="1"/>
          <p:nvPr/>
        </p:nvSpPr>
        <p:spPr>
          <a:xfrm>
            <a:off x="2798064" y="1417320"/>
            <a:ext cx="731520" cy="256032"/>
          </a:xfrm>
          <a:prstGeom prst="rect">
            <a:avLst/>
          </a:prstGeom>
          <a:noFill/>
          <a:ln/>
        </p:spPr>
        <p:txBody>
          <a:bodyPr wrap="square" lIns="0" tIns="0" rIns="0" bIns="0" rtlCol="0" anchor="t"/>
          <a:lstStyle/>
          <a:p>
            <a:pPr indent="0" marL="0">
              <a:buNone/>
            </a:pPr>
            <a:r>
              <a:rPr lang="en-US" sz="1100" b="1" dirty="0">
                <a:solidFill>
                  <a:schemeClr val="accent4"/>
                </a:solidFill>
              </a:rPr>
              <a:t>Sep</a:t>
            </a:r>
            <a:endParaRPr lang="en-US" sz="1100" dirty="0"/>
          </a:p>
        </p:txBody>
      </p:sp>
      <p:sp>
        <p:nvSpPr>
          <p:cNvPr id="7" name="Shape 5"/>
          <p:cNvSpPr/>
          <p:nvPr/>
        </p:nvSpPr>
        <p:spPr>
          <a:xfrm>
            <a:off x="5148566" y="1783080"/>
            <a:ext cx="0" cy="4041648"/>
          </a:xfrm>
          <a:prstGeom prst="line">
            <a:avLst/>
          </a:prstGeom>
          <a:noFill/>
          <a:ln w="9525">
            <a:solidFill>
              <a:srgbClr val="E3E9EB"/>
            </a:solidFill>
            <a:prstDash val="solid"/>
          </a:ln>
        </p:spPr>
      </p:sp>
      <p:sp>
        <p:nvSpPr>
          <p:cNvPr id="8" name="Text 6"/>
          <p:cNvSpPr txBox="1"/>
          <p:nvPr/>
        </p:nvSpPr>
        <p:spPr>
          <a:xfrm>
            <a:off x="5203430" y="1417320"/>
            <a:ext cx="731520" cy="256032"/>
          </a:xfrm>
          <a:prstGeom prst="rect">
            <a:avLst/>
          </a:prstGeom>
          <a:noFill/>
          <a:ln/>
        </p:spPr>
        <p:txBody>
          <a:bodyPr wrap="square" lIns="0" tIns="0" rIns="0" bIns="0" rtlCol="0" anchor="t"/>
          <a:lstStyle/>
          <a:p>
            <a:pPr indent="0" marL="0">
              <a:buNone/>
            </a:pPr>
            <a:r>
              <a:rPr lang="en-US" sz="1100" b="1" dirty="0">
                <a:solidFill>
                  <a:schemeClr val="accent4"/>
                </a:solidFill>
              </a:rPr>
              <a:t>Oct</a:t>
            </a:r>
            <a:endParaRPr lang="en-US" sz="1100" dirty="0"/>
          </a:p>
        </p:txBody>
      </p:sp>
      <p:sp>
        <p:nvSpPr>
          <p:cNvPr id="9" name="Shape 7"/>
          <p:cNvSpPr/>
          <p:nvPr/>
        </p:nvSpPr>
        <p:spPr>
          <a:xfrm>
            <a:off x="7634111" y="1783080"/>
            <a:ext cx="0" cy="4041648"/>
          </a:xfrm>
          <a:prstGeom prst="line">
            <a:avLst/>
          </a:prstGeom>
          <a:noFill/>
          <a:ln w="9525">
            <a:solidFill>
              <a:srgbClr val="E3E9EB"/>
            </a:solidFill>
            <a:prstDash val="solid"/>
          </a:ln>
        </p:spPr>
      </p:sp>
      <p:sp>
        <p:nvSpPr>
          <p:cNvPr id="10" name="Text 8"/>
          <p:cNvSpPr txBox="1"/>
          <p:nvPr/>
        </p:nvSpPr>
        <p:spPr>
          <a:xfrm>
            <a:off x="7688975" y="1417320"/>
            <a:ext cx="731520" cy="256032"/>
          </a:xfrm>
          <a:prstGeom prst="rect">
            <a:avLst/>
          </a:prstGeom>
          <a:noFill/>
          <a:ln/>
        </p:spPr>
        <p:txBody>
          <a:bodyPr wrap="square" lIns="0" tIns="0" rIns="0" bIns="0" rtlCol="0" anchor="t"/>
          <a:lstStyle/>
          <a:p>
            <a:pPr indent="0" marL="0">
              <a:buNone/>
            </a:pPr>
            <a:r>
              <a:rPr lang="en-US" sz="1100" b="1" dirty="0">
                <a:solidFill>
                  <a:schemeClr val="accent4"/>
                </a:solidFill>
              </a:rPr>
              <a:t>Nov</a:t>
            </a:r>
            <a:endParaRPr lang="en-US" sz="1100" dirty="0"/>
          </a:p>
        </p:txBody>
      </p:sp>
      <p:sp>
        <p:nvSpPr>
          <p:cNvPr id="11" name="Shape 9"/>
          <p:cNvSpPr/>
          <p:nvPr/>
        </p:nvSpPr>
        <p:spPr>
          <a:xfrm>
            <a:off x="10039478" y="1783080"/>
            <a:ext cx="0" cy="4041648"/>
          </a:xfrm>
          <a:prstGeom prst="line">
            <a:avLst/>
          </a:prstGeom>
          <a:noFill/>
          <a:ln w="9525">
            <a:solidFill>
              <a:srgbClr val="E3E9EB"/>
            </a:solidFill>
            <a:prstDash val="solid"/>
          </a:ln>
        </p:spPr>
      </p:sp>
      <p:sp>
        <p:nvSpPr>
          <p:cNvPr id="12" name="Text 10"/>
          <p:cNvSpPr txBox="1"/>
          <p:nvPr/>
        </p:nvSpPr>
        <p:spPr>
          <a:xfrm>
            <a:off x="10094342" y="1417320"/>
            <a:ext cx="731520" cy="256032"/>
          </a:xfrm>
          <a:prstGeom prst="rect">
            <a:avLst/>
          </a:prstGeom>
          <a:noFill/>
          <a:ln/>
        </p:spPr>
        <p:txBody>
          <a:bodyPr wrap="square" lIns="0" tIns="0" rIns="0" bIns="0" rtlCol="0" anchor="t"/>
          <a:lstStyle/>
          <a:p>
            <a:pPr indent="0" marL="0">
              <a:buNone/>
            </a:pPr>
            <a:r>
              <a:rPr lang="en-US" sz="1100" b="1" dirty="0">
                <a:solidFill>
                  <a:schemeClr val="accent4"/>
                </a:solidFill>
              </a:rPr>
              <a:t>Dec</a:t>
            </a:r>
            <a:endParaRPr lang="en-US" sz="1100" dirty="0"/>
          </a:p>
        </p:txBody>
      </p:sp>
      <p:sp>
        <p:nvSpPr>
          <p:cNvPr id="13" name="Shape 11"/>
          <p:cNvSpPr/>
          <p:nvPr/>
        </p:nvSpPr>
        <p:spPr>
          <a:xfrm>
            <a:off x="4594341" y="1810512"/>
            <a:ext cx="146304" cy="146304"/>
          </a:xfrm>
          <a:prstGeom prst="diamond">
            <a:avLst/>
          </a:prstGeom>
          <a:solidFill>
            <a:schemeClr val="tx2"/>
          </a:solidFill>
          <a:ln w="12700">
            <a:solidFill>
              <a:schemeClr val="tx2"/>
            </a:solidFill>
            <a:prstDash val="solid"/>
          </a:ln>
        </p:spPr>
      </p:sp>
      <p:sp>
        <p:nvSpPr>
          <p:cNvPr id="14" name="Text 12"/>
          <p:cNvSpPr txBox="1"/>
          <p:nvPr/>
        </p:nvSpPr>
        <p:spPr>
          <a:xfrm>
            <a:off x="4393173" y="1965960"/>
            <a:ext cx="548640" cy="201168"/>
          </a:xfrm>
          <a:prstGeom prst="rect">
            <a:avLst/>
          </a:prstGeom>
          <a:noFill/>
          <a:ln/>
        </p:spPr>
        <p:txBody>
          <a:bodyPr wrap="square" lIns="0" tIns="0" rIns="0" bIns="0" rtlCol="0" anchor="t"/>
          <a:lstStyle/>
          <a:p>
            <a:pPr algn="ctr" indent="0" marL="0">
              <a:buNone/>
            </a:pPr>
            <a:r>
              <a:rPr lang="en-US" sz="950" b="1" dirty="0">
                <a:solidFill>
                  <a:schemeClr val="tx2"/>
                </a:solidFill>
              </a:rPr>
              <a:t>M1</a:t>
            </a:r>
            <a:endParaRPr lang="en-US" sz="950" dirty="0"/>
          </a:p>
        </p:txBody>
      </p:sp>
      <p:sp>
        <p:nvSpPr>
          <p:cNvPr id="15" name="Shape 13"/>
          <p:cNvSpPr/>
          <p:nvPr/>
        </p:nvSpPr>
        <p:spPr>
          <a:xfrm>
            <a:off x="5716845" y="1810512"/>
            <a:ext cx="146304" cy="146304"/>
          </a:xfrm>
          <a:prstGeom prst="diamond">
            <a:avLst/>
          </a:prstGeom>
          <a:solidFill>
            <a:schemeClr val="tx2"/>
          </a:solidFill>
          <a:ln w="12700">
            <a:solidFill>
              <a:schemeClr val="tx2"/>
            </a:solidFill>
            <a:prstDash val="solid"/>
          </a:ln>
        </p:spPr>
      </p:sp>
      <p:sp>
        <p:nvSpPr>
          <p:cNvPr id="16" name="Text 14"/>
          <p:cNvSpPr txBox="1"/>
          <p:nvPr/>
        </p:nvSpPr>
        <p:spPr>
          <a:xfrm>
            <a:off x="5515677" y="1965960"/>
            <a:ext cx="548640" cy="201168"/>
          </a:xfrm>
          <a:prstGeom prst="rect">
            <a:avLst/>
          </a:prstGeom>
          <a:noFill/>
          <a:ln/>
        </p:spPr>
        <p:txBody>
          <a:bodyPr wrap="square" lIns="0" tIns="0" rIns="0" bIns="0" rtlCol="0" anchor="t"/>
          <a:lstStyle/>
          <a:p>
            <a:pPr algn="ctr" indent="0" marL="0">
              <a:buNone/>
            </a:pPr>
            <a:r>
              <a:rPr lang="en-US" sz="950" b="1" dirty="0">
                <a:solidFill>
                  <a:schemeClr val="tx2"/>
                </a:solidFill>
              </a:rPr>
              <a:t>M2</a:t>
            </a:r>
            <a:endParaRPr lang="en-US" sz="950" dirty="0"/>
          </a:p>
        </p:txBody>
      </p:sp>
      <p:sp>
        <p:nvSpPr>
          <p:cNvPr id="17" name="Shape 15"/>
          <p:cNvSpPr/>
          <p:nvPr/>
        </p:nvSpPr>
        <p:spPr>
          <a:xfrm>
            <a:off x="6278097" y="1810512"/>
            <a:ext cx="146304" cy="146304"/>
          </a:xfrm>
          <a:prstGeom prst="diamond">
            <a:avLst/>
          </a:prstGeom>
          <a:solidFill>
            <a:schemeClr val="tx2"/>
          </a:solidFill>
          <a:ln w="12700">
            <a:solidFill>
              <a:schemeClr val="tx2"/>
            </a:solidFill>
            <a:prstDash val="solid"/>
          </a:ln>
        </p:spPr>
      </p:sp>
      <p:sp>
        <p:nvSpPr>
          <p:cNvPr id="18" name="Text 16"/>
          <p:cNvSpPr txBox="1"/>
          <p:nvPr/>
        </p:nvSpPr>
        <p:spPr>
          <a:xfrm>
            <a:off x="6076929" y="1965960"/>
            <a:ext cx="548640" cy="201168"/>
          </a:xfrm>
          <a:prstGeom prst="rect">
            <a:avLst/>
          </a:prstGeom>
          <a:noFill/>
          <a:ln/>
        </p:spPr>
        <p:txBody>
          <a:bodyPr wrap="square" lIns="0" tIns="0" rIns="0" bIns="0" rtlCol="0" anchor="t"/>
          <a:lstStyle/>
          <a:p>
            <a:pPr algn="ctr" indent="0" marL="0">
              <a:buNone/>
            </a:pPr>
            <a:r>
              <a:rPr lang="en-US" sz="950" b="1" dirty="0">
                <a:solidFill>
                  <a:schemeClr val="tx2"/>
                </a:solidFill>
              </a:rPr>
              <a:t>M3</a:t>
            </a:r>
            <a:endParaRPr lang="en-US" sz="950" dirty="0"/>
          </a:p>
        </p:txBody>
      </p:sp>
      <p:sp>
        <p:nvSpPr>
          <p:cNvPr id="19" name="Shape 17"/>
          <p:cNvSpPr/>
          <p:nvPr/>
        </p:nvSpPr>
        <p:spPr>
          <a:xfrm>
            <a:off x="7400602" y="1810512"/>
            <a:ext cx="146304" cy="146304"/>
          </a:xfrm>
          <a:prstGeom prst="diamond">
            <a:avLst/>
          </a:prstGeom>
          <a:solidFill>
            <a:schemeClr val="tx2"/>
          </a:solidFill>
          <a:ln w="12700">
            <a:solidFill>
              <a:schemeClr val="tx2"/>
            </a:solidFill>
            <a:prstDash val="solid"/>
          </a:ln>
        </p:spPr>
      </p:sp>
      <p:sp>
        <p:nvSpPr>
          <p:cNvPr id="20" name="Text 18"/>
          <p:cNvSpPr txBox="1"/>
          <p:nvPr/>
        </p:nvSpPr>
        <p:spPr>
          <a:xfrm>
            <a:off x="7199434" y="1965960"/>
            <a:ext cx="548640" cy="201168"/>
          </a:xfrm>
          <a:prstGeom prst="rect">
            <a:avLst/>
          </a:prstGeom>
          <a:noFill/>
          <a:ln/>
        </p:spPr>
        <p:txBody>
          <a:bodyPr wrap="square" lIns="0" tIns="0" rIns="0" bIns="0" rtlCol="0" anchor="t"/>
          <a:lstStyle/>
          <a:p>
            <a:pPr algn="ctr" indent="0" marL="0">
              <a:buNone/>
            </a:pPr>
            <a:r>
              <a:rPr lang="en-US" sz="950" b="1" dirty="0">
                <a:solidFill>
                  <a:schemeClr val="tx2"/>
                </a:solidFill>
              </a:rPr>
              <a:t>M4</a:t>
            </a:r>
            <a:endParaRPr lang="en-US" sz="950" dirty="0"/>
          </a:p>
        </p:txBody>
      </p:sp>
      <p:sp>
        <p:nvSpPr>
          <p:cNvPr id="21" name="Shape 19"/>
          <p:cNvSpPr/>
          <p:nvPr/>
        </p:nvSpPr>
        <p:spPr>
          <a:xfrm>
            <a:off x="8523106" y="1810512"/>
            <a:ext cx="146304" cy="146304"/>
          </a:xfrm>
          <a:prstGeom prst="diamond">
            <a:avLst/>
          </a:prstGeom>
          <a:solidFill>
            <a:schemeClr val="tx2"/>
          </a:solidFill>
          <a:ln w="12700">
            <a:solidFill>
              <a:schemeClr val="tx2"/>
            </a:solidFill>
            <a:prstDash val="solid"/>
          </a:ln>
        </p:spPr>
      </p:sp>
      <p:sp>
        <p:nvSpPr>
          <p:cNvPr id="22" name="Text 20"/>
          <p:cNvSpPr txBox="1"/>
          <p:nvPr/>
        </p:nvSpPr>
        <p:spPr>
          <a:xfrm>
            <a:off x="8321938" y="1965960"/>
            <a:ext cx="548640" cy="201168"/>
          </a:xfrm>
          <a:prstGeom prst="rect">
            <a:avLst/>
          </a:prstGeom>
          <a:noFill/>
          <a:ln/>
        </p:spPr>
        <p:txBody>
          <a:bodyPr wrap="square" lIns="0" tIns="0" rIns="0" bIns="0" rtlCol="0" anchor="t"/>
          <a:lstStyle/>
          <a:p>
            <a:pPr algn="ctr" indent="0" marL="0">
              <a:buNone/>
            </a:pPr>
            <a:r>
              <a:rPr lang="en-US" sz="950" b="1" dirty="0">
                <a:solidFill>
                  <a:schemeClr val="tx2"/>
                </a:solidFill>
              </a:rPr>
              <a:t>M5</a:t>
            </a:r>
            <a:endParaRPr lang="en-US" sz="950" dirty="0"/>
          </a:p>
        </p:txBody>
      </p:sp>
      <p:sp>
        <p:nvSpPr>
          <p:cNvPr id="23" name="Shape 21"/>
          <p:cNvSpPr/>
          <p:nvPr/>
        </p:nvSpPr>
        <p:spPr>
          <a:xfrm>
            <a:off x="10206862" y="1810512"/>
            <a:ext cx="146304" cy="146304"/>
          </a:xfrm>
          <a:prstGeom prst="diamond">
            <a:avLst/>
          </a:prstGeom>
          <a:solidFill>
            <a:schemeClr val="tx2"/>
          </a:solidFill>
          <a:ln w="12700">
            <a:solidFill>
              <a:schemeClr val="tx2"/>
            </a:solidFill>
            <a:prstDash val="solid"/>
          </a:ln>
        </p:spPr>
      </p:sp>
      <p:sp>
        <p:nvSpPr>
          <p:cNvPr id="24" name="Text 22"/>
          <p:cNvSpPr txBox="1"/>
          <p:nvPr/>
        </p:nvSpPr>
        <p:spPr>
          <a:xfrm>
            <a:off x="10005694" y="1965960"/>
            <a:ext cx="548640" cy="201168"/>
          </a:xfrm>
          <a:prstGeom prst="rect">
            <a:avLst/>
          </a:prstGeom>
          <a:noFill/>
          <a:ln/>
        </p:spPr>
        <p:txBody>
          <a:bodyPr wrap="square" lIns="0" tIns="0" rIns="0" bIns="0" rtlCol="0" anchor="t"/>
          <a:lstStyle/>
          <a:p>
            <a:pPr algn="ctr" indent="0" marL="0">
              <a:buNone/>
            </a:pPr>
            <a:r>
              <a:rPr lang="en-US" sz="950" b="1" dirty="0">
                <a:solidFill>
                  <a:schemeClr val="tx2"/>
                </a:solidFill>
              </a:rPr>
              <a:t>M7</a:t>
            </a:r>
            <a:endParaRPr lang="en-US" sz="950" dirty="0"/>
          </a:p>
        </p:txBody>
      </p:sp>
      <p:sp>
        <p:nvSpPr>
          <p:cNvPr id="25" name="Shape 23"/>
          <p:cNvSpPr/>
          <p:nvPr/>
        </p:nvSpPr>
        <p:spPr>
          <a:xfrm>
            <a:off x="11329367" y="1810512"/>
            <a:ext cx="146304" cy="146304"/>
          </a:xfrm>
          <a:prstGeom prst="diamond">
            <a:avLst/>
          </a:prstGeom>
          <a:solidFill>
            <a:schemeClr val="tx2"/>
          </a:solidFill>
          <a:ln w="12700">
            <a:solidFill>
              <a:schemeClr val="tx2"/>
            </a:solidFill>
            <a:prstDash val="solid"/>
          </a:ln>
        </p:spPr>
      </p:sp>
      <p:sp>
        <p:nvSpPr>
          <p:cNvPr id="26" name="Text 24"/>
          <p:cNvSpPr txBox="1"/>
          <p:nvPr/>
        </p:nvSpPr>
        <p:spPr>
          <a:xfrm>
            <a:off x="11128199" y="1965960"/>
            <a:ext cx="548640" cy="201168"/>
          </a:xfrm>
          <a:prstGeom prst="rect">
            <a:avLst/>
          </a:prstGeom>
          <a:noFill/>
          <a:ln/>
        </p:spPr>
        <p:txBody>
          <a:bodyPr wrap="square" lIns="0" tIns="0" rIns="0" bIns="0" rtlCol="0" anchor="t"/>
          <a:lstStyle/>
          <a:p>
            <a:pPr algn="ctr" indent="0" marL="0">
              <a:buNone/>
            </a:pPr>
            <a:r>
              <a:rPr lang="en-US" sz="950" b="1" dirty="0">
                <a:solidFill>
                  <a:schemeClr val="tx2"/>
                </a:solidFill>
              </a:rPr>
              <a:t>M8</a:t>
            </a:r>
            <a:endParaRPr lang="en-US" sz="950" dirty="0"/>
          </a:p>
        </p:txBody>
      </p:sp>
      <p:sp>
        <p:nvSpPr>
          <p:cNvPr id="27" name="Text 25"/>
          <p:cNvSpPr txBox="1"/>
          <p:nvPr/>
        </p:nvSpPr>
        <p:spPr>
          <a:xfrm>
            <a:off x="548640" y="2249424"/>
            <a:ext cx="2103120" cy="274320"/>
          </a:xfrm>
          <a:prstGeom prst="rect">
            <a:avLst/>
          </a:prstGeom>
          <a:noFill/>
          <a:ln/>
        </p:spPr>
        <p:txBody>
          <a:bodyPr wrap="square" lIns="0" tIns="0" rIns="0" bIns="0" rtlCol="0" anchor="ctr"/>
          <a:lstStyle/>
          <a:p>
            <a:pPr indent="0" marL="0">
              <a:buNone/>
            </a:pPr>
            <a:r>
              <a:rPr lang="en-US" sz="1150" dirty="0">
                <a:solidFill>
                  <a:schemeClr val="tx1"/>
                </a:solidFill>
              </a:rPr>
              <a:t>Foundations</a:t>
            </a:r>
            <a:endParaRPr lang="en-US" sz="1150" dirty="0"/>
          </a:p>
        </p:txBody>
      </p:sp>
      <p:sp>
        <p:nvSpPr>
          <p:cNvPr id="28" name="Shape 26"/>
          <p:cNvSpPr/>
          <p:nvPr/>
        </p:nvSpPr>
        <p:spPr>
          <a:xfrm>
            <a:off x="2903558" y="2286000"/>
            <a:ext cx="1763935" cy="182880"/>
          </a:xfrm>
          <a:prstGeom prst="roundRect">
            <a:avLst>
              <a:gd name="adj" fmla="val 25000"/>
            </a:avLst>
          </a:prstGeom>
          <a:solidFill>
            <a:schemeClr val="bg1"/>
          </a:solidFill>
          <a:ln w="12700">
            <a:solidFill>
              <a:srgbClr val="CDD6D9"/>
            </a:solidFill>
            <a:prstDash val="solid"/>
          </a:ln>
        </p:spPr>
      </p:sp>
      <p:sp>
        <p:nvSpPr>
          <p:cNvPr id="29" name="Shape 27"/>
          <p:cNvSpPr/>
          <p:nvPr/>
        </p:nvSpPr>
        <p:spPr>
          <a:xfrm>
            <a:off x="2903558" y="2286000"/>
            <a:ext cx="1683756" cy="182880"/>
          </a:xfrm>
          <a:prstGeom prst="roundRect">
            <a:avLst>
              <a:gd name="adj" fmla="val 25000"/>
            </a:avLst>
          </a:prstGeom>
          <a:solidFill>
            <a:srgbClr val="16697A"/>
          </a:solidFill>
          <a:ln w="12700">
            <a:solidFill>
              <a:srgbClr val="16697A"/>
            </a:solidFill>
            <a:prstDash val="solid"/>
          </a:ln>
        </p:spPr>
      </p:sp>
      <p:sp>
        <p:nvSpPr>
          <p:cNvPr id="30" name="Text 28"/>
          <p:cNvSpPr txBox="1"/>
          <p:nvPr/>
        </p:nvSpPr>
        <p:spPr>
          <a:xfrm>
            <a:off x="548640" y="2615184"/>
            <a:ext cx="2103120" cy="274320"/>
          </a:xfrm>
          <a:prstGeom prst="rect">
            <a:avLst/>
          </a:prstGeom>
          <a:noFill/>
          <a:ln/>
        </p:spPr>
        <p:txBody>
          <a:bodyPr wrap="square" lIns="0" tIns="0" rIns="0" bIns="0" rtlCol="0" anchor="ctr"/>
          <a:lstStyle/>
          <a:p>
            <a:pPr indent="0" marL="0">
              <a:buNone/>
            </a:pPr>
            <a:r>
              <a:rPr lang="en-US" sz="1150" dirty="0">
                <a:solidFill>
                  <a:schemeClr val="tx1"/>
                </a:solidFill>
              </a:rPr>
              <a:t>Reconstruction engine</a:t>
            </a:r>
            <a:endParaRPr lang="en-US" sz="1150" dirty="0"/>
          </a:p>
        </p:txBody>
      </p:sp>
      <p:sp>
        <p:nvSpPr>
          <p:cNvPr id="31" name="Shape 29"/>
          <p:cNvSpPr/>
          <p:nvPr/>
        </p:nvSpPr>
        <p:spPr>
          <a:xfrm>
            <a:off x="3384631" y="2651760"/>
            <a:ext cx="2405366" cy="182880"/>
          </a:xfrm>
          <a:prstGeom prst="roundRect">
            <a:avLst>
              <a:gd name="adj" fmla="val 25000"/>
            </a:avLst>
          </a:prstGeom>
          <a:solidFill>
            <a:schemeClr val="bg1"/>
          </a:solidFill>
          <a:ln w="12700">
            <a:solidFill>
              <a:srgbClr val="CDD6D9"/>
            </a:solidFill>
            <a:prstDash val="solid"/>
          </a:ln>
        </p:spPr>
      </p:sp>
      <p:sp>
        <p:nvSpPr>
          <p:cNvPr id="32" name="Shape 30"/>
          <p:cNvSpPr/>
          <p:nvPr/>
        </p:nvSpPr>
        <p:spPr>
          <a:xfrm>
            <a:off x="4667493" y="2651760"/>
            <a:ext cx="1122504" cy="182880"/>
          </a:xfrm>
          <a:prstGeom prst="roundRect">
            <a:avLst>
              <a:gd name="adj" fmla="val 25000"/>
            </a:avLst>
          </a:prstGeom>
          <a:solidFill>
            <a:srgbClr val="16697A"/>
          </a:solidFill>
          <a:ln w="12700">
            <a:solidFill>
              <a:srgbClr val="16697A"/>
            </a:solidFill>
            <a:prstDash val="solid"/>
          </a:ln>
        </p:spPr>
      </p:sp>
      <p:sp>
        <p:nvSpPr>
          <p:cNvPr id="33" name="Text 31"/>
          <p:cNvSpPr txBox="1"/>
          <p:nvPr/>
        </p:nvSpPr>
        <p:spPr>
          <a:xfrm>
            <a:off x="548640" y="2980944"/>
            <a:ext cx="2103120" cy="274320"/>
          </a:xfrm>
          <a:prstGeom prst="rect">
            <a:avLst/>
          </a:prstGeom>
          <a:noFill/>
          <a:ln/>
        </p:spPr>
        <p:txBody>
          <a:bodyPr wrap="square" lIns="0" tIns="0" rIns="0" bIns="0" rtlCol="0" anchor="ctr"/>
          <a:lstStyle/>
          <a:p>
            <a:pPr indent="0" marL="0">
              <a:buNone/>
            </a:pPr>
            <a:r>
              <a:rPr lang="en-US" sz="1150" dirty="0">
                <a:solidFill>
                  <a:schemeClr val="tx1"/>
                </a:solidFill>
              </a:rPr>
              <a:t>Capture app (11 of 13)</a:t>
            </a:r>
            <a:endParaRPr lang="en-US" sz="1150" dirty="0"/>
          </a:p>
        </p:txBody>
      </p:sp>
      <p:sp>
        <p:nvSpPr>
          <p:cNvPr id="34" name="Shape 32"/>
          <p:cNvSpPr/>
          <p:nvPr/>
        </p:nvSpPr>
        <p:spPr>
          <a:xfrm>
            <a:off x="2903558" y="3017520"/>
            <a:ext cx="5692700" cy="182880"/>
          </a:xfrm>
          <a:prstGeom prst="roundRect">
            <a:avLst>
              <a:gd name="adj" fmla="val 25000"/>
            </a:avLst>
          </a:prstGeom>
          <a:solidFill>
            <a:schemeClr val="bg1"/>
          </a:solidFill>
          <a:ln w="12700">
            <a:solidFill>
              <a:srgbClr val="CDD6D9"/>
            </a:solidFill>
            <a:prstDash val="solid"/>
          </a:ln>
        </p:spPr>
      </p:sp>
      <p:sp>
        <p:nvSpPr>
          <p:cNvPr id="35" name="Shape 33"/>
          <p:cNvSpPr/>
          <p:nvPr/>
        </p:nvSpPr>
        <p:spPr>
          <a:xfrm>
            <a:off x="4988209" y="3017520"/>
            <a:ext cx="1282862" cy="182880"/>
          </a:xfrm>
          <a:prstGeom prst="roundRect">
            <a:avLst>
              <a:gd name="adj" fmla="val 25000"/>
            </a:avLst>
          </a:prstGeom>
          <a:solidFill>
            <a:srgbClr val="D98A2B"/>
          </a:solidFill>
          <a:ln w="12700">
            <a:solidFill>
              <a:srgbClr val="D98A2B"/>
            </a:solidFill>
            <a:prstDash val="solid"/>
          </a:ln>
        </p:spPr>
      </p:sp>
      <p:sp>
        <p:nvSpPr>
          <p:cNvPr id="36" name="Text 34"/>
          <p:cNvSpPr txBox="1"/>
          <p:nvPr/>
        </p:nvSpPr>
        <p:spPr>
          <a:xfrm>
            <a:off x="548640" y="3346704"/>
            <a:ext cx="2103120" cy="274320"/>
          </a:xfrm>
          <a:prstGeom prst="rect">
            <a:avLst/>
          </a:prstGeom>
          <a:noFill/>
          <a:ln/>
        </p:spPr>
        <p:txBody>
          <a:bodyPr wrap="square" lIns="0" tIns="0" rIns="0" bIns="0" rtlCol="0" anchor="ctr"/>
          <a:lstStyle/>
          <a:p>
            <a:pPr indent="0" marL="0">
              <a:buNone/>
            </a:pPr>
            <a:r>
              <a:rPr lang="en-US" sz="1150" dirty="0">
                <a:solidFill>
                  <a:schemeClr val="tx1"/>
                </a:solidFill>
              </a:rPr>
              <a:t>Real-data fixes</a:t>
            </a:r>
            <a:endParaRPr lang="en-US" sz="1150" dirty="0"/>
          </a:p>
        </p:txBody>
      </p:sp>
      <p:sp>
        <p:nvSpPr>
          <p:cNvPr id="37" name="Shape 35"/>
          <p:cNvSpPr/>
          <p:nvPr/>
        </p:nvSpPr>
        <p:spPr>
          <a:xfrm>
            <a:off x="5789997" y="3383280"/>
            <a:ext cx="481073" cy="182880"/>
          </a:xfrm>
          <a:prstGeom prst="roundRect">
            <a:avLst>
              <a:gd name="adj" fmla="val 25000"/>
            </a:avLst>
          </a:prstGeom>
          <a:solidFill>
            <a:srgbClr val="D98A2B"/>
          </a:solidFill>
          <a:ln w="12700">
            <a:solidFill>
              <a:srgbClr val="D98A2B"/>
            </a:solidFill>
            <a:prstDash val="solid"/>
          </a:ln>
        </p:spPr>
      </p:sp>
      <p:sp>
        <p:nvSpPr>
          <p:cNvPr id="38" name="Text 36"/>
          <p:cNvSpPr txBox="1"/>
          <p:nvPr/>
        </p:nvSpPr>
        <p:spPr>
          <a:xfrm>
            <a:off x="548640" y="3712464"/>
            <a:ext cx="2103120" cy="274320"/>
          </a:xfrm>
          <a:prstGeom prst="rect">
            <a:avLst/>
          </a:prstGeom>
          <a:noFill/>
          <a:ln/>
        </p:spPr>
        <p:txBody>
          <a:bodyPr wrap="square" lIns="0" tIns="0" rIns="0" bIns="0" rtlCol="0" anchor="ctr"/>
          <a:lstStyle/>
          <a:p>
            <a:pPr indent="0" marL="0">
              <a:buNone/>
            </a:pPr>
            <a:r>
              <a:rPr lang="en-US" sz="1150" b="1" dirty="0">
                <a:solidFill>
                  <a:schemeClr val="accent3"/>
                </a:solidFill>
              </a:rPr>
              <a:t>Phone → service link</a:t>
            </a:r>
            <a:endParaRPr lang="en-US" sz="1150" dirty="0"/>
          </a:p>
        </p:txBody>
      </p:sp>
      <p:sp>
        <p:nvSpPr>
          <p:cNvPr id="39" name="Shape 37"/>
          <p:cNvSpPr/>
          <p:nvPr/>
        </p:nvSpPr>
        <p:spPr>
          <a:xfrm>
            <a:off x="4106241" y="3749040"/>
            <a:ext cx="561252" cy="182880"/>
          </a:xfrm>
          <a:prstGeom prst="roundRect">
            <a:avLst>
              <a:gd name="adj" fmla="val 25000"/>
            </a:avLst>
          </a:prstGeom>
          <a:solidFill>
            <a:schemeClr val="bg1"/>
          </a:solidFill>
          <a:ln w="12700">
            <a:solidFill>
              <a:srgbClr val="C8402F"/>
            </a:solidFill>
            <a:prstDash val="dash"/>
          </a:ln>
        </p:spPr>
      </p:sp>
      <p:sp>
        <p:nvSpPr>
          <p:cNvPr id="40" name="Shape 38"/>
          <p:cNvSpPr/>
          <p:nvPr/>
        </p:nvSpPr>
        <p:spPr>
          <a:xfrm>
            <a:off x="6271071" y="3749040"/>
            <a:ext cx="73152" cy="182880"/>
          </a:xfrm>
          <a:prstGeom prst="roundRect">
            <a:avLst>
              <a:gd name="adj" fmla="val 62500"/>
            </a:avLst>
          </a:prstGeom>
          <a:solidFill>
            <a:srgbClr val="C8402F"/>
          </a:solidFill>
          <a:ln w="12700">
            <a:solidFill>
              <a:srgbClr val="C8402F"/>
            </a:solidFill>
            <a:prstDash val="solid"/>
          </a:ln>
        </p:spPr>
      </p:sp>
      <p:sp>
        <p:nvSpPr>
          <p:cNvPr id="41" name="Text 39"/>
          <p:cNvSpPr txBox="1"/>
          <p:nvPr/>
        </p:nvSpPr>
        <p:spPr>
          <a:xfrm>
            <a:off x="548640" y="4078224"/>
            <a:ext cx="2103120" cy="274320"/>
          </a:xfrm>
          <a:prstGeom prst="rect">
            <a:avLst/>
          </a:prstGeom>
          <a:noFill/>
          <a:ln/>
        </p:spPr>
        <p:txBody>
          <a:bodyPr wrap="square" lIns="0" tIns="0" rIns="0" bIns="0" rtlCol="0" anchor="ctr"/>
          <a:lstStyle/>
          <a:p>
            <a:pPr indent="0" marL="0">
              <a:buNone/>
            </a:pPr>
            <a:r>
              <a:rPr lang="en-US" sz="1150" b="1" dirty="0">
                <a:solidFill>
                  <a:schemeClr val="accent3"/>
                </a:solidFill>
              </a:rPr>
              <a:t>Ground truth (σ_floor)</a:t>
            </a:r>
            <a:endParaRPr lang="en-US" sz="1150" dirty="0"/>
          </a:p>
        </p:txBody>
      </p:sp>
      <p:sp>
        <p:nvSpPr>
          <p:cNvPr id="42" name="Shape 40"/>
          <p:cNvSpPr/>
          <p:nvPr/>
        </p:nvSpPr>
        <p:spPr>
          <a:xfrm>
            <a:off x="6030534" y="4114800"/>
            <a:ext cx="320716" cy="182880"/>
          </a:xfrm>
          <a:prstGeom prst="roundRect">
            <a:avLst>
              <a:gd name="adj" fmla="val 25000"/>
            </a:avLst>
          </a:prstGeom>
          <a:solidFill>
            <a:schemeClr val="bg1"/>
          </a:solidFill>
          <a:ln w="12700">
            <a:solidFill>
              <a:srgbClr val="C8402F"/>
            </a:solidFill>
            <a:prstDash val="dash"/>
          </a:ln>
        </p:spPr>
      </p:sp>
      <p:sp>
        <p:nvSpPr>
          <p:cNvPr id="43" name="Text 41"/>
          <p:cNvSpPr txBox="1"/>
          <p:nvPr/>
        </p:nvSpPr>
        <p:spPr>
          <a:xfrm>
            <a:off x="548640" y="4443984"/>
            <a:ext cx="2103120" cy="274320"/>
          </a:xfrm>
          <a:prstGeom prst="rect">
            <a:avLst/>
          </a:prstGeom>
          <a:noFill/>
          <a:ln/>
        </p:spPr>
        <p:txBody>
          <a:bodyPr wrap="square" lIns="0" tIns="0" rIns="0" bIns="0" rtlCol="0" anchor="ctr"/>
          <a:lstStyle/>
          <a:p>
            <a:pPr indent="0" marL="0">
              <a:buNone/>
            </a:pPr>
            <a:r>
              <a:rPr lang="en-US" sz="1150" dirty="0">
                <a:solidFill>
                  <a:schemeClr val="tx1"/>
                </a:solidFill>
              </a:rPr>
              <a:t>Inspection (Tier 2)</a:t>
            </a:r>
            <a:endParaRPr lang="en-US" sz="1150" dirty="0"/>
          </a:p>
        </p:txBody>
      </p:sp>
      <p:sp>
        <p:nvSpPr>
          <p:cNvPr id="44" name="Shape 42"/>
          <p:cNvSpPr/>
          <p:nvPr/>
        </p:nvSpPr>
        <p:spPr>
          <a:xfrm>
            <a:off x="6591786" y="4480560"/>
            <a:ext cx="2004472" cy="182880"/>
          </a:xfrm>
          <a:prstGeom prst="roundRect">
            <a:avLst>
              <a:gd name="adj" fmla="val 25000"/>
            </a:avLst>
          </a:prstGeom>
          <a:solidFill>
            <a:schemeClr val="bg1"/>
          </a:solidFill>
          <a:ln w="12700">
            <a:solidFill>
              <a:srgbClr val="CDD6D9"/>
            </a:solidFill>
            <a:prstDash val="solid"/>
          </a:ln>
        </p:spPr>
      </p:sp>
      <p:sp>
        <p:nvSpPr>
          <p:cNvPr id="45" name="Text 43"/>
          <p:cNvSpPr txBox="1"/>
          <p:nvPr/>
        </p:nvSpPr>
        <p:spPr>
          <a:xfrm>
            <a:off x="548640" y="4809744"/>
            <a:ext cx="2103120" cy="274320"/>
          </a:xfrm>
          <a:prstGeom prst="rect">
            <a:avLst/>
          </a:prstGeom>
          <a:noFill/>
          <a:ln/>
        </p:spPr>
        <p:txBody>
          <a:bodyPr wrap="square" lIns="0" tIns="0" rIns="0" bIns="0" rtlCol="0" anchor="ctr"/>
          <a:lstStyle/>
          <a:p>
            <a:pPr indent="0" marL="0">
              <a:buNone/>
            </a:pPr>
            <a:r>
              <a:rPr lang="en-US" sz="1150" b="1" dirty="0">
                <a:solidFill>
                  <a:schemeClr val="accent3"/>
                </a:solidFill>
              </a:rPr>
              <a:t>Generative AI</a:t>
            </a:r>
            <a:endParaRPr lang="en-US" sz="1150" dirty="0"/>
          </a:p>
        </p:txBody>
      </p:sp>
      <p:sp>
        <p:nvSpPr>
          <p:cNvPr id="46" name="Shape 44"/>
          <p:cNvSpPr/>
          <p:nvPr/>
        </p:nvSpPr>
        <p:spPr>
          <a:xfrm>
            <a:off x="4908030" y="4846320"/>
            <a:ext cx="3688228" cy="182880"/>
          </a:xfrm>
          <a:prstGeom prst="roundRect">
            <a:avLst>
              <a:gd name="adj" fmla="val 25000"/>
            </a:avLst>
          </a:prstGeom>
          <a:solidFill>
            <a:schemeClr val="bg1"/>
          </a:solidFill>
          <a:ln w="12700">
            <a:solidFill>
              <a:srgbClr val="C8402F"/>
            </a:solidFill>
            <a:prstDash val="dash"/>
          </a:ln>
        </p:spPr>
      </p:sp>
      <p:sp>
        <p:nvSpPr>
          <p:cNvPr id="47" name="Text 45"/>
          <p:cNvSpPr txBox="1"/>
          <p:nvPr/>
        </p:nvSpPr>
        <p:spPr>
          <a:xfrm>
            <a:off x="548640" y="5175504"/>
            <a:ext cx="2103120" cy="274320"/>
          </a:xfrm>
          <a:prstGeom prst="rect">
            <a:avLst/>
          </a:prstGeom>
          <a:noFill/>
          <a:ln/>
        </p:spPr>
        <p:txBody>
          <a:bodyPr wrap="square" lIns="0" tIns="0" rIns="0" bIns="0" rtlCol="0" anchor="ctr"/>
          <a:lstStyle/>
          <a:p>
            <a:pPr indent="0" marL="0">
              <a:buNone/>
            </a:pPr>
            <a:r>
              <a:rPr lang="en-US" sz="1150" dirty="0">
                <a:solidFill>
                  <a:schemeClr val="tx1"/>
                </a:solidFill>
              </a:rPr>
              <a:t>Harden + record demo</a:t>
            </a:r>
            <a:endParaRPr lang="en-US" sz="1150" dirty="0"/>
          </a:p>
        </p:txBody>
      </p:sp>
      <p:sp>
        <p:nvSpPr>
          <p:cNvPr id="48" name="Shape 46"/>
          <p:cNvSpPr/>
          <p:nvPr/>
        </p:nvSpPr>
        <p:spPr>
          <a:xfrm>
            <a:off x="8836795" y="5212080"/>
            <a:ext cx="1443220" cy="182880"/>
          </a:xfrm>
          <a:prstGeom prst="roundRect">
            <a:avLst>
              <a:gd name="adj" fmla="val 25000"/>
            </a:avLst>
          </a:prstGeom>
          <a:solidFill>
            <a:schemeClr val="bg1"/>
          </a:solidFill>
          <a:ln w="12700">
            <a:solidFill>
              <a:srgbClr val="CDD6D9"/>
            </a:solidFill>
            <a:prstDash val="solid"/>
          </a:ln>
        </p:spPr>
      </p:sp>
      <p:sp>
        <p:nvSpPr>
          <p:cNvPr id="49" name="Text 47"/>
          <p:cNvSpPr txBox="1"/>
          <p:nvPr/>
        </p:nvSpPr>
        <p:spPr>
          <a:xfrm>
            <a:off x="548640" y="5541264"/>
            <a:ext cx="2103120" cy="274320"/>
          </a:xfrm>
          <a:prstGeom prst="rect">
            <a:avLst/>
          </a:prstGeom>
          <a:noFill/>
          <a:ln/>
        </p:spPr>
        <p:txBody>
          <a:bodyPr wrap="square" lIns="0" tIns="0" rIns="0" bIns="0" rtlCol="0" anchor="ctr"/>
          <a:lstStyle/>
          <a:p>
            <a:pPr indent="0" marL="0">
              <a:buNone/>
            </a:pPr>
            <a:r>
              <a:rPr lang="en-US" sz="1150" dirty="0">
                <a:solidFill>
                  <a:schemeClr val="tx1"/>
                </a:solidFill>
              </a:rPr>
              <a:t>Final defense</a:t>
            </a:r>
            <a:endParaRPr lang="en-US" sz="1150" dirty="0"/>
          </a:p>
        </p:txBody>
      </p:sp>
      <p:sp>
        <p:nvSpPr>
          <p:cNvPr id="50" name="Shape 48"/>
          <p:cNvSpPr/>
          <p:nvPr/>
        </p:nvSpPr>
        <p:spPr>
          <a:xfrm>
            <a:off x="10520551" y="5577840"/>
            <a:ext cx="881968" cy="182880"/>
          </a:xfrm>
          <a:prstGeom prst="roundRect">
            <a:avLst>
              <a:gd name="adj" fmla="val 25000"/>
            </a:avLst>
          </a:prstGeom>
          <a:solidFill>
            <a:schemeClr val="bg1"/>
          </a:solidFill>
          <a:ln w="12700">
            <a:solidFill>
              <a:srgbClr val="CDD6D9"/>
            </a:solidFill>
            <a:prstDash val="solid"/>
          </a:ln>
        </p:spPr>
      </p:sp>
      <p:sp>
        <p:nvSpPr>
          <p:cNvPr id="51" name="Shape 49"/>
          <p:cNvSpPr/>
          <p:nvPr/>
        </p:nvSpPr>
        <p:spPr>
          <a:xfrm>
            <a:off x="6271071" y="2176272"/>
            <a:ext cx="0" cy="3730752"/>
          </a:xfrm>
          <a:prstGeom prst="line">
            <a:avLst/>
          </a:prstGeom>
          <a:noFill/>
          <a:ln w="19050">
            <a:solidFill>
              <a:schemeClr val="accent3"/>
            </a:solidFill>
            <a:prstDash val="dash"/>
          </a:ln>
        </p:spPr>
      </p:sp>
      <p:sp>
        <p:nvSpPr>
          <p:cNvPr id="52" name="Text 50"/>
          <p:cNvSpPr txBox="1"/>
          <p:nvPr/>
        </p:nvSpPr>
        <p:spPr>
          <a:xfrm>
            <a:off x="5630991" y="5943600"/>
            <a:ext cx="1280160" cy="237744"/>
          </a:xfrm>
          <a:prstGeom prst="rect">
            <a:avLst/>
          </a:prstGeom>
          <a:noFill/>
          <a:ln/>
        </p:spPr>
        <p:txBody>
          <a:bodyPr wrap="square" lIns="0" tIns="0" rIns="0" bIns="0" rtlCol="0" anchor="t"/>
          <a:lstStyle/>
          <a:p>
            <a:pPr algn="ctr" indent="0" marL="0">
              <a:buNone/>
            </a:pPr>
            <a:r>
              <a:rPr lang="en-US" sz="1000" b="1" dirty="0">
                <a:solidFill>
                  <a:schemeClr val="accent3"/>
                </a:solidFill>
              </a:rPr>
              <a:t>Today · 15 Oct</a:t>
            </a:r>
            <a:endParaRPr lang="en-US" sz="1000" dirty="0"/>
          </a:p>
        </p:txBody>
      </p:sp>
      <p:sp>
        <p:nvSpPr>
          <p:cNvPr id="53" name="Shape 51"/>
          <p:cNvSpPr/>
          <p:nvPr/>
        </p:nvSpPr>
        <p:spPr>
          <a:xfrm>
            <a:off x="2743200" y="6291072"/>
            <a:ext cx="329184" cy="155448"/>
          </a:xfrm>
          <a:prstGeom prst="roundRect">
            <a:avLst>
              <a:gd name="adj" fmla="val 23529"/>
            </a:avLst>
          </a:prstGeom>
          <a:solidFill>
            <a:srgbClr val="FFFFFF"/>
          </a:solidFill>
          <a:ln w="12700">
            <a:solidFill>
              <a:srgbClr val="CDD6D9"/>
            </a:solidFill>
            <a:prstDash val="solid"/>
          </a:ln>
        </p:spPr>
      </p:sp>
      <p:sp>
        <p:nvSpPr>
          <p:cNvPr id="54" name="Text 52"/>
          <p:cNvSpPr txBox="1"/>
          <p:nvPr/>
        </p:nvSpPr>
        <p:spPr>
          <a:xfrm>
            <a:off x="3145536" y="6236208"/>
            <a:ext cx="1463040" cy="256032"/>
          </a:xfrm>
          <a:prstGeom prst="rect">
            <a:avLst/>
          </a:prstGeom>
          <a:noFill/>
          <a:ln/>
        </p:spPr>
        <p:txBody>
          <a:bodyPr wrap="square" lIns="0" tIns="0" rIns="0" bIns="0" rtlCol="0" anchor="ctr"/>
          <a:lstStyle/>
          <a:p>
            <a:pPr indent="0" marL="0">
              <a:buNone/>
            </a:pPr>
            <a:r>
              <a:rPr lang="en-US" sz="1050" dirty="0">
                <a:solidFill>
                  <a:schemeClr val="accent4"/>
                </a:solidFill>
              </a:rPr>
              <a:t>Planned</a:t>
            </a:r>
            <a:endParaRPr lang="en-US" sz="1050" dirty="0"/>
          </a:p>
        </p:txBody>
      </p:sp>
      <p:sp>
        <p:nvSpPr>
          <p:cNvPr id="55" name="Shape 53"/>
          <p:cNvSpPr/>
          <p:nvPr/>
        </p:nvSpPr>
        <p:spPr>
          <a:xfrm>
            <a:off x="4069080" y="6291072"/>
            <a:ext cx="329184" cy="155448"/>
          </a:xfrm>
          <a:prstGeom prst="roundRect">
            <a:avLst>
              <a:gd name="adj" fmla="val 23529"/>
            </a:avLst>
          </a:prstGeom>
          <a:solidFill>
            <a:srgbClr val="16697A"/>
          </a:solidFill>
          <a:ln w="12700">
            <a:solidFill>
              <a:srgbClr val="16697A"/>
            </a:solidFill>
            <a:prstDash val="solid"/>
          </a:ln>
        </p:spPr>
      </p:sp>
      <p:sp>
        <p:nvSpPr>
          <p:cNvPr id="56" name="Text 54"/>
          <p:cNvSpPr txBox="1"/>
          <p:nvPr/>
        </p:nvSpPr>
        <p:spPr>
          <a:xfrm>
            <a:off x="4471416" y="6236208"/>
            <a:ext cx="1463040" cy="256032"/>
          </a:xfrm>
          <a:prstGeom prst="rect">
            <a:avLst/>
          </a:prstGeom>
          <a:noFill/>
          <a:ln/>
        </p:spPr>
        <p:txBody>
          <a:bodyPr wrap="square" lIns="0" tIns="0" rIns="0" bIns="0" rtlCol="0" anchor="ctr"/>
          <a:lstStyle/>
          <a:p>
            <a:pPr indent="0" marL="0">
              <a:buNone/>
            </a:pPr>
            <a:r>
              <a:rPr lang="en-US" sz="1050" dirty="0">
                <a:solidFill>
                  <a:schemeClr val="accent4"/>
                </a:solidFill>
              </a:rPr>
              <a:t>Done</a:t>
            </a:r>
            <a:endParaRPr lang="en-US" sz="1050" dirty="0"/>
          </a:p>
        </p:txBody>
      </p:sp>
      <p:sp>
        <p:nvSpPr>
          <p:cNvPr id="57" name="Shape 55"/>
          <p:cNvSpPr/>
          <p:nvPr/>
        </p:nvSpPr>
        <p:spPr>
          <a:xfrm>
            <a:off x="5852160" y="6291072"/>
            <a:ext cx="329184" cy="155448"/>
          </a:xfrm>
          <a:prstGeom prst="roundRect">
            <a:avLst>
              <a:gd name="adj" fmla="val 23529"/>
            </a:avLst>
          </a:prstGeom>
          <a:solidFill>
            <a:srgbClr val="FFFFFF"/>
          </a:solidFill>
          <a:ln w="12700">
            <a:solidFill>
              <a:srgbClr val="D98A2B"/>
            </a:solidFill>
            <a:prstDash val="dash"/>
          </a:ln>
        </p:spPr>
      </p:sp>
      <p:sp>
        <p:nvSpPr>
          <p:cNvPr id="58" name="Text 56"/>
          <p:cNvSpPr txBox="1"/>
          <p:nvPr/>
        </p:nvSpPr>
        <p:spPr>
          <a:xfrm>
            <a:off x="6254496" y="6236208"/>
            <a:ext cx="1463040" cy="256032"/>
          </a:xfrm>
          <a:prstGeom prst="rect">
            <a:avLst/>
          </a:prstGeom>
          <a:noFill/>
          <a:ln/>
        </p:spPr>
        <p:txBody>
          <a:bodyPr wrap="square" lIns="0" tIns="0" rIns="0" bIns="0" rtlCol="0" anchor="ctr"/>
          <a:lstStyle/>
          <a:p>
            <a:pPr indent="0" marL="0">
              <a:buNone/>
            </a:pPr>
            <a:r>
              <a:rPr lang="en-US" sz="1050" dirty="0">
                <a:solidFill>
                  <a:schemeClr val="accent4"/>
                </a:solidFill>
              </a:rPr>
              <a:t>In progress</a:t>
            </a:r>
            <a:endParaRPr lang="en-US" sz="1050" dirty="0"/>
          </a:p>
        </p:txBody>
      </p:sp>
      <p:sp>
        <p:nvSpPr>
          <p:cNvPr id="59" name="Shape 57"/>
          <p:cNvSpPr/>
          <p:nvPr/>
        </p:nvSpPr>
        <p:spPr>
          <a:xfrm>
            <a:off x="7635240" y="6291072"/>
            <a:ext cx="329184" cy="155448"/>
          </a:xfrm>
          <a:prstGeom prst="roundRect">
            <a:avLst>
              <a:gd name="adj" fmla="val 23529"/>
            </a:avLst>
          </a:prstGeom>
          <a:solidFill>
            <a:srgbClr val="FFFFFF"/>
          </a:solidFill>
          <a:ln w="12700">
            <a:solidFill>
              <a:srgbClr val="C8402F"/>
            </a:solidFill>
            <a:prstDash val="dash"/>
          </a:ln>
        </p:spPr>
      </p:sp>
      <p:sp>
        <p:nvSpPr>
          <p:cNvPr id="60" name="Text 58"/>
          <p:cNvSpPr txBox="1"/>
          <p:nvPr/>
        </p:nvSpPr>
        <p:spPr>
          <a:xfrm>
            <a:off x="8037576" y="6236208"/>
            <a:ext cx="1463040" cy="256032"/>
          </a:xfrm>
          <a:prstGeom prst="rect">
            <a:avLst/>
          </a:prstGeom>
          <a:noFill/>
          <a:ln/>
        </p:spPr>
        <p:txBody>
          <a:bodyPr wrap="square" lIns="0" tIns="0" rIns="0" bIns="0" rtlCol="0" anchor="ctr"/>
          <a:lstStyle/>
          <a:p>
            <a:pPr indent="0" marL="0">
              <a:buNone/>
            </a:pPr>
            <a:r>
              <a:rPr lang="en-US" sz="1050" dirty="0">
                <a:solidFill>
                  <a:schemeClr val="accent4"/>
                </a:solidFill>
              </a:rPr>
              <a:t>Behind plan</a:t>
            </a:r>
            <a:endParaRPr lang="en-US" sz="10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NEXT STEPS</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Tabeen</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Next: confirm the fix, then inspect</a:t>
            </a:r>
            <a:endParaRPr lang="en-US" sz="3000" dirty="0"/>
          </a:p>
        </p:txBody>
      </p:sp>
      <p:sp>
        <p:nvSpPr>
          <p:cNvPr id="5" name="Shape 3"/>
          <p:cNvSpPr/>
          <p:nvPr/>
        </p:nvSpPr>
        <p:spPr>
          <a:xfrm>
            <a:off x="548640" y="1463040"/>
            <a:ext cx="2109155" cy="3931920"/>
          </a:xfrm>
          <a:prstGeom prst="roundRect">
            <a:avLst>
              <a:gd name="adj" fmla="val 3035"/>
            </a:avLst>
          </a:prstGeom>
          <a:solidFill>
            <a:srgbClr val="EEF4F5"/>
          </a:solidFill>
          <a:ln w="9525">
            <a:solidFill>
              <a:srgbClr val="EEF4F5"/>
            </a:solidFill>
            <a:prstDash val="solid"/>
          </a:ln>
        </p:spPr>
      </p:sp>
      <p:sp>
        <p:nvSpPr>
          <p:cNvPr id="6" name="Shape 4"/>
          <p:cNvSpPr/>
          <p:nvPr/>
        </p:nvSpPr>
        <p:spPr>
          <a:xfrm>
            <a:off x="731520" y="1664208"/>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731520" y="1664208"/>
            <a:ext cx="384048" cy="384048"/>
          </a:xfrm>
          <a:prstGeom prst="rect">
            <a:avLst/>
          </a:prstGeom>
          <a:noFill/>
          <a:ln/>
        </p:spPr>
        <p:txBody>
          <a:bodyPr wrap="square" lIns="0" tIns="0" rIns="0" bIns="0" rtlCol="0" anchor="ctr"/>
          <a:lstStyle/>
          <a:p>
            <a:pPr algn="ctr" indent="0" marL="0">
              <a:buNone/>
            </a:pPr>
            <a:r>
              <a:rPr lang="en-US" sz="1428" b="1" dirty="0">
                <a:solidFill>
                  <a:schemeClr val="bg1"/>
                </a:solidFill>
              </a:rPr>
              <a:t>1</a:t>
            </a:r>
            <a:endParaRPr lang="en-US" sz="1428" dirty="0"/>
          </a:p>
        </p:txBody>
      </p:sp>
      <p:sp>
        <p:nvSpPr>
          <p:cNvPr id="8" name="Text 6"/>
          <p:cNvSpPr txBox="1"/>
          <p:nvPr/>
        </p:nvSpPr>
        <p:spPr>
          <a:xfrm>
            <a:off x="731520" y="2176272"/>
            <a:ext cx="1743395" cy="603504"/>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Geometry + phone reliability</a:t>
            </a:r>
            <a:endParaRPr lang="en-US" sz="1500" dirty="0"/>
          </a:p>
        </p:txBody>
      </p:sp>
      <p:sp>
        <p:nvSpPr>
          <p:cNvPr id="9" name="Shape 7"/>
          <p:cNvSpPr/>
          <p:nvPr/>
        </p:nvSpPr>
        <p:spPr>
          <a:xfrm>
            <a:off x="731520" y="2834640"/>
            <a:ext cx="1743395" cy="292608"/>
          </a:xfrm>
          <a:prstGeom prst="roundRect">
            <a:avLst>
              <a:gd name="adj" fmla="val 46875"/>
            </a:avLst>
          </a:prstGeom>
          <a:solidFill>
            <a:srgbClr val="FFFFFF"/>
          </a:solidFill>
          <a:ln w="9525">
            <a:solidFill>
              <a:srgbClr val="CDD6D9"/>
            </a:solidFill>
            <a:prstDash val="solid"/>
          </a:ln>
        </p:spPr>
      </p:sp>
      <p:sp>
        <p:nvSpPr>
          <p:cNvPr id="10" name="Text 8"/>
          <p:cNvSpPr txBox="1"/>
          <p:nvPr/>
        </p:nvSpPr>
        <p:spPr>
          <a:xfrm>
            <a:off x="804672" y="2834640"/>
            <a:ext cx="1597091" cy="292608"/>
          </a:xfrm>
          <a:prstGeom prst="rect">
            <a:avLst/>
          </a:prstGeom>
          <a:noFill/>
          <a:ln/>
        </p:spPr>
        <p:txBody>
          <a:bodyPr wrap="square" lIns="0" tIns="0" rIns="0" bIns="0" rtlCol="0" anchor="ctr">
            <a:normAutofit/>
          </a:bodyPr>
          <a:lstStyle/>
          <a:p>
            <a:pPr algn="ctr" indent="0" marL="0">
              <a:buNone/>
            </a:pPr>
            <a:r>
              <a:rPr lang="en-US" sz="1050" b="1" dirty="0">
                <a:solidFill>
                  <a:schemeClr val="accent1"/>
                </a:solidFill>
              </a:rPr>
              <a:t>Now</a:t>
            </a:r>
            <a:endParaRPr lang="en-US" sz="1050" dirty="0"/>
          </a:p>
        </p:txBody>
      </p:sp>
      <p:sp>
        <p:nvSpPr>
          <p:cNvPr id="11" name="Text 9"/>
          <p:cNvSpPr txBox="1"/>
          <p:nvPr/>
        </p:nvSpPr>
        <p:spPr>
          <a:xfrm>
            <a:off x="731520" y="3291840"/>
            <a:ext cx="1834835" cy="1600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Anchor scale on the board</a:t>
            </a:r>
            <a:endParaRPr lang="en-US" sz="1250" dirty="0"/>
          </a:p>
          <a:p>
            <a:pPr marL="152400" indent="-152400">
              <a:spcAft>
                <a:spcPts val="600"/>
              </a:spcAft>
              <a:buSzPct val="100000"/>
              <a:buChar char="•"/>
            </a:pPr>
            <a:r>
              <a:rPr lang="en-US" sz="1250" dirty="0">
                <a:solidFill>
                  <a:schemeClr val="tx1"/>
                </a:solidFill>
              </a:rPr>
              <a:t>Confirm the EXIF fix (D-050) on a real device</a:t>
            </a:r>
            <a:endParaRPr lang="en-US" sz="1250" dirty="0"/>
          </a:p>
          <a:p>
            <a:pPr marL="152400" indent="-152400">
              <a:spcAft>
                <a:spcPts val="600"/>
              </a:spcAft>
              <a:buSzPct val="100000"/>
              <a:buChar char="•"/>
            </a:pPr>
            <a:r>
              <a:rPr lang="en-US" sz="1250" dirty="0">
                <a:solidFill>
                  <a:schemeClr val="tx1"/>
                </a:solidFill>
              </a:rPr>
              <a:t>Capture at full camera resolution</a:t>
            </a:r>
            <a:endParaRPr lang="en-US" sz="1250" dirty="0"/>
          </a:p>
        </p:txBody>
      </p:sp>
      <p:sp>
        <p:nvSpPr>
          <p:cNvPr id="12" name="Text 10"/>
          <p:cNvSpPr txBox="1"/>
          <p:nvPr/>
        </p:nvSpPr>
        <p:spPr>
          <a:xfrm>
            <a:off x="731520" y="4983480"/>
            <a:ext cx="1743395" cy="274320"/>
          </a:xfrm>
          <a:prstGeom prst="rect">
            <a:avLst/>
          </a:prstGeom>
          <a:noFill/>
          <a:ln/>
        </p:spPr>
        <p:txBody>
          <a:bodyPr wrap="square" lIns="0" tIns="0" rIns="0" bIns="0" rtlCol="0" anchor="t"/>
          <a:lstStyle/>
          <a:p>
            <a:pPr indent="0" marL="0">
              <a:buNone/>
            </a:pPr>
            <a:r>
              <a:rPr lang="en-US" sz="1050" dirty="0">
                <a:solidFill>
                  <a:schemeClr val="accent4"/>
                </a:solidFill>
              </a:rPr>
              <a:t>R-23 + new stories</a:t>
            </a:r>
            <a:endParaRPr lang="en-US" sz="1050" dirty="0"/>
          </a:p>
        </p:txBody>
      </p:sp>
      <p:sp>
        <p:nvSpPr>
          <p:cNvPr id="13" name="Shape 11"/>
          <p:cNvSpPr/>
          <p:nvPr/>
        </p:nvSpPr>
        <p:spPr>
          <a:xfrm>
            <a:off x="2794955" y="1463040"/>
            <a:ext cx="2109155" cy="3931920"/>
          </a:xfrm>
          <a:prstGeom prst="roundRect">
            <a:avLst>
              <a:gd name="adj" fmla="val 3035"/>
            </a:avLst>
          </a:prstGeom>
          <a:solidFill>
            <a:srgbClr val="EEF4F5"/>
          </a:solidFill>
          <a:ln w="9525">
            <a:solidFill>
              <a:srgbClr val="EEF4F5"/>
            </a:solidFill>
            <a:prstDash val="solid"/>
          </a:ln>
        </p:spPr>
      </p:sp>
      <p:sp>
        <p:nvSpPr>
          <p:cNvPr id="14" name="Shape 12"/>
          <p:cNvSpPr/>
          <p:nvPr/>
        </p:nvSpPr>
        <p:spPr>
          <a:xfrm>
            <a:off x="2977835" y="1664208"/>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2977835" y="1664208"/>
            <a:ext cx="384048" cy="384048"/>
          </a:xfrm>
          <a:prstGeom prst="rect">
            <a:avLst/>
          </a:prstGeom>
          <a:noFill/>
          <a:ln/>
        </p:spPr>
        <p:txBody>
          <a:bodyPr wrap="square" lIns="0" tIns="0" rIns="0" bIns="0" rtlCol="0" anchor="ctr"/>
          <a:lstStyle/>
          <a:p>
            <a:pPr algn="ctr" indent="0" marL="0">
              <a:buNone/>
            </a:pPr>
            <a:r>
              <a:rPr lang="en-US" sz="1428" b="1" dirty="0">
                <a:solidFill>
                  <a:schemeClr val="bg1"/>
                </a:solidFill>
              </a:rPr>
              <a:t>2</a:t>
            </a:r>
            <a:endParaRPr lang="en-US" sz="1428" dirty="0"/>
          </a:p>
        </p:txBody>
      </p:sp>
      <p:sp>
        <p:nvSpPr>
          <p:cNvPr id="16" name="Text 14"/>
          <p:cNvSpPr txBox="1"/>
          <p:nvPr/>
        </p:nvSpPr>
        <p:spPr>
          <a:xfrm>
            <a:off x="2977835" y="2176272"/>
            <a:ext cx="1743395" cy="603504"/>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Ground truth</a:t>
            </a:r>
            <a:endParaRPr lang="en-US" sz="1500" dirty="0"/>
          </a:p>
        </p:txBody>
      </p:sp>
      <p:sp>
        <p:nvSpPr>
          <p:cNvPr id="17" name="Shape 15"/>
          <p:cNvSpPr/>
          <p:nvPr/>
        </p:nvSpPr>
        <p:spPr>
          <a:xfrm>
            <a:off x="2977835" y="2834640"/>
            <a:ext cx="1743395" cy="292608"/>
          </a:xfrm>
          <a:prstGeom prst="roundRect">
            <a:avLst>
              <a:gd name="adj" fmla="val 46875"/>
            </a:avLst>
          </a:prstGeom>
          <a:solidFill>
            <a:srgbClr val="FFFFFF"/>
          </a:solidFill>
          <a:ln w="9525">
            <a:solidFill>
              <a:srgbClr val="CDD6D9"/>
            </a:solidFill>
            <a:prstDash val="solid"/>
          </a:ln>
        </p:spPr>
      </p:sp>
      <p:sp>
        <p:nvSpPr>
          <p:cNvPr id="18" name="Text 16"/>
          <p:cNvSpPr txBox="1"/>
          <p:nvPr/>
        </p:nvSpPr>
        <p:spPr>
          <a:xfrm>
            <a:off x="3050987" y="2834640"/>
            <a:ext cx="1597091" cy="292608"/>
          </a:xfrm>
          <a:prstGeom prst="rect">
            <a:avLst/>
          </a:prstGeom>
          <a:noFill/>
          <a:ln/>
        </p:spPr>
        <p:txBody>
          <a:bodyPr wrap="square" lIns="0" tIns="0" rIns="0" bIns="0" rtlCol="0" anchor="ctr">
            <a:normAutofit/>
          </a:bodyPr>
          <a:lstStyle/>
          <a:p>
            <a:pPr algn="ctr" indent="0" marL="0">
              <a:buNone/>
            </a:pPr>
            <a:r>
              <a:rPr lang="en-US" sz="1050" b="1" dirty="0">
                <a:solidFill>
                  <a:schemeClr val="accent3"/>
                </a:solidFill>
              </a:rPr>
              <a:t>M3 · slipping</a:t>
            </a:r>
            <a:endParaRPr lang="en-US" sz="1050" dirty="0"/>
          </a:p>
        </p:txBody>
      </p:sp>
      <p:sp>
        <p:nvSpPr>
          <p:cNvPr id="19" name="Text 17"/>
          <p:cNvSpPr txBox="1"/>
          <p:nvPr/>
        </p:nvSpPr>
        <p:spPr>
          <a:xfrm>
            <a:off x="2977835" y="3291840"/>
            <a:ext cx="1834835" cy="1600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Print test parts</a:t>
            </a:r>
            <a:endParaRPr lang="en-US" sz="1250" dirty="0"/>
          </a:p>
          <a:p>
            <a:pPr marL="152400" indent="-152400">
              <a:spcAft>
                <a:spcPts val="600"/>
              </a:spcAft>
              <a:buSzPct val="100000"/>
              <a:buChar char="•"/>
            </a:pPr>
            <a:r>
              <a:rPr lang="en-US" sz="1250" dirty="0">
                <a:solidFill>
                  <a:schemeClr val="tx1"/>
                </a:solidFill>
              </a:rPr>
              <a:t>Caliper-measure them</a:t>
            </a:r>
            <a:endParaRPr lang="en-US" sz="1250" dirty="0"/>
          </a:p>
          <a:p>
            <a:pPr marL="152400" indent="-152400">
              <a:spcAft>
                <a:spcPts val="600"/>
              </a:spcAft>
              <a:buSzPct val="100000"/>
              <a:buChar char="•"/>
            </a:pPr>
            <a:r>
              <a:rPr lang="en-US" sz="1250" dirty="0">
                <a:solidFill>
                  <a:schemeClr val="tx1"/>
                </a:solidFill>
              </a:rPr>
              <a:t>Measure σ_floor → first real tolerance</a:t>
            </a:r>
            <a:endParaRPr lang="en-US" sz="1250" dirty="0"/>
          </a:p>
        </p:txBody>
      </p:sp>
      <p:sp>
        <p:nvSpPr>
          <p:cNvPr id="20" name="Text 18"/>
          <p:cNvSpPr txBox="1"/>
          <p:nvPr/>
        </p:nvSpPr>
        <p:spPr>
          <a:xfrm>
            <a:off x="2977835" y="4983480"/>
            <a:ext cx="1743395" cy="274320"/>
          </a:xfrm>
          <a:prstGeom prst="rect">
            <a:avLst/>
          </a:prstGeom>
          <a:noFill/>
          <a:ln/>
        </p:spPr>
        <p:txBody>
          <a:bodyPr wrap="square" lIns="0" tIns="0" rIns="0" bIns="0" rtlCol="0" anchor="t"/>
          <a:lstStyle/>
          <a:p>
            <a:pPr indent="0" marL="0">
              <a:buNone/>
            </a:pPr>
            <a:r>
              <a:rPr lang="en-US" sz="1050" dirty="0">
                <a:solidFill>
                  <a:schemeClr val="accent4"/>
                </a:solidFill>
              </a:rPr>
              <a:t>G-01 – G-05, R-16</a:t>
            </a:r>
            <a:endParaRPr lang="en-US" sz="1050" dirty="0"/>
          </a:p>
        </p:txBody>
      </p:sp>
      <p:sp>
        <p:nvSpPr>
          <p:cNvPr id="21" name="Shape 19"/>
          <p:cNvSpPr/>
          <p:nvPr/>
        </p:nvSpPr>
        <p:spPr>
          <a:xfrm>
            <a:off x="5041270" y="1463040"/>
            <a:ext cx="2109155" cy="3931920"/>
          </a:xfrm>
          <a:prstGeom prst="roundRect">
            <a:avLst>
              <a:gd name="adj" fmla="val 3035"/>
            </a:avLst>
          </a:prstGeom>
          <a:solidFill>
            <a:srgbClr val="EEF4F5"/>
          </a:solidFill>
          <a:ln w="9525">
            <a:solidFill>
              <a:srgbClr val="EEF4F5"/>
            </a:solidFill>
            <a:prstDash val="solid"/>
          </a:ln>
        </p:spPr>
      </p:sp>
      <p:sp>
        <p:nvSpPr>
          <p:cNvPr id="22" name="Shape 20"/>
          <p:cNvSpPr/>
          <p:nvPr/>
        </p:nvSpPr>
        <p:spPr>
          <a:xfrm>
            <a:off x="5224150" y="1664208"/>
            <a:ext cx="384048" cy="384048"/>
          </a:xfrm>
          <a:prstGeom prst="ellipse">
            <a:avLst/>
          </a:prstGeom>
          <a:solidFill>
            <a:schemeClr val="accent1"/>
          </a:solidFill>
          <a:ln w="12700">
            <a:solidFill>
              <a:schemeClr val="accent1"/>
            </a:solidFill>
            <a:prstDash val="solid"/>
          </a:ln>
        </p:spPr>
      </p:sp>
      <p:sp>
        <p:nvSpPr>
          <p:cNvPr id="23" name="Text 21"/>
          <p:cNvSpPr txBox="1"/>
          <p:nvPr/>
        </p:nvSpPr>
        <p:spPr>
          <a:xfrm>
            <a:off x="5224150" y="1664208"/>
            <a:ext cx="384048" cy="384048"/>
          </a:xfrm>
          <a:prstGeom prst="rect">
            <a:avLst/>
          </a:prstGeom>
          <a:noFill/>
          <a:ln/>
        </p:spPr>
        <p:txBody>
          <a:bodyPr wrap="square" lIns="0" tIns="0" rIns="0" bIns="0" rtlCol="0" anchor="ctr"/>
          <a:lstStyle/>
          <a:p>
            <a:pPr algn="ctr" indent="0" marL="0">
              <a:buNone/>
            </a:pPr>
            <a:r>
              <a:rPr lang="en-US" sz="1428" b="1" dirty="0">
                <a:solidFill>
                  <a:schemeClr val="bg1"/>
                </a:solidFill>
              </a:rPr>
              <a:t>3</a:t>
            </a:r>
            <a:endParaRPr lang="en-US" sz="1428" dirty="0"/>
          </a:p>
        </p:txBody>
      </p:sp>
      <p:sp>
        <p:nvSpPr>
          <p:cNvPr id="24" name="Text 22"/>
          <p:cNvSpPr txBox="1"/>
          <p:nvPr/>
        </p:nvSpPr>
        <p:spPr>
          <a:xfrm>
            <a:off x="5224150" y="2176272"/>
            <a:ext cx="1743395" cy="603504"/>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Tier 2 inspection</a:t>
            </a:r>
            <a:endParaRPr lang="en-US" sz="1500" dirty="0"/>
          </a:p>
        </p:txBody>
      </p:sp>
      <p:sp>
        <p:nvSpPr>
          <p:cNvPr id="25" name="Shape 23"/>
          <p:cNvSpPr/>
          <p:nvPr/>
        </p:nvSpPr>
        <p:spPr>
          <a:xfrm>
            <a:off x="5224150" y="2834640"/>
            <a:ext cx="1743395" cy="292608"/>
          </a:xfrm>
          <a:prstGeom prst="roundRect">
            <a:avLst>
              <a:gd name="adj" fmla="val 46875"/>
            </a:avLst>
          </a:prstGeom>
          <a:solidFill>
            <a:srgbClr val="FFFFFF"/>
          </a:solidFill>
          <a:ln w="9525">
            <a:solidFill>
              <a:srgbClr val="CDD6D9"/>
            </a:solidFill>
            <a:prstDash val="solid"/>
          </a:ln>
        </p:spPr>
      </p:sp>
      <p:sp>
        <p:nvSpPr>
          <p:cNvPr id="26" name="Text 24"/>
          <p:cNvSpPr txBox="1"/>
          <p:nvPr/>
        </p:nvSpPr>
        <p:spPr>
          <a:xfrm>
            <a:off x="5297302" y="2834640"/>
            <a:ext cx="1597091" cy="292608"/>
          </a:xfrm>
          <a:prstGeom prst="rect">
            <a:avLst/>
          </a:prstGeom>
          <a:noFill/>
          <a:ln/>
        </p:spPr>
        <p:txBody>
          <a:bodyPr wrap="square" lIns="0" tIns="0" rIns="0" bIns="0" rtlCol="0" anchor="ctr">
            <a:normAutofit/>
          </a:bodyPr>
          <a:lstStyle/>
          <a:p>
            <a:pPr algn="ctr" indent="0" marL="0">
              <a:buNone/>
            </a:pPr>
            <a:r>
              <a:rPr lang="en-US" sz="1050" b="1" dirty="0">
                <a:solidFill>
                  <a:schemeClr val="accent1"/>
                </a:solidFill>
              </a:rPr>
              <a:t>M4 · 30 Oct</a:t>
            </a:r>
            <a:endParaRPr lang="en-US" sz="1050" dirty="0"/>
          </a:p>
        </p:txBody>
      </p:sp>
      <p:sp>
        <p:nvSpPr>
          <p:cNvPr id="27" name="Text 25"/>
          <p:cNvSpPr txBox="1"/>
          <p:nvPr/>
        </p:nvSpPr>
        <p:spPr>
          <a:xfrm>
            <a:off x="5224150" y="3291840"/>
            <a:ext cx="1834835" cy="1600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CAD registration</a:t>
            </a:r>
            <a:endParaRPr lang="en-US" sz="1250" dirty="0"/>
          </a:p>
          <a:p>
            <a:pPr marL="152400" indent="-152400">
              <a:spcAft>
                <a:spcPts val="600"/>
              </a:spcAft>
              <a:buSzPct val="100000"/>
              <a:buChar char="•"/>
            </a:pPr>
            <a:r>
              <a:rPr lang="en-US" sz="1250" dirty="0">
                <a:solidFill>
                  <a:schemeClr val="tx1"/>
                </a:solidFill>
              </a:rPr>
              <a:t>Deviation heatmap</a:t>
            </a:r>
            <a:endParaRPr lang="en-US" sz="1250" dirty="0"/>
          </a:p>
          <a:p>
            <a:pPr marL="152400" indent="-152400">
              <a:spcAft>
                <a:spcPts val="600"/>
              </a:spcAft>
              <a:buSzPct val="100000"/>
              <a:buChar char="•"/>
            </a:pPr>
            <a:r>
              <a:rPr lang="en-US" sz="1250" dirty="0">
                <a:solidFill>
                  <a:schemeClr val="tx1"/>
                </a:solidFill>
              </a:rPr>
              <a:t>Pass / Fail / Rescan / Unverifiable</a:t>
            </a:r>
            <a:endParaRPr lang="en-US" sz="1250" dirty="0"/>
          </a:p>
        </p:txBody>
      </p:sp>
      <p:sp>
        <p:nvSpPr>
          <p:cNvPr id="28" name="Text 26"/>
          <p:cNvSpPr txBox="1"/>
          <p:nvPr/>
        </p:nvSpPr>
        <p:spPr>
          <a:xfrm>
            <a:off x="5224150" y="4983480"/>
            <a:ext cx="1743395" cy="274320"/>
          </a:xfrm>
          <a:prstGeom prst="rect">
            <a:avLst/>
          </a:prstGeom>
          <a:noFill/>
          <a:ln/>
        </p:spPr>
        <p:txBody>
          <a:bodyPr wrap="square" lIns="0" tIns="0" rIns="0" bIns="0" rtlCol="0" anchor="t"/>
          <a:lstStyle/>
          <a:p>
            <a:pPr indent="0" marL="0">
              <a:buNone/>
            </a:pPr>
            <a:r>
              <a:rPr lang="en-US" sz="1050" dirty="0">
                <a:solidFill>
                  <a:schemeClr val="accent4"/>
                </a:solidFill>
              </a:rPr>
              <a:t>I-01 – I-10</a:t>
            </a:r>
            <a:endParaRPr lang="en-US" sz="1050" dirty="0"/>
          </a:p>
        </p:txBody>
      </p:sp>
      <p:sp>
        <p:nvSpPr>
          <p:cNvPr id="29" name="Shape 27"/>
          <p:cNvSpPr/>
          <p:nvPr/>
        </p:nvSpPr>
        <p:spPr>
          <a:xfrm>
            <a:off x="7287585" y="1463040"/>
            <a:ext cx="2109155" cy="3931920"/>
          </a:xfrm>
          <a:prstGeom prst="roundRect">
            <a:avLst>
              <a:gd name="adj" fmla="val 3035"/>
            </a:avLst>
          </a:prstGeom>
          <a:solidFill>
            <a:srgbClr val="FFFFFF"/>
          </a:solidFill>
          <a:ln w="28575">
            <a:solidFill>
              <a:srgbClr val="D98A2B"/>
            </a:solidFill>
            <a:prstDash val="solid"/>
          </a:ln>
        </p:spPr>
      </p:sp>
      <p:sp>
        <p:nvSpPr>
          <p:cNvPr id="30" name="Shape 28"/>
          <p:cNvSpPr/>
          <p:nvPr/>
        </p:nvSpPr>
        <p:spPr>
          <a:xfrm>
            <a:off x="7470465" y="1664208"/>
            <a:ext cx="384048" cy="384048"/>
          </a:xfrm>
          <a:prstGeom prst="ellipse">
            <a:avLst/>
          </a:prstGeom>
          <a:solidFill>
            <a:schemeClr val="accent3"/>
          </a:solidFill>
          <a:ln w="12700">
            <a:solidFill>
              <a:schemeClr val="accent3"/>
            </a:solidFill>
            <a:prstDash val="solid"/>
          </a:ln>
        </p:spPr>
      </p:sp>
      <p:sp>
        <p:nvSpPr>
          <p:cNvPr id="31" name="Text 29"/>
          <p:cNvSpPr txBox="1"/>
          <p:nvPr/>
        </p:nvSpPr>
        <p:spPr>
          <a:xfrm>
            <a:off x="7470465" y="1664208"/>
            <a:ext cx="384048" cy="384048"/>
          </a:xfrm>
          <a:prstGeom prst="rect">
            <a:avLst/>
          </a:prstGeom>
          <a:noFill/>
          <a:ln/>
        </p:spPr>
        <p:txBody>
          <a:bodyPr wrap="square" lIns="0" tIns="0" rIns="0" bIns="0" rtlCol="0" anchor="ctr"/>
          <a:lstStyle/>
          <a:p>
            <a:pPr algn="ctr" indent="0" marL="0">
              <a:buNone/>
            </a:pPr>
            <a:r>
              <a:rPr lang="en-US" sz="1428" b="1" dirty="0">
                <a:solidFill>
                  <a:schemeClr val="bg1"/>
                </a:solidFill>
              </a:rPr>
              <a:t>4</a:t>
            </a:r>
            <a:endParaRPr lang="en-US" sz="1428" dirty="0"/>
          </a:p>
        </p:txBody>
      </p:sp>
      <p:sp>
        <p:nvSpPr>
          <p:cNvPr id="32" name="Text 30"/>
          <p:cNvSpPr txBox="1"/>
          <p:nvPr/>
        </p:nvSpPr>
        <p:spPr>
          <a:xfrm>
            <a:off x="7470465" y="2176272"/>
            <a:ext cx="1743395" cy="603504"/>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Generative AI</a:t>
            </a:r>
            <a:endParaRPr lang="en-US" sz="1500" dirty="0"/>
          </a:p>
        </p:txBody>
      </p:sp>
      <p:sp>
        <p:nvSpPr>
          <p:cNvPr id="33" name="Shape 31"/>
          <p:cNvSpPr/>
          <p:nvPr/>
        </p:nvSpPr>
        <p:spPr>
          <a:xfrm>
            <a:off x="7470465" y="2834640"/>
            <a:ext cx="1743395" cy="292608"/>
          </a:xfrm>
          <a:prstGeom prst="roundRect">
            <a:avLst>
              <a:gd name="adj" fmla="val 46875"/>
            </a:avLst>
          </a:prstGeom>
          <a:solidFill>
            <a:srgbClr val="D98A2B"/>
          </a:solidFill>
          <a:ln w="9525">
            <a:solidFill>
              <a:srgbClr val="D98A2B"/>
            </a:solidFill>
            <a:prstDash val="solid"/>
          </a:ln>
        </p:spPr>
      </p:sp>
      <p:sp>
        <p:nvSpPr>
          <p:cNvPr id="34" name="Text 32"/>
          <p:cNvSpPr txBox="1"/>
          <p:nvPr/>
        </p:nvSpPr>
        <p:spPr>
          <a:xfrm>
            <a:off x="7543617" y="2834640"/>
            <a:ext cx="1597091" cy="292608"/>
          </a:xfrm>
          <a:prstGeom prst="rect">
            <a:avLst/>
          </a:prstGeom>
          <a:noFill/>
          <a:ln/>
        </p:spPr>
        <p:txBody>
          <a:bodyPr wrap="square" lIns="0" tIns="0" rIns="0" bIns="0" rtlCol="0" anchor="ctr">
            <a:normAutofit/>
          </a:bodyPr>
          <a:lstStyle/>
          <a:p>
            <a:pPr algn="ctr" indent="0" marL="0">
              <a:buNone/>
            </a:pPr>
            <a:r>
              <a:rPr lang="en-US" sz="1050" b="1" dirty="0">
                <a:solidFill>
                  <a:schemeClr val="tx1"/>
                </a:solidFill>
              </a:rPr>
              <a:t>Start now → 13 Nov</a:t>
            </a:r>
            <a:endParaRPr lang="en-US" sz="1050" dirty="0"/>
          </a:p>
        </p:txBody>
      </p:sp>
      <p:sp>
        <p:nvSpPr>
          <p:cNvPr id="35" name="Text 33"/>
          <p:cNvSpPr txBox="1"/>
          <p:nvPr/>
        </p:nvSpPr>
        <p:spPr>
          <a:xfrm>
            <a:off x="7470465" y="3291840"/>
            <a:ext cx="1834835" cy="1600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VLM checks the capture (first)</a:t>
            </a:r>
            <a:endParaRPr lang="en-US" sz="1250" dirty="0"/>
          </a:p>
          <a:p>
            <a:pPr marL="152400" indent="-152400">
              <a:spcAft>
                <a:spcPts val="600"/>
              </a:spcAft>
              <a:buSzPct val="100000"/>
              <a:buChar char="•"/>
            </a:pPr>
            <a:r>
              <a:rPr lang="en-US" sz="1250" dirty="0">
                <a:solidFill>
                  <a:schemeClr val="tx1"/>
                </a:solidFill>
              </a:rPr>
              <a:t>Plain-English spec → structured spec</a:t>
            </a:r>
            <a:endParaRPr lang="en-US" sz="1250" dirty="0"/>
          </a:p>
          <a:p>
            <a:pPr marL="152400" indent="-152400">
              <a:spcAft>
                <a:spcPts val="600"/>
              </a:spcAft>
              <a:buSzPct val="100000"/>
              <a:buChar char="•"/>
            </a:pPr>
            <a:r>
              <a:rPr lang="en-US" sz="1250" dirty="0">
                <a:solidFill>
                  <a:schemeClr val="tx1"/>
                </a:solidFill>
              </a:rPr>
              <a:t>Shape completion, capture agent, report</a:t>
            </a:r>
            <a:endParaRPr lang="en-US" sz="1250" dirty="0"/>
          </a:p>
        </p:txBody>
      </p:sp>
      <p:sp>
        <p:nvSpPr>
          <p:cNvPr id="36" name="Text 34"/>
          <p:cNvSpPr txBox="1"/>
          <p:nvPr/>
        </p:nvSpPr>
        <p:spPr>
          <a:xfrm>
            <a:off x="7470465" y="4983480"/>
            <a:ext cx="1743395" cy="274320"/>
          </a:xfrm>
          <a:prstGeom prst="rect">
            <a:avLst/>
          </a:prstGeom>
          <a:noFill/>
          <a:ln/>
        </p:spPr>
        <p:txBody>
          <a:bodyPr wrap="square" lIns="0" tIns="0" rIns="0" bIns="0" rtlCol="0" anchor="t"/>
          <a:lstStyle/>
          <a:p>
            <a:pPr indent="0" marL="0">
              <a:buNone/>
            </a:pPr>
            <a:r>
              <a:rPr lang="en-US" sz="1050" dirty="0">
                <a:solidFill>
                  <a:schemeClr val="accent4"/>
                </a:solidFill>
              </a:rPr>
              <a:t>A-01 – A-09</a:t>
            </a:r>
            <a:endParaRPr lang="en-US" sz="1050" dirty="0"/>
          </a:p>
        </p:txBody>
      </p:sp>
      <p:sp>
        <p:nvSpPr>
          <p:cNvPr id="37" name="Shape 35"/>
          <p:cNvSpPr/>
          <p:nvPr/>
        </p:nvSpPr>
        <p:spPr>
          <a:xfrm>
            <a:off x="9533900" y="1463040"/>
            <a:ext cx="2109155" cy="3931920"/>
          </a:xfrm>
          <a:prstGeom prst="roundRect">
            <a:avLst>
              <a:gd name="adj" fmla="val 3035"/>
            </a:avLst>
          </a:prstGeom>
          <a:solidFill>
            <a:srgbClr val="EEF4F5"/>
          </a:solidFill>
          <a:ln w="9525">
            <a:solidFill>
              <a:srgbClr val="EEF4F5"/>
            </a:solidFill>
            <a:prstDash val="solid"/>
          </a:ln>
        </p:spPr>
      </p:sp>
      <p:sp>
        <p:nvSpPr>
          <p:cNvPr id="38" name="Shape 36"/>
          <p:cNvSpPr/>
          <p:nvPr/>
        </p:nvSpPr>
        <p:spPr>
          <a:xfrm>
            <a:off x="9716780" y="1664208"/>
            <a:ext cx="384048" cy="384048"/>
          </a:xfrm>
          <a:prstGeom prst="ellipse">
            <a:avLst/>
          </a:prstGeom>
          <a:solidFill>
            <a:schemeClr val="accent1"/>
          </a:solidFill>
          <a:ln w="12700">
            <a:solidFill>
              <a:schemeClr val="accent1"/>
            </a:solidFill>
            <a:prstDash val="solid"/>
          </a:ln>
        </p:spPr>
      </p:sp>
      <p:sp>
        <p:nvSpPr>
          <p:cNvPr id="39" name="Text 37"/>
          <p:cNvSpPr txBox="1"/>
          <p:nvPr/>
        </p:nvSpPr>
        <p:spPr>
          <a:xfrm>
            <a:off x="9716780" y="1664208"/>
            <a:ext cx="384048" cy="384048"/>
          </a:xfrm>
          <a:prstGeom prst="rect">
            <a:avLst/>
          </a:prstGeom>
          <a:noFill/>
          <a:ln/>
        </p:spPr>
        <p:txBody>
          <a:bodyPr wrap="square" lIns="0" tIns="0" rIns="0" bIns="0" rtlCol="0" anchor="ctr"/>
          <a:lstStyle/>
          <a:p>
            <a:pPr algn="ctr" indent="0" marL="0">
              <a:buNone/>
            </a:pPr>
            <a:r>
              <a:rPr lang="en-US" sz="1428" b="1" dirty="0">
                <a:solidFill>
                  <a:schemeClr val="bg1"/>
                </a:solidFill>
              </a:rPr>
              <a:t>5</a:t>
            </a:r>
            <a:endParaRPr lang="en-US" sz="1428" dirty="0"/>
          </a:p>
        </p:txBody>
      </p:sp>
      <p:sp>
        <p:nvSpPr>
          <p:cNvPr id="40" name="Text 38"/>
          <p:cNvSpPr txBox="1"/>
          <p:nvPr/>
        </p:nvSpPr>
        <p:spPr>
          <a:xfrm>
            <a:off x="9716780" y="2176272"/>
            <a:ext cx="1743395" cy="603504"/>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Cloud path + product</a:t>
            </a:r>
            <a:endParaRPr lang="en-US" sz="1500" dirty="0"/>
          </a:p>
        </p:txBody>
      </p:sp>
      <p:sp>
        <p:nvSpPr>
          <p:cNvPr id="41" name="Shape 39"/>
          <p:cNvSpPr/>
          <p:nvPr/>
        </p:nvSpPr>
        <p:spPr>
          <a:xfrm>
            <a:off x="9716780" y="2834640"/>
            <a:ext cx="1743395" cy="292608"/>
          </a:xfrm>
          <a:prstGeom prst="roundRect">
            <a:avLst>
              <a:gd name="adj" fmla="val 46875"/>
            </a:avLst>
          </a:prstGeom>
          <a:solidFill>
            <a:srgbClr val="FFFFFF"/>
          </a:solidFill>
          <a:ln w="9525">
            <a:solidFill>
              <a:srgbClr val="CDD6D9"/>
            </a:solidFill>
            <a:prstDash val="solid"/>
          </a:ln>
        </p:spPr>
      </p:sp>
      <p:sp>
        <p:nvSpPr>
          <p:cNvPr id="42" name="Text 40"/>
          <p:cNvSpPr txBox="1"/>
          <p:nvPr/>
        </p:nvSpPr>
        <p:spPr>
          <a:xfrm>
            <a:off x="9789932" y="2834640"/>
            <a:ext cx="1597091" cy="292608"/>
          </a:xfrm>
          <a:prstGeom prst="rect">
            <a:avLst/>
          </a:prstGeom>
          <a:noFill/>
          <a:ln/>
        </p:spPr>
        <p:txBody>
          <a:bodyPr wrap="square" lIns="0" tIns="0" rIns="0" bIns="0" rtlCol="0" anchor="ctr">
            <a:normAutofit/>
          </a:bodyPr>
          <a:lstStyle/>
          <a:p>
            <a:pPr algn="ctr" indent="0" marL="0">
              <a:buNone/>
            </a:pPr>
            <a:r>
              <a:rPr lang="en-US" sz="1050" b="1" dirty="0">
                <a:solidFill>
                  <a:schemeClr val="accent1"/>
                </a:solidFill>
              </a:rPr>
              <a:t>M5 – M6</a:t>
            </a:r>
            <a:endParaRPr lang="en-US" sz="1050" dirty="0"/>
          </a:p>
        </p:txBody>
      </p:sp>
      <p:sp>
        <p:nvSpPr>
          <p:cNvPr id="43" name="Text 41"/>
          <p:cNvSpPr txBox="1"/>
          <p:nvPr/>
        </p:nvSpPr>
        <p:spPr>
          <a:xfrm>
            <a:off x="9716780" y="3291840"/>
            <a:ext cx="1834835" cy="1600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tx1"/>
                </a:solidFill>
              </a:rPr>
              <a:t>Browser → cloud GPU, order code checked</a:t>
            </a:r>
            <a:endParaRPr lang="en-US" sz="1250" dirty="0"/>
          </a:p>
          <a:p>
            <a:pPr marL="152400" indent="-152400">
              <a:spcAft>
                <a:spcPts val="600"/>
              </a:spcAft>
              <a:buSzPct val="100000"/>
              <a:buChar char="•"/>
            </a:pPr>
            <a:r>
              <a:rPr lang="en-US" sz="1250" dirty="0">
                <a:solidFill>
                  <a:schemeClr val="tx1"/>
                </a:solidFill>
              </a:rPr>
              <a:t>Host the app properly</a:t>
            </a:r>
            <a:endParaRPr lang="en-US" sz="1250" dirty="0"/>
          </a:p>
          <a:p>
            <a:pPr marL="152400" indent="-152400">
              <a:spcAft>
                <a:spcPts val="600"/>
              </a:spcAft>
              <a:buSzPct val="100000"/>
              <a:buChar char="•"/>
            </a:pPr>
            <a:r>
              <a:rPr lang="en-US" sz="1250" dirty="0">
                <a:solidFill>
                  <a:schemeClr val="tx1"/>
                </a:solidFill>
              </a:rPr>
              <a:t>Android, buyer and report pages</a:t>
            </a:r>
            <a:endParaRPr lang="en-US" sz="1250" dirty="0"/>
          </a:p>
        </p:txBody>
      </p:sp>
      <p:sp>
        <p:nvSpPr>
          <p:cNvPr id="44" name="Text 42"/>
          <p:cNvSpPr txBox="1"/>
          <p:nvPr/>
        </p:nvSpPr>
        <p:spPr>
          <a:xfrm>
            <a:off x="9716780" y="4983480"/>
            <a:ext cx="1743395" cy="274320"/>
          </a:xfrm>
          <a:prstGeom prst="rect">
            <a:avLst/>
          </a:prstGeom>
          <a:noFill/>
          <a:ln/>
        </p:spPr>
        <p:txBody>
          <a:bodyPr wrap="square" lIns="0" tIns="0" rIns="0" bIns="0" rtlCol="0" anchor="t"/>
          <a:lstStyle/>
          <a:p>
            <a:pPr indent="0" marL="0">
              <a:buNone/>
            </a:pPr>
            <a:r>
              <a:rPr lang="en-US" sz="1050" dirty="0">
                <a:solidFill>
                  <a:schemeClr val="accent4"/>
                </a:solidFill>
              </a:rPr>
              <a:t>O-005, C-14 – C-18</a:t>
            </a:r>
            <a:endParaRPr lang="en-US" sz="1050" dirty="0"/>
          </a:p>
        </p:txBody>
      </p:sp>
      <p:sp>
        <p:nvSpPr>
          <p:cNvPr id="45" name="Shape 43"/>
          <p:cNvSpPr/>
          <p:nvPr/>
        </p:nvSpPr>
        <p:spPr>
          <a:xfrm>
            <a:off x="548640" y="5596128"/>
            <a:ext cx="11094415" cy="548640"/>
          </a:xfrm>
          <a:prstGeom prst="roundRect">
            <a:avLst>
              <a:gd name="adj" fmla="val 10000"/>
            </a:avLst>
          </a:prstGeom>
          <a:solidFill>
            <a:schemeClr val="bg1"/>
          </a:solidFill>
          <a:ln w="15875">
            <a:solidFill>
              <a:schemeClr val="accent2"/>
            </a:solidFill>
            <a:prstDash val="solid"/>
          </a:ln>
        </p:spPr>
      </p:sp>
      <p:sp>
        <p:nvSpPr>
          <p:cNvPr id="46" name="Text 44"/>
          <p:cNvSpPr txBox="1"/>
          <p:nvPr/>
        </p:nvSpPr>
        <p:spPr>
          <a:xfrm>
            <a:off x="777240" y="5596128"/>
            <a:ext cx="10637215" cy="548640"/>
          </a:xfrm>
          <a:prstGeom prst="rect">
            <a:avLst/>
          </a:prstGeom>
          <a:noFill/>
          <a:ln/>
        </p:spPr>
        <p:txBody>
          <a:bodyPr wrap="square" lIns="0" tIns="0" rIns="0" bIns="0" rtlCol="0" anchor="ctr"/>
          <a:lstStyle/>
          <a:p>
            <a:pPr indent="0" marL="0">
              <a:buNone/>
            </a:pPr>
            <a:r>
              <a:rPr lang="en-US" sz="1250" b="1" dirty="0">
                <a:solidFill>
                  <a:schemeClr val="tx1"/>
                </a:solidFill>
              </a:rPr>
              <a:t>Generative AI is about a third of the course requirement and has not started. </a:t>
            </a:r>
            <a:pPr indent="0" marL="0">
              <a:buNone/>
            </a:pPr>
            <a:r>
              <a:rPr lang="en-US" sz="1250" dirty="0">
                <a:solidFill>
                  <a:schemeClr val="tx1"/>
                </a:solidFill>
              </a:rPr>
              <a:t>It is never cut; it starts now, alongside inspection.</a:t>
            </a:r>
            <a:endParaRPr lang="en-US" sz="12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86384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REFERENCES · METHODS AND SOFTWARE WE BUILD ON</a:t>
            </a:r>
            <a:endParaRPr lang="en-US" sz="1100" dirty="0"/>
          </a:p>
        </p:txBody>
      </p:sp>
      <p:sp>
        <p:nvSpPr>
          <p:cNvPr id="3" name="Text 0"/>
          <p:cNvSpPr/>
          <p:nvPr>
            <p:ph idx="101" type="body" hasCustomPrompt="1"/>
          </p:nvPr>
        </p:nvSpPr>
        <p:spPr>
          <a:xfrm>
            <a:off x="8531352" y="274320"/>
            <a:ext cx="3108960" cy="274320"/>
          </a:xfrm>
          <a:prstGeom prst="rect">
            <a:avLst/>
          </a:prstGeom>
          <a:noFill/>
          <a:ln/>
        </p:spPr>
        <p:txBody>
          <a:bodyPr wrap="square" lIns="0" tIns="0" rIns="0" bIns="0" rtlCol="0" anchor="ctr"/>
          <a:lstStyle/>
          <a:p>
            <a:pPr algn="r" indent="0" marL="0">
              <a:buNone/>
            </a:pPr>
            <a:r>
              <a:rPr lang="en-US" sz="1100" dirty="0">
                <a:solidFill>
                  <a:schemeClr val="accent4"/>
                </a:solidFill>
              </a:rPr>
              <a:t>Presenter · Tabeen</a:t>
            </a:r>
            <a:endParaRPr lang="en-US" sz="1100" dirty="0"/>
          </a:p>
        </p:txBody>
      </p:sp>
      <p:sp>
        <p:nvSpPr>
          <p:cNvPr id="4" name="Text 0"/>
          <p:cNvSpPr/>
          <p:nvPr>
            <p:ph idx="102"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References</a:t>
            </a:r>
            <a:endParaRPr lang="en-US" sz="3000" dirty="0"/>
          </a:p>
        </p:txBody>
      </p:sp>
      <p:sp>
        <p:nvSpPr>
          <p:cNvPr id="5" name="Text 3"/>
          <p:cNvSpPr txBox="1"/>
          <p:nvPr/>
        </p:nvSpPr>
        <p:spPr>
          <a:xfrm>
            <a:off x="548640" y="1463040"/>
            <a:ext cx="5364328" cy="4754880"/>
          </a:xfrm>
          <a:prstGeom prst="rect">
            <a:avLst/>
          </a:prstGeom>
          <a:noFill/>
          <a:ln/>
        </p:spPr>
        <p:txBody>
          <a:bodyPr wrap="square" lIns="0" tIns="0" rIns="0" bIns="0" rtlCol="0" anchor="t"/>
          <a:lstStyle/>
          <a:p>
            <a:pPr indent="0" marL="0">
              <a:spcAft>
                <a:spcPts val="900"/>
              </a:spcAft>
              <a:buNone/>
            </a:pPr>
            <a:r>
              <a:rPr lang="en-US" sz="1200" dirty="0">
                <a:solidFill>
                  <a:schemeClr val="tx1"/>
                </a:solidFill>
              </a:rPr>
              <a:t>[1]  J. Wang, M. Chen, N. Karaev, A. Vedaldi, C. Rupprecht, D. Novotny, “VGGT: Visual Geometry Grounded Transformer,” CVPR, 2025.</a:t>
            </a:r>
            <a:endParaRPr lang="en-US" sz="1200" dirty="0"/>
          </a:p>
          <a:p>
            <a:pPr indent="0" marL="0">
              <a:spcAft>
                <a:spcPts val="900"/>
              </a:spcAft>
              <a:buNone/>
            </a:pPr>
            <a:r>
              <a:rPr lang="en-US" sz="1200" dirty="0">
                <a:solidFill>
                  <a:schemeClr val="tx1"/>
                </a:solidFill>
              </a:rPr>
              <a:t>[2]  V. Leroy, Y. Cabon, J. Revaud, “Grounding Image Matching in 3D with MASt3R,” ECCV, 2024.</a:t>
            </a:r>
            <a:endParaRPr lang="en-US" sz="1200" dirty="0"/>
          </a:p>
          <a:p>
            <a:pPr indent="0" marL="0">
              <a:spcAft>
                <a:spcPts val="900"/>
              </a:spcAft>
              <a:buNone/>
            </a:pPr>
            <a:r>
              <a:rPr lang="en-US" sz="1200" dirty="0">
                <a:solidFill>
                  <a:schemeClr val="tx1"/>
                </a:solidFill>
              </a:rPr>
              <a:t>[3]  J. L. Schönberger, J.-M. Frahm, “Structure-from-Motion Revisited,” CVPR, 2016.</a:t>
            </a:r>
            <a:endParaRPr lang="en-US" sz="1200" dirty="0"/>
          </a:p>
          <a:p>
            <a:pPr indent="0" marL="0">
              <a:spcAft>
                <a:spcPts val="900"/>
              </a:spcAft>
              <a:buNone/>
            </a:pPr>
            <a:r>
              <a:rPr lang="en-US" sz="1200" dirty="0">
                <a:solidFill>
                  <a:schemeClr val="tx1"/>
                </a:solidFill>
              </a:rPr>
              <a:t>[4]  J. L. Schönberger, E. Zheng, M. Pollefeys, J.-M. Frahm, “Pixelwise View Selection for Unstructured Multi-View Stereo,” ECCV, 2016.</a:t>
            </a:r>
            <a:endParaRPr lang="en-US" sz="1200" dirty="0"/>
          </a:p>
          <a:p>
            <a:pPr indent="0" marL="0">
              <a:spcAft>
                <a:spcPts val="900"/>
              </a:spcAft>
              <a:buNone/>
            </a:pPr>
            <a:r>
              <a:rPr lang="en-US" sz="1200" dirty="0">
                <a:solidFill>
                  <a:schemeClr val="tx1"/>
                </a:solidFill>
              </a:rPr>
              <a:t>[5]  S. Garrido-Jurado, R. Muñoz-Salinas, F. J. Madrid-Cuevas, M. J. Marín-Jiménez, “Automatic generation and detection of highly reliable fiducial markers under occlusion,” Pattern Recognition, 47(6), 2014.</a:t>
            </a:r>
            <a:endParaRPr lang="en-US" sz="1200" dirty="0"/>
          </a:p>
          <a:p>
            <a:pPr indent="0" marL="0">
              <a:spcAft>
                <a:spcPts val="900"/>
              </a:spcAft>
              <a:buNone/>
            </a:pPr>
            <a:r>
              <a:rPr lang="en-US" sz="1200" dirty="0">
                <a:solidFill>
                  <a:schemeClr val="tx1"/>
                </a:solidFill>
              </a:rPr>
              <a:t>[6]  G. Terzakis, M. Lourakis, “A Consistently Fast and Globally Optimal Solution to the Perspective-n-Point Problem,” ECCV, 2020.</a:t>
            </a:r>
            <a:endParaRPr lang="en-US" sz="1200" dirty="0"/>
          </a:p>
          <a:p>
            <a:pPr indent="0" marL="0">
              <a:spcAft>
                <a:spcPts val="900"/>
              </a:spcAft>
              <a:buNone/>
            </a:pPr>
            <a:r>
              <a:rPr lang="en-US" sz="1200" dirty="0">
                <a:solidFill>
                  <a:schemeClr val="tx1"/>
                </a:solidFill>
              </a:rPr>
              <a:t>[7]  S. Umeyama, “Least-squares estimation of transformation parameters between two point patterns,” IEEE TPAMI, 13(4), 1991.</a:t>
            </a:r>
            <a:endParaRPr lang="en-US" sz="1200" dirty="0"/>
          </a:p>
          <a:p>
            <a:pPr indent="0" marL="0">
              <a:spcAft>
                <a:spcPts val="900"/>
              </a:spcAft>
              <a:buNone/>
            </a:pPr>
            <a:r>
              <a:rPr lang="en-US" sz="1200" dirty="0">
                <a:solidFill>
                  <a:schemeClr val="tx1"/>
                </a:solidFill>
              </a:rPr>
              <a:t>[8]  B. Curless, M. Levoy, “A Volumetric Method for Building Complex Models from Range Images,” SIGGRAPH, 1996.</a:t>
            </a:r>
            <a:endParaRPr lang="en-US" sz="1200" dirty="0"/>
          </a:p>
        </p:txBody>
      </p:sp>
      <p:sp>
        <p:nvSpPr>
          <p:cNvPr id="6" name="Text 4"/>
          <p:cNvSpPr txBox="1"/>
          <p:nvPr/>
        </p:nvSpPr>
        <p:spPr>
          <a:xfrm>
            <a:off x="6278728" y="1463040"/>
            <a:ext cx="5364328" cy="4754880"/>
          </a:xfrm>
          <a:prstGeom prst="rect">
            <a:avLst/>
          </a:prstGeom>
          <a:noFill/>
          <a:ln/>
        </p:spPr>
        <p:txBody>
          <a:bodyPr wrap="square" lIns="0" tIns="0" rIns="0" bIns="0" rtlCol="0" anchor="t"/>
          <a:lstStyle/>
          <a:p>
            <a:pPr indent="0" marL="0">
              <a:spcAft>
                <a:spcPts val="900"/>
              </a:spcAft>
              <a:buNone/>
            </a:pPr>
            <a:r>
              <a:rPr lang="en-US" sz="1200" dirty="0">
                <a:solidFill>
                  <a:schemeClr val="tx1"/>
                </a:solidFill>
              </a:rPr>
              <a:t>[9]  W. E. Lorensen, H. E. Cline, “Marching Cubes: A High Resolution 3D Surface Construction Algorithm,” SIGGRAPH, 1987.</a:t>
            </a:r>
            <a:endParaRPr lang="en-US" sz="1200" dirty="0"/>
          </a:p>
          <a:p>
            <a:pPr indent="0" marL="0">
              <a:spcAft>
                <a:spcPts val="900"/>
              </a:spcAft>
              <a:buNone/>
            </a:pPr>
            <a:r>
              <a:rPr lang="en-US" sz="1200" dirty="0">
                <a:solidFill>
                  <a:schemeClr val="tx1"/>
                </a:solidFill>
              </a:rPr>
              <a:t>[10]  M. Kazhdan, M. Bolitho, H. Hoppe, “Poisson Surface Reconstruction,” Eurographics SGP, 2006.</a:t>
            </a:r>
            <a:endParaRPr lang="en-US" sz="1200" dirty="0"/>
          </a:p>
          <a:p>
            <a:pPr indent="0" marL="0">
              <a:spcAft>
                <a:spcPts val="900"/>
              </a:spcAft>
              <a:buNone/>
            </a:pPr>
            <a:r>
              <a:rPr lang="en-US" sz="1200" dirty="0">
                <a:solidFill>
                  <a:schemeClr val="tx1"/>
                </a:solidFill>
              </a:rPr>
              <a:t>[11]  M. Garland, P. S. Heckbert, “Surface Simplification Using Quadric Error Metrics,” SIGGRAPH, 1997.</a:t>
            </a:r>
            <a:endParaRPr lang="en-US" sz="1200" dirty="0"/>
          </a:p>
          <a:p>
            <a:pPr indent="0" marL="0">
              <a:spcAft>
                <a:spcPts val="900"/>
              </a:spcAft>
              <a:buNone/>
            </a:pPr>
            <a:r>
              <a:rPr lang="en-US" sz="1200" dirty="0">
                <a:solidFill>
                  <a:schemeClr val="tx1"/>
                </a:solidFill>
              </a:rPr>
              <a:t>[12]  G. Bradski, “The OpenCV Library,” Dr. Dobb’s Journal of Software Tools, 2000.</a:t>
            </a:r>
            <a:endParaRPr lang="en-US" sz="1200" dirty="0"/>
          </a:p>
          <a:p>
            <a:pPr indent="0" marL="0">
              <a:spcAft>
                <a:spcPts val="900"/>
              </a:spcAft>
              <a:buNone/>
            </a:pPr>
            <a:r>
              <a:rPr lang="en-US" sz="1200" dirty="0">
                <a:solidFill>
                  <a:schemeClr val="tx1"/>
                </a:solidFill>
              </a:rPr>
              <a:t>[13]  Q.-Y. Zhou, J. Park, V. Koltun, “Open3D: A Modern Library for 3D Data Processing,” arXiv:1801.09847, 2018.</a:t>
            </a:r>
            <a:endParaRPr lang="en-US" sz="1200" dirty="0"/>
          </a:p>
          <a:p>
            <a:pPr indent="0" marL="0">
              <a:spcAft>
                <a:spcPts val="900"/>
              </a:spcAft>
              <a:buNone/>
            </a:pPr>
            <a:r>
              <a:rPr lang="en-US" sz="1200" dirty="0">
                <a:solidFill>
                  <a:schemeClr val="tx1"/>
                </a:solidFill>
              </a:rPr>
              <a:t>[14]  S. van der Walt et al., “scikit-image: image processing in Python,” PeerJ, 2:e453, 2014.</a:t>
            </a:r>
            <a:endParaRPr lang="en-US" sz="1200" dirty="0"/>
          </a:p>
          <a:p>
            <a:pPr indent="0" marL="0">
              <a:spcAft>
                <a:spcPts val="900"/>
              </a:spcAft>
              <a:buNone/>
            </a:pPr>
            <a:r>
              <a:rPr lang="en-US" sz="1200" dirty="0">
                <a:solidFill>
                  <a:schemeClr val="tx1"/>
                </a:solidFill>
              </a:rPr>
              <a:t>[15]  Khronos Group, “glTF 2.0 Specification”; three.js, FastAPI, Vite and Lightning AI documentation.</a:t>
            </a:r>
            <a:endParaRPr lang="en-US" sz="1200" dirty="0"/>
          </a:p>
          <a:p>
            <a:pPr indent="0" marL="0">
              <a:spcAft>
                <a:spcPts val="900"/>
              </a:spcAft>
              <a:buNone/>
            </a:pPr>
            <a:r>
              <a:rPr lang="en-US" sz="1200" dirty="0">
                <a:solidFill>
                  <a:schemeClr val="tx1"/>
                </a:solidFill>
              </a:rPr>
              <a:t>[16]  ProofShape team, project repository, stories and decision log: github.com/proofshape/proofshape</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ProofShape">
  <a:themeElements>
    <a:clrScheme name="ProofShape">
      <a:dk1>
        <a:srgbClr val="1A2326"/>
      </a:dk1>
      <a:lt1>
        <a:srgbClr val="FFFFFF"/>
      </a:lt1>
      <a:dk2>
        <a:srgbClr val="0E2F36"/>
      </a:dk2>
      <a:lt2>
        <a:srgbClr val="EEF4F5"/>
      </a:lt2>
      <a:accent1>
        <a:srgbClr val="16697A"/>
      </a:accent1>
      <a:accent2>
        <a:srgbClr val="D98A2B"/>
      </a:accent2>
      <a:accent3>
        <a:srgbClr val="C8402F"/>
      </a:accent3>
      <a:accent4>
        <a:srgbClr val="5F6E74"/>
      </a:accent4>
      <a:accent5>
        <a:srgbClr val="7FB3BE"/>
      </a:accent5>
      <a:accent6>
        <a:srgbClr val="CDD6D9"/>
      </a:accent6>
      <a:hlink>
        <a:srgbClr val="16697A"/>
      </a:hlink>
      <a:folHlink>
        <a:srgbClr val="4E8F9C"/>
      </a:folHlink>
    </a:clrScheme>
    <a:fontScheme name="ProofShap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ProofShape — CS595 Midterm Progress Review</dc:title>
  <dc:subject>CS595 Capstone, Fall 2026, San Francisco Bay University</dc:subject>
  <dc:creator>ProofShape team — Tabeen, Mamadou, Yashi</dc:creator>
  <cp:lastModifiedBy>ProofShape team — Tabeen, Mamadou, Yashi</cp:lastModifiedBy>
  <cp:revision>1</cp:revision>
  <dcterms:created xsi:type="dcterms:W3CDTF">2026-10-20T23:35:09Z</dcterms:created>
  <dcterms:modified xsi:type="dcterms:W3CDTF">2026-10-20T23:35:09Z</dcterms:modified>
</cp:coreProperties>
</file>