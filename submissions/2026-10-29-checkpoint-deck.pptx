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5029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6B6D4"/>
                </a:solidFill>
                <a:latin typeface="Aptos"/>
              </a:rPr>
              <a:t>PROOFSHAPE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Smartphone 3D Inspection</a:t>
            </a:r>
            <a:br/>
            <a:r>
              <a:t>Checkpoint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9718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Aptos"/>
              </a:rPr>
              <a:t>Mobile capture → metric reconstruction → provenance-aware inspection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3886200"/>
            <a:ext cx="160020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3913632"/>
            <a:ext cx="1600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13-WEEK CAPSTONE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42032" y="3886200"/>
            <a:ext cx="1508760" cy="34747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42032" y="3913632"/>
            <a:ext cx="1508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3-PERSON TEAM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3886200"/>
            <a:ext cx="1417320" cy="34747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24528" y="3913632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OCT 29,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1325880"/>
            <a:ext cx="2834640" cy="3383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49640" y="1325880"/>
            <a:ext cx="73152" cy="33832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1527048"/>
            <a:ext cx="24231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Current checkpoint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1947672"/>
            <a:ext cx="242316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Aptos"/>
              </a:rPr>
              <a:t>Phone capture is connected to the real service. Metric alignment, confidence-gated provenance, uncertainty, and AI frame supervision are working. CAD registration is the next inspection milestone.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Aptos"/>
              </a:rPr>
              <a:t>PROOFSHAPE  •  CHECKPOINT  •  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Aptos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Three contributors, one inspection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429000" cy="3566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73152" cy="3566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12848"/>
            <a:ext cx="3017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Mamadou Jallow  ·  @mbj1994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33472"/>
            <a:ext cx="3017520" cy="2834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Aptos"/>
              </a:rPr>
              <a:t>Reconstruction &amp; integration</a:t>
            </a:r>
            <a:br/>
            <a:r>
              <a:t>• Provenance / uncertainty</a:t>
            </a:r>
            <a:br/>
            <a:r>
              <a:t>• Metric alignment support</a:t>
            </a:r>
            <a:br/>
            <a:r>
              <a:t>• VLM supervision</a:t>
            </a:r>
            <a:br/>
            <a:r>
              <a:t>• CAD loading + I-03 registration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429000" cy="3566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2011680"/>
            <a:ext cx="73152" cy="35661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212848"/>
            <a:ext cx="3017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Yashi Dalwala  ·  @dalwalyk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633472"/>
            <a:ext cx="3017520" cy="2834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Aptos"/>
              </a:rPr>
              <a:t>Capture &amp; inspection</a:t>
            </a:r>
            <a:br/>
            <a:r>
              <a:t>• Capture → service integration</a:t>
            </a:r>
            <a:br/>
            <a:r>
              <a:t>• CAD / OBJ loading</a:t>
            </a:r>
            <a:br/>
            <a:r>
              <a:t>• Device validation</a:t>
            </a:r>
            <a:br/>
            <a:r>
              <a:t>• Cross-machine testing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011680"/>
            <a:ext cx="3429000" cy="3566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2011680"/>
            <a:ext cx="73152" cy="3566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212848"/>
            <a:ext cx="3017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Tabeen Raoof  ·  @TabeenRaoof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633472"/>
            <a:ext cx="3017520" cy="2834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Aptos"/>
              </a:rPr>
              <a:t>Reconstruction validation</a:t>
            </a:r>
            <a:br/>
            <a:r>
              <a:t>• Golden-set reruns</a:t>
            </a:r>
            <a:br/>
            <a:r>
              <a:t>• Metric / board validation</a:t>
            </a:r>
            <a:br/>
            <a:r>
              <a:t>• Review &amp; clean checkout</a:t>
            </a:r>
            <a:br/>
            <a:r>
              <a:t>• Measurement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Aptos"/>
              </a:rPr>
              <a:t>PROOFSHAPE  •  CHECKPOINT  • 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Aptos"/>
              </a:rPr>
              <a:t>PROGRESS 1/4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Phone capture now reaches the real reconstruction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Aptos"/>
              </a:rPr>
              <a:t>C-13 closed the gap between the browser capture flow and recon.service.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486400" cy="3566160"/>
          </a:xfrm>
          <a:prstGeom prst="roundRect">
            <a:avLst/>
          </a:prstGeom>
          <a:solidFill>
            <a:srgbClr val="02061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7627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Aptos"/>
              </a:rPr>
              <a:t>REAL-PHONE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633472"/>
            <a:ext cx="4983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Aptos"/>
              </a:rPr>
              <a:t>iPhone → HTTPS dev proxy → recon.service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026664"/>
            <a:ext cx="4983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Aptos"/>
              </a:rPr>
              <a:t>14-frame clean-checkout session completed on M3 Pro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419856"/>
            <a:ext cx="4983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Aptos"/>
              </a:rPr>
              <a:t>metric: true  •  ChArUco reference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813048"/>
            <a:ext cx="4983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Aptos"/>
              </a:rPr>
              <a:t>observed_fraction: 0.1395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4206240"/>
            <a:ext cx="4983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Aptos"/>
              </a:rPr>
              <a:t>638 KB GLB produced on disk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011680"/>
            <a:ext cx="4846320" cy="1554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92240" y="2011680"/>
            <a:ext cx="73152" cy="1554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2212848"/>
            <a:ext cx="44348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What changed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633472"/>
            <a:ext cx="4434840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Aptos"/>
              </a:rPr>
              <a:t>EXIF-less phone frames are calibrated from the printed ChArUco board; the same-origin proxy lets the phone reach the real service without a second certificate.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3794760"/>
            <a:ext cx="4846320" cy="1783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3794760"/>
            <a:ext cx="73152" cy="17830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3995928"/>
            <a:ext cx="44348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What we learned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4416552"/>
            <a:ext cx="44348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Aptos"/>
              </a:rPr>
              <a:t>The end-to-end path works, but phone reliability is not solved yet: early tests exposed board-calibration and fusion failure modes. Failures now report their real cause instead of failing silently.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Aptos"/>
              </a:rPr>
              <a:t>PROOFSHAPE  •  CHECKPOINT  • 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Aptos"/>
              </a:rPr>
              <a:t>PROGRESS 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Metric alignment is now board-anchored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Aptos"/>
              </a:rPr>
              <a:t>R-23 removed the old camera-centre scale bias across all five golden objects.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6583680" cy="3566160"/>
          </a:xfrm>
          <a:prstGeom prst="roundRect">
            <a:avLst/>
          </a:prstGeom>
          <a:solidFill>
            <a:srgbClr val="020617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76272"/>
            <a:ext cx="6126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Aptos"/>
              </a:rPr>
              <a:t>R-23 GOLDEN-SET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633472"/>
            <a:ext cx="60807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Aptos"/>
              </a:rPr>
              <a:t>s-01   board scale 0.9980   RMS 2.540 mm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026664"/>
            <a:ext cx="60807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Aptos"/>
              </a:rPr>
              <a:t>s-02   board scale 0.9971   RMS 3.016 mm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419856"/>
            <a:ext cx="60807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Aptos"/>
              </a:rPr>
              <a:t>s-03   board scale 0.9994   RMS 1.615 mm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813048"/>
            <a:ext cx="60807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Aptos"/>
              </a:rPr>
              <a:t>s-04   board scale 0.9987   RMS 2.084 mm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4206240"/>
            <a:ext cx="60807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Aptos"/>
              </a:rPr>
              <a:t>s-05   board scale 0.9982   RMS 2.356 mm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2011680"/>
            <a:ext cx="3749039" cy="1600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9520" y="2011680"/>
            <a:ext cx="73152" cy="1600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2212848"/>
            <a:ext cx="333755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Before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633472"/>
            <a:ext cx="3337559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Aptos"/>
              </a:rPr>
              <a:t>Legacy camera-centre scaling was roughly 0.907–0.958 on the golden set, making reconstructions visibly small.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3840480"/>
            <a:ext cx="3749039" cy="1737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89520" y="3840480"/>
            <a:ext cx="73152" cy="1737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4041648"/>
            <a:ext cx="333755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After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4462272"/>
            <a:ext cx="3337559" cy="1005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Aptos"/>
              </a:rPr>
              <a:t>Board-anchored scale is roughly 0.997–0.999. This gives provenance and future CAD inspection a defensible metric frame.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Aptos"/>
              </a:rPr>
              <a:t>PROOFSHAPE  •  CHECKPOINT  • 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Aptos"/>
              </a:rPr>
              <a:t>PROGRESS 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Provenance is becoming stricter—not more optimistic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Aptos"/>
              </a:rPr>
              <a:t>R-24 and R-25 protect the hard rule: unseen geometry can never pass or fail a part.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394960" cy="3611880"/>
          </a:xfrm>
          <a:prstGeom prst="roundRect">
            <a:avLst/>
          </a:prstGeom>
          <a:solidFill>
            <a:srgbClr val="02061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76272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Aptos"/>
              </a:rPr>
              <a:t>R-24 CONFIDENCE FILTER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633472"/>
            <a:ext cx="4892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Aptos"/>
              </a:rPr>
              <a:t>s-01  observations −3.1%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026664"/>
            <a:ext cx="4892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Aptos"/>
              </a:rPr>
              <a:t>s-02  observations −4.0%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419856"/>
            <a:ext cx="4892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Aptos"/>
              </a:rPr>
              <a:t>s-03  observations −4.5%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813048"/>
            <a:ext cx="4892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Aptos"/>
              </a:rPr>
              <a:t>s-04  observations −4.2%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4206240"/>
            <a:ext cx="4892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Aptos"/>
              </a:rPr>
              <a:t>s-05  observations −2.8%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599432"/>
            <a:ext cx="4892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Aptos"/>
              </a:rPr>
              <a:t>Only trusted reconstruction pixels may vouch for a vertex.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011680"/>
            <a:ext cx="4937760" cy="1508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2011680"/>
            <a:ext cx="73152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2212848"/>
            <a:ext cx="4526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R-25 facing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633472"/>
            <a:ext cx="4526280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Aptos"/>
              </a:rPr>
              <a:t>A vertex must now face the observing camera and agree with measured depth. Open-mesh normal direction uses only trusted, depth-consistent visible pairs.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749039"/>
            <a:ext cx="4937760" cy="1874519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3749039"/>
            <a:ext cx="73152" cy="1874519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3950207"/>
            <a:ext cx="4526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Final coverage semantics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370831"/>
            <a:ext cx="4526280" cy="1142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Aptos"/>
              </a:rPr>
              <a:t>observed_fraction is computed after the sigma downgrade, weighted by triangle area, from the same final labels encoded in the GLB served to the user.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Aptos"/>
              </a:rPr>
              <a:t>PROOFSHAPE  •  CHECKPOINT  • 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Aptos"/>
              </a:rPr>
              <a:t>PROGRESS 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Generative AI supervises sampled capture frames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Aptos"/>
              </a:rPr>
              <a:t>A-01 added real Gemini API checks without letting the model decide geometry.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657600" cy="3566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73152" cy="3566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12848"/>
            <a:ext cx="32461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What the VLM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33472"/>
            <a:ext cx="3246120" cy="2834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Aptos"/>
              </a:rPr>
              <a:t>• Samples selected capture frames</a:t>
            </a:r>
            <a:br/>
            <a:r>
              <a:t>• Flags wrong-part / screen / obvious scene issues</a:t>
            </a:r>
            <a:br/>
            <a:r>
              <a:t>• Validates structured responses</a:t>
            </a:r>
            <a:br/>
            <a:r>
              <a:t>• Stores per-frame + aggregate evidence</a:t>
            </a:r>
            <a:br/>
            <a:r>
              <a:t>• Fails safely when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2011680"/>
            <a:ext cx="3108960" cy="3566160"/>
          </a:xfrm>
          <a:prstGeom prst="roundRect">
            <a:avLst/>
          </a:prstGeom>
          <a:solidFill>
            <a:srgbClr val="02061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2176272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Aptos"/>
              </a:rPr>
              <a:t>REAL API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9472" y="2633472"/>
            <a:ext cx="2606039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Aptos"/>
              </a:rPr>
              <a:t>30 JPEG golden frames available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9472" y="3026664"/>
            <a:ext cx="2606039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Aptos"/>
              </a:rPr>
              <a:t>11 valid Gemini replies recorded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9472" y="3419856"/>
            <a:ext cx="2606039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Aptos"/>
              </a:rPr>
              <a:t>screen / different-part controls checked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9472" y="3813048"/>
            <a:ext cx="2606039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Aptos"/>
              </a:rPr>
              <a:t>token usage recorded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9472" y="4206240"/>
            <a:ext cx="2606039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Aptos"/>
              </a:rPr>
              <a:t>evidence JSON persisted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011680"/>
            <a:ext cx="3291840" cy="3566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2011680"/>
            <a:ext cx="73152" cy="3566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2212848"/>
            <a:ext cx="2880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Safety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633472"/>
            <a:ext cx="2880360" cy="2834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Aptos"/>
              </a:rPr>
              <a:t>The VLM can contribute evidence and later veto an unsafe Pass, but it never computes metric geometry. Geometry, provenance and tolerances stay deterministic.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Aptos"/>
              </a:rPr>
              <a:t>PROOFSHAPE  •  CHECKPOINT  • 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Aptos"/>
              </a:rPr>
              <a:t>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From capture prototype to inspection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1417320" cy="34747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93391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Weeks 1–3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194767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Capture +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947672"/>
            <a:ext cx="6675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Aptos"/>
              </a:rPr>
              <a:t>Phone permissions, guided capture, golden objects</a:t>
            </a:r>
          </a:p>
        </p:txBody>
      </p:sp>
      <p:sp>
        <p:nvSpPr>
          <p:cNvPr id="9" name="Rectangle 8"/>
          <p:cNvSpPr/>
          <p:nvPr/>
        </p:nvSpPr>
        <p:spPr>
          <a:xfrm>
            <a:off x="1389888" y="2350008"/>
            <a:ext cx="32004" cy="4572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807208"/>
            <a:ext cx="141732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34639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Weeks 4–6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78892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Reconstruction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788920"/>
            <a:ext cx="6675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Aptos"/>
              </a:rPr>
              <a:t>VGGT, board pose, metric alignment, TSDF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89888" y="3191256"/>
            <a:ext cx="32004" cy="4572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648456"/>
            <a:ext cx="1417320" cy="34747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675887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Weeks 7–9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363016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630168"/>
            <a:ext cx="6675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Aptos"/>
              </a:rPr>
              <a:t>Cleanup, provenance, uncertainty, endpoint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89888" y="4032504"/>
            <a:ext cx="32004" cy="4572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4489704"/>
            <a:ext cx="1417320" cy="34747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517136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Weeks 10–11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160" y="4471416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471416"/>
            <a:ext cx="6675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Aptos"/>
              </a:rPr>
              <a:t>Phone → real service, AI frame supervision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89888" y="4873752"/>
            <a:ext cx="32004" cy="4572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" y="5330952"/>
            <a:ext cx="1417320" cy="34747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358384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Weeks 12–13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5312664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Inspection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5312664"/>
            <a:ext cx="6675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Aptos"/>
              </a:rPr>
              <a:t>CAD registration, ICP, verdict/report close-out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46520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Aptos"/>
              </a:rPr>
              <a:t>PROOFSHAPE  •  CHECKPOINT  • 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Aptos"/>
              </a:rPr>
              <a:t>WHAT'S NEXT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Close R-25 with measured evidence—not assumptions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3383280" cy="3566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73152" cy="3566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67128"/>
            <a:ext cx="2971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1  Golden rerun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87752"/>
            <a:ext cx="2971800" cy="2834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Aptos"/>
              </a:rPr>
              <a:t>Recompute R-23 board alignment, re-fuse once, then compare current-main vs R-25 on the exact same cleaned mesh for s-01…s-05.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965960"/>
            <a:ext cx="3383280" cy="3566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965960"/>
            <a:ext cx="73152" cy="3566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2167128"/>
            <a:ext cx="2971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2  Record the effect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2587752"/>
            <a:ext cx="2971800" cy="2834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Aptos"/>
              </a:rPr>
              <a:t>Observed vertices, area-weighted final coverage, depth-gate rejection counts, sigma downgrades, and historical R-24 context.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965960"/>
            <a:ext cx="3383280" cy="3566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3296" y="1965960"/>
            <a:ext cx="73152" cy="35661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1896" y="2167128"/>
            <a:ext cx="2971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3  Final close-out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2587752"/>
            <a:ext cx="2971800" cy="2834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Aptos"/>
              </a:rPr>
              <a:t>Add measured hours, mark R-25 Done, run final CI, get teammate approval on the final head, then merge.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Aptos"/>
              </a:rPr>
              <a:t>PROOFSHAPE  •  CHECKPOINT  • 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Aptos"/>
              </a:rPr>
              <a:t>WHAT'S NEXT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Move from reconstruction into CAD inspection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3429000" cy="3566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73152" cy="3566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67128"/>
            <a:ext cx="3017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I-03  Global registration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87752"/>
            <a:ext cx="3017520" cy="2834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Aptos"/>
              </a:rPr>
              <a:t>Generate candidate CAD poses, keep metric scale fixed, and report free-scale residual as an integrity signal.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965960"/>
            <a:ext cx="3429000" cy="3566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965960"/>
            <a:ext cx="73152" cy="3566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167128"/>
            <a:ext cx="3017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I-04 / I-05  Refine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587752"/>
            <a:ext cx="3017520" cy="2834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Aptos"/>
              </a:rPr>
              <a:t>Robust point-to-plane ICP with Tukey loss, then explicitly detect orientation ambiguity instead of hiding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965960"/>
            <a:ext cx="3429000" cy="3566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965960"/>
            <a:ext cx="73152" cy="35661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167128"/>
            <a:ext cx="3017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End goal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587752"/>
            <a:ext cx="3017520" cy="2834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Aptos"/>
              </a:rPr>
              <a:t>Observed geometry → CAD deviation → Pass / Fail / Rescan / Unverifiable, with evidence that explains exactly why.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Aptos"/>
              </a:rPr>
              <a:t>PROOFSHAPE  •  CHECKPOINT  • 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Aptos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Project evidence used for this 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6B6D4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856231"/>
            <a:ext cx="9784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Aptos"/>
              </a:rPr>
              <a:t>ProofShape GitHub repository — stories, decisions, tests, pull requests and 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0487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6B6D4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86584"/>
            <a:ext cx="9784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Aptos"/>
              </a:rPr>
              <a:t>R-23 — board-anchored metric alignment golden-set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35224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6B6D4"/>
                </a:solidFill>
                <a:latin typeface="Aptos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916936"/>
            <a:ext cx="9784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Aptos"/>
              </a:rPr>
              <a:t>R-24 — confidence-filtered provenance golden-set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65576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6B6D4"/>
                </a:solidFill>
                <a:latin typeface="Aptos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447288"/>
            <a:ext cx="9784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Aptos"/>
              </a:rPr>
              <a:t>C-13 / PR #146 — real-phone → real-service integration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9592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6B6D4"/>
                </a:solidFill>
                <a:latin typeface="Aptos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977640"/>
            <a:ext cx="9784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Aptos"/>
              </a:rPr>
              <a:t>A-01 / PR #207 — sampled Gemini VLM supervision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52628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6B6D4"/>
                </a:solidFill>
                <a:latin typeface="Aptos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507992"/>
            <a:ext cx="9784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Aptos"/>
              </a:rPr>
              <a:t>R-25 / PR #213 — facing, sigma truncation and final observed coverage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05663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6B6D4"/>
                </a:solidFill>
                <a:latin typeface="Aptos"/>
              </a:rP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038344"/>
            <a:ext cx="9784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Aptos"/>
              </a:rPr>
              <a:t>ProofShape proposal, manual and frozen OpenAPI contract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80644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CBD5E1"/>
                </a:solidFill>
                <a:latin typeface="Aptos"/>
              </a:rPr>
              <a:t>Checkpoint deck • 10 slides • designed for a 5–7 minute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Aptos"/>
              </a:rPr>
              <a:t>PROOFSHAPE  •  CHECKPOINT  • 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