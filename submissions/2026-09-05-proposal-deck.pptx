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UIno0IvPcW/nzJkaUi/8vmFL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FB0F30-B0E7-429E-AA0D-B27A5B105553}">
  <a:tblStyle styleId="{DBFB0F30-B0E7-429E-AA0D-B27A5B10555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g3fa15d9b7f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g3fa15d9b7f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 Presenter: [Team member 1].</a:t>
            </a:r>
            <a:br>
              <a:rPr lang="en-US"/>
            </a:br>
            <a:br>
              <a:rPr lang="en-US"/>
            </a:br>
            <a:r>
              <a:rPr lang="en-US"/>
              <a:t>OPENING LINE (say it almost exactly like this):</a:t>
            </a:r>
            <a:br>
              <a:rPr lang="en-US"/>
            </a:br>
            <a:r>
              <a:rPr lang="en-US"/>
              <a:t>"ProofShape turns a smartphone into a coarse 3D inspection tool. A supplier puts a part on a printed sheet, takes about twenty photos, and gets back a measured 3D model and a pass or fail report, before the part ships."</a:t>
            </a:r>
            <a:br>
              <a:rPr lang="en-US"/>
            </a:br>
            <a:br>
              <a:rPr lang="en-US"/>
            </a:br>
            <a:r>
              <a:rPr lang="en-US"/>
              <a:t>Then point at the three boxes and walk left to right: photos, model, report. That is the whole product in one line.</a:t>
            </a:r>
            <a:br>
              <a:rPr lang="en-US"/>
            </a:br>
            <a:br>
              <a:rPr lang="en-US"/>
            </a:br>
            <a:r>
              <a:rPr lang="en-US"/>
              <a:t>Say clearly: "Our must-have deliverable is the middle box. Photos in, metric 3D model out. Everything to the right of it is built on top and is scoped so it can be cut without losing the project."</a:t>
            </a:r>
            <a:br>
              <a:rPr lang="en-US"/>
            </a:br>
            <a:br>
              <a:rPr lang="en-US"/>
            </a:br>
            <a:r>
              <a:rPr lang="en-US"/>
              <a:t>DO NOT open with the research angle. Open with the working product.</a:t>
            </a:r>
            <a:br>
              <a:rPr lang="en-US"/>
            </a:br>
            <a:br>
              <a:rPr lang="en-US"/>
            </a:br>
            <a:r>
              <a:rPr lang="en-US"/>
              <a:t>If the room is small, say the team names out loud here and skip most of slide 2.</a:t>
            </a:r>
            <a:endParaRPr/>
          </a:p>
        </p:txBody>
      </p:sp>
      <p:sp>
        <p:nvSpPr>
          <p:cNvPr id="19" name="Google Shape;19;g3fa15d9b7f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fa15d9b7fc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g3fa15d9b7fc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30 seconds. Keep this fast.</a:t>
            </a:r>
            <a:br>
              <a:rPr lang="en-US"/>
            </a:br>
            <a:br>
              <a:rPr lang="en-US"/>
            </a:br>
            <a:r>
              <a:rPr lang="en-US"/>
              <a:t>Each person says their own name and one phrase, in card order:</a:t>
            </a:r>
            <a:br>
              <a:rPr lang="en-US"/>
            </a:br>
            <a:r>
              <a:rPr lang="en-US"/>
              <a:t>- [Team member 1]: "I own what the person holding the phone sees."</a:t>
            </a:r>
            <a:br>
              <a:rPr lang="en-US"/>
            </a:br>
            <a:r>
              <a:rPr lang="en-US"/>
              <a:t>- [Team member 2]: "I own the GPU service that turns the photos into a model."</a:t>
            </a:r>
            <a:br>
              <a:rPr lang="en-US"/>
            </a:br>
            <a:r>
              <a:rPr lang="en-US"/>
              <a:t>- [Team member 3]: "I own whether the numbers are right."</a:t>
            </a:r>
            <a:br>
              <a:rPr lang="en-US"/>
            </a:br>
            <a:br>
              <a:rPr lang="en-US"/>
            </a:br>
            <a:r>
              <a:rPr lang="en-US"/>
              <a:t>Say once: "Lane owners are proposed, not final. We confirm them this week, and every lane has a backup so no milestone depends on one person."</a:t>
            </a:r>
            <a:br>
              <a:rPr lang="en-US"/>
            </a:br>
            <a:br>
              <a:rPr lang="en-US"/>
            </a:br>
            <a:r>
              <a:rPr lang="en-US"/>
              <a:t>Do not read the cards aloud. The audience can read.</a:t>
            </a:r>
            <a:endParaRPr/>
          </a:p>
        </p:txBody>
      </p:sp>
      <p:sp>
        <p:nvSpPr>
          <p:cNvPr id="40" name="Google Shape;40;g3fa15d9b7fc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a15d9b7fc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fa15d9b7fc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60 seconds. Presenter: [Team member 1] for the left column, [Team member 2] for the right.</a:t>
            </a:r>
            <a:br>
              <a:rPr lang="en-US"/>
            </a:br>
            <a:br>
              <a:rPr lang="en-US"/>
            </a:br>
            <a:r>
              <a:rPr lang="en-US"/>
              <a:t>Left column, the point to land: the phone does real work before anything is uploaded. The local gate rejects blurry, dark and duplicate frames on the device, with a reason shown to the user. That keeps the upload small and the reconstruction clean.</a:t>
            </a:r>
            <a:br>
              <a:rPr lang="en-US"/>
            </a:br>
            <a:br>
              <a:rPr lang="en-US"/>
            </a:br>
            <a:r>
              <a:rPr lang="en-US"/>
              <a:t>Right column, the point to land: the backend is one Docker image on one rented GPU pod. Board detection gives a metric camera pose for every frame, then the reconstruction model turns the frames into geometry.</a:t>
            </a:r>
            <a:br>
              <a:rPr lang="en-US"/>
            </a:br>
            <a:br>
              <a:rPr lang="en-US"/>
            </a:br>
            <a:r>
              <a:rPr lang="en-US"/>
              <a:t>Say once: "The reconstruction model sits behind one config flag. If our first choice underperforms we switch to the second or third without touching anything else."</a:t>
            </a:r>
            <a:br>
              <a:rPr lang="en-US"/>
            </a:br>
            <a:br>
              <a:rPr lang="en-US"/>
            </a:br>
            <a:r>
              <a:rPr lang="en-US"/>
              <a:t>LIKELY QUESTION: "How did you arrive at the hours?"</a:t>
            </a:r>
            <a:br>
              <a:rPr lang="en-US"/>
            </a:br>
            <a:r>
              <a:rPr lang="en-US"/>
              <a:t>ANSWER: "We started from what each person actually has and worked backwards. We commit nine hours a week each, about a hundred and sixteen across the semester, and all three lanes land at a hundred and fifteen. We raised that from eight hours specifically to fund the generative-AI work."</a:t>
            </a:r>
            <a:br>
              <a:rPr lang="en-US"/>
            </a:br>
            <a:br>
              <a:rPr lang="en-US"/>
            </a:br>
            <a:r>
              <a:rPr lang="en-US"/>
              <a:t>If asked why next-view scoring sits in the capture lane rather than the backend: "It is a guidance feature, the capture lane already owns guidance, and it runs on the processor rather than the graphics card, so no GPU work crosses the boundary."</a:t>
            </a:r>
            <a:endParaRPr/>
          </a:p>
        </p:txBody>
      </p:sp>
      <p:sp>
        <p:nvSpPr>
          <p:cNvPr id="60" name="Google Shape;60;g3fa15d9b7fc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a15d9b7fc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fa15d9b7fc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60 seconds. Presenter: [Team member 3] for the left column, then whoever opened for the callout.</a:t>
            </a:r>
            <a:br>
              <a:rPr lang="en-US"/>
            </a:br>
            <a:br>
              <a:rPr lang="en-US"/>
            </a:br>
            <a:r>
              <a:rPr lang="en-US"/>
              <a:t>Left column, the point to land: this lane is what separates a demo from an inspection tool. Anyone can show a 3D model on screen. Proving the model is accurate to within a known error needs printed parts, calipers and a measured noise floor.</a:t>
            </a:r>
            <a:br>
              <a:rPr lang="en-US"/>
            </a:br>
            <a:br>
              <a:rPr lang="en-US"/>
            </a:br>
            <a:r>
              <a:rPr lang="en-US"/>
              <a:t>Explain sigma-floor in one sentence, because it comes back on slides 5, 7 and 8:</a:t>
            </a:r>
            <a:br>
              <a:rPr lang="en-US"/>
            </a:br>
            <a:r>
              <a:rPr lang="en-US"/>
              <a:t>"Sigma-floor is the smallest deviation our method can distinguish from its own noise. We measure it, we do not assume it."</a:t>
            </a:r>
            <a:br>
              <a:rPr lang="en-US"/>
            </a:br>
            <a:br>
              <a:rPr lang="en-US"/>
            </a:br>
            <a:r>
              <a:rPr lang="en-US"/>
              <a:t>Right column: read only two bullets, the biweekly progress presentation and the recorded backup demo.</a:t>
            </a:r>
            <a:br>
              <a:rPr lang="en-US"/>
            </a:br>
            <a:br>
              <a:rPr lang="en-US"/>
            </a:br>
            <a:r>
              <a:rPr lang="en-US"/>
              <a:t>On the biweekly presentation, say: "That is seven presentations across the semester. We budgeted eighteen hours for them and built a fixed four-slide template, so preparing one is assembly rather than a scramble."</a:t>
            </a:r>
            <a:br>
              <a:rPr lang="en-US"/>
            </a:br>
            <a:br>
              <a:rPr lang="en-US"/>
            </a:br>
            <a:r>
              <a:rPr lang="en-US"/>
              <a:t>THE CALLOUT IS THE MOST IMPORTANT SENTENCE ON THIS SLIDE. Say it out loud:</a:t>
            </a:r>
            <a:br>
              <a:rPr lang="en-US"/>
            </a:br>
            <a:r>
              <a:rPr lang="en-US"/>
              <a:t>"Tier 1 takes the first half of every lane's hours and is never cut. We do not start the optional work until the inspection layer is done."</a:t>
            </a:r>
            <a:br>
              <a:rPr lang="en-US"/>
            </a:br>
            <a:br>
              <a:rPr lang="en-US"/>
            </a:br>
            <a:r>
              <a:rPr lang="en-US"/>
              <a:t>That single sentence answers most scope questions before they are asked.</a:t>
            </a:r>
            <a:endParaRPr/>
          </a:p>
        </p:txBody>
      </p:sp>
      <p:sp>
        <p:nvSpPr>
          <p:cNvPr id="72" name="Google Shape;72;g3fa15d9b7fc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a15d9b7fc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3fa15d9b7fc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This is the persuasion slide. Slow down here.</a:t>
            </a:r>
            <a:br>
              <a:rPr lang="en-US"/>
            </a:br>
            <a:br>
              <a:rPr lang="en-US"/>
            </a:br>
            <a:r>
              <a:rPr lang="en-US"/>
              <a:t>THE PROBLEM, told as a story rather than four bullets:</a:t>
            </a:r>
            <a:br>
              <a:rPr lang="en-US"/>
            </a:br>
            <a:r>
              <a:rPr lang="en-US"/>
              <a:t>"A buyer orders a machined bracket. It arrives out of spec. Now they pay shipping twice and lose days or weeks, and there is no record of what the part looked like when it left the supplier. The tool that would have caught it, a coordinate measuring machine, costs a lot and lives in a lab. The tool the supplier actually has is a phone, and a photo measures nothing in three dimensions."</a:t>
            </a:r>
            <a:br>
              <a:rPr lang="en-US"/>
            </a:br>
            <a:br>
              <a:rPr lang="en-US"/>
            </a:br>
            <a:r>
              <a:rPr lang="en-US"/>
              <a:t>Then: "That gap is what we are building into. Phone, printed sheet, browser. No app install, no special hardware."</a:t>
            </a:r>
            <a:br>
              <a:rPr lang="en-US"/>
            </a:br>
            <a:br>
              <a:rPr lang="en-US"/>
            </a:br>
            <a:r>
              <a:rPr lang="en-US"/>
              <a:t>WHY IT FITS A CAPSTONE, pick three and say them plainly:</a:t>
            </a:r>
            <a:br>
              <a:rPr lang="en-US"/>
            </a:br>
            <a:r>
              <a:rPr lang="en-US"/>
              <a:t>- It is a usable product, not a notebook of experiments.</a:t>
            </a:r>
            <a:br>
              <a:rPr lang="en-US"/>
            </a:br>
            <a:r>
              <a:rPr lang="en-US"/>
              <a:t>- It uses real computer vision and deep learning: learned multi-view reconstruction, CAD registration, uncertainty estimation.</a:t>
            </a:r>
            <a:br>
              <a:rPr lang="en-US"/>
            </a:br>
            <a:r>
              <a:rPr lang="en-US"/>
              <a:t>- It is full stack: a web app, a GPU service, Docker, and testing on real phones.</a:t>
            </a:r>
            <a:br>
              <a:rPr lang="en-US"/>
            </a:br>
            <a:br>
              <a:rPr lang="en-US"/>
            </a:br>
            <a:r>
              <a:rPr lang="en-US"/>
              <a:t>THE TIER STRIP at the bottom is the risk answer. Say:</a:t>
            </a:r>
            <a:br>
              <a:rPr lang="en-US"/>
            </a:br>
            <a:r>
              <a:rPr lang="en-US"/>
              <a:t>"We split delivery into three tiers so there is a working product at every milestone. If the semester goes badly we still ship the blue tier. If it goes well we ship all three."</a:t>
            </a:r>
            <a:br>
              <a:rPr lang="en-US"/>
            </a:br>
            <a:br>
              <a:rPr lang="en-US"/>
            </a:br>
            <a:r>
              <a:rPr lang="en-US"/>
              <a:t>SAY THIS SENTENCE, VERBATIM, AND DO NOT IMPROVISE AROUND IT:</a:t>
            </a:r>
            <a:br>
              <a:rPr lang="en-US"/>
            </a:br>
            <a:r>
              <a:rPr lang="en-US"/>
              <a:t>"This is coarse inspection, several millimetres on hand-sized parts. It complements CMM inspection and does not replace it. It will never certify a tenth of a millimetre."</a:t>
            </a:r>
            <a:br>
              <a:rPr lang="en-US"/>
            </a:br>
            <a:br>
              <a:rPr lang="en-US"/>
            </a:br>
            <a:r>
              <a:rPr lang="en-US"/>
              <a:t>Stating the limit before anyone challenges it is what makes the rest of the talk credible.</a:t>
            </a:r>
            <a:br>
              <a:rPr lang="en-US"/>
            </a:br>
            <a:br>
              <a:rPr lang="en-US"/>
            </a:br>
            <a:r>
              <a:rPr lang="en-US"/>
              <a:t>LIKELY QUESTION: "Why not just buy a 3D scanner for a few hundred dollars?"</a:t>
            </a:r>
            <a:br>
              <a:rPr lang="en-US"/>
            </a:br>
            <a:r>
              <a:rPr lang="en-US"/>
              <a:t>ANSWER: "A scanner is more accurate on raw geometry, and a scan file emailed by the supplier is exactly as trustworthy as the supplier. Our output is a report tied to a specific purchase order, that records what was actually seen and what was not."</a:t>
            </a:r>
            <a:endParaRPr/>
          </a:p>
        </p:txBody>
      </p:sp>
      <p:sp>
        <p:nvSpPr>
          <p:cNvPr id="86" name="Google Shape;86;g3fa15d9b7fc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a15d9b7fc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fa15d9b7fc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90 seconds. Do not read the table. Pick four rows.</a:t>
            </a:r>
            <a:br>
              <a:rPr lang="en-US"/>
            </a:br>
            <a:br>
              <a:rPr lang="en-US"/>
            </a:br>
            <a:r>
              <a:rPr lang="en-US"/>
              <a:t>ROW 1, front end: "A progressive web app, so there is no install and no app store. The tradeoff is that the camera and motion sensors require HTTPS, which shapes our hosting choice two rows down."</a:t>
            </a:r>
            <a:br>
              <a:rPr lang="en-US"/>
            </a:br>
            <a:br>
              <a:rPr lang="en-US"/>
            </a:br>
            <a:r>
              <a:rPr lang="en-US"/>
              <a:t>ROW 2, reference sheet: this is the one row worth explaining properly.</a:t>
            </a:r>
            <a:br>
              <a:rPr lang="en-US"/>
            </a:br>
            <a:r>
              <a:rPr lang="en-US"/>
              <a:t>"Photos recover shape but never size. Something of known physical size has to be in the frame. We print a ChArUco board, which is a checkerboard with a unique marker in each square. Every corner is individually identifiable, so a partly covered board still works, and it gives us a metric camera position for every single photo. On glossy parts with no texture, the board is also what keeps the camera tracking stable."</a:t>
            </a:r>
            <a:br>
              <a:rPr lang="en-US"/>
            </a:br>
            <a:r>
              <a:rPr lang="en-US"/>
              <a:t>Mention the fallbacks in one clause: a blank sheet of paper or a credit card, both with wider error bars.</a:t>
            </a:r>
            <a:br>
              <a:rPr lang="en-US"/>
            </a:br>
            <a:br>
              <a:rPr lang="en-US"/>
            </a:br>
            <a:r>
              <a:rPr lang="en-US"/>
              <a:t>ROW 5, GPU hosting: "We rent, we do not request hardware. About one hundred fifty to two hundred dollars for the semester, on our own card if needed. That takes university procurement off our critical path entirely."</a:t>
            </a:r>
            <a:br>
              <a:rPr lang="en-US"/>
            </a:br>
            <a:br>
              <a:rPr lang="en-US"/>
            </a:br>
            <a:r>
              <a:rPr lang="en-US"/>
              <a:t>LAST ROW: "The printer and calipers are how we know whether any of this is accurate."</a:t>
            </a:r>
            <a:br>
              <a:rPr lang="en-US"/>
            </a:br>
            <a:br>
              <a:rPr lang="en-US"/>
            </a:br>
            <a:r>
              <a:rPr lang="en-US"/>
              <a:t>LIKELY QUESTION: "What if the rented pod is unavailable?"</a:t>
            </a:r>
            <a:br>
              <a:rPr lang="en-US"/>
            </a:br>
            <a:r>
              <a:rPr lang="en-US"/>
              <a:t>ANSWER: "The image is in a registry and the state is on a network volume, so re-provisioning is a one-command routine, not an emergency."</a:t>
            </a:r>
            <a:br>
              <a:rPr lang="en-US"/>
            </a:br>
            <a:br>
              <a:rPr lang="en-US"/>
            </a:br>
            <a:r>
              <a:rPr lang="en-US"/>
              <a:t>If time is short, cut this slide to the reference sheet row alone and move on.</a:t>
            </a:r>
            <a:endParaRPr/>
          </a:p>
        </p:txBody>
      </p:sp>
      <p:sp>
        <p:nvSpPr>
          <p:cNvPr id="104" name="Google Shape;104;g3fa15d9b7fc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a16d94e7b_1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fa16d94e7b_1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This is the technical heart of the talk.</a:t>
            </a:r>
            <a:br>
              <a:rPr lang="en-US"/>
            </a:br>
            <a:br>
              <a:rPr lang="en-US"/>
            </a:br>
            <a:r>
              <a:rPr lang="en-US"/>
              <a:t>WALK THE PIPELINE ACROSS THE TOP, one clause per box, do not stop:</a:t>
            </a:r>
            <a:br>
              <a:rPr lang="en-US"/>
            </a:br>
            <a:r>
              <a:rPr lang="en-US"/>
              <a:t>"Frames come off the phone with gyro readings. Board detection gives a metric camera pose for each frame. The reconstruction model turns the frames into geometry. We fuse that into a single mesh and record, per point, whether we actually saw it. We align the mesh to the CAD. That produces the heatmap and the verdict."</a:t>
            </a:r>
            <a:br>
              <a:rPr lang="en-US"/>
            </a:br>
            <a:br>
              <a:rPr lang="en-US"/>
            </a:br>
            <a:r>
              <a:rPr lang="en-US"/>
              <a:t>THEN THE TWO ROWS THAT MATTER:</a:t>
            </a:r>
            <a:br>
              <a:rPr lang="en-US"/>
            </a:br>
            <a:br>
              <a:rPr lang="en-US"/>
            </a:br>
            <a:r>
              <a:rPr lang="en-US"/>
              <a:t>Reconstruction: "Our primary is VGGT, a feed-forward transformer that takes all the frames at once and returns cameras, depth and point maps in a single pass. No iterative matching, so it is fast enough to be interactive. If it underperforms on our parts we fall back to MASt3R, and past that to COLMAP, which is the classical method and the most predictable."</a:t>
            </a:r>
            <a:br>
              <a:rPr lang="en-US"/>
            </a:br>
            <a:br>
              <a:rPr lang="en-US"/>
            </a:br>
            <a:r>
              <a:rPr lang="en-US"/>
              <a:t>Provenance: "Every point in the mesh is labeled observed or unobserved. Observed means at least two frames actually saw it from angles far enough apart to triangulate."</a:t>
            </a:r>
            <a:br>
              <a:rPr lang="en-US"/>
            </a:br>
            <a:br>
              <a:rPr lang="en-US"/>
            </a:br>
            <a:r>
              <a:rPr lang="en-US"/>
              <a:t>SAY THIS SENTENCE, VERBATIM. It is the rule that makes the report trustworthy:</a:t>
            </a:r>
            <a:br>
              <a:rPr lang="en-US"/>
            </a:br>
            <a:r>
              <a:rPr lang="en-US"/>
              <a:t>"Geometry we did not observe never fails a part and never contributes to a pass. It can only trigger a rescan."</a:t>
            </a:r>
            <a:br>
              <a:rPr lang="en-US"/>
            </a:br>
            <a:br>
              <a:rPr lang="en-US"/>
            </a:br>
            <a:r>
              <a:rPr lang="en-US"/>
              <a:t>Explain why in one line: "A model that fills in a hidden surface is guessing. A guess must never approve or condemn a part."</a:t>
            </a:r>
            <a:br>
              <a:rPr lang="en-US"/>
            </a:br>
            <a:br>
              <a:rPr lang="en-US"/>
            </a:br>
            <a:r>
              <a:rPr lang="en-US"/>
              <a:t>THE TEAL BOX AT THE BOTTOM. Do not skip this, it answers the course's one-third requirement. Read the number, then give the test:</a:t>
            </a:r>
            <a:br>
              <a:rPr lang="en-US"/>
            </a:br>
            <a:r>
              <a:rPr lang="en-US"/>
              <a:t>"Generative AI is a third of this project, a hundred and fifteen of three hundred and forty-nine hours. Our test for what counts is simple: if you run a component twice, can it give you two different answers? The agent, the shape completion, the frame supervision, the spec parser and the report narrative all can. The reconstruction model cannot, so we flag it as learned but deterministic rather than quietly folding it in."</a:t>
            </a:r>
            <a:br>
              <a:rPr lang="en-US"/>
            </a:br>
            <a:br>
              <a:rPr lang="en-US"/>
            </a:br>
            <a:r>
              <a:rPr lang="en-US"/>
              <a:t>BE OPEN ABOUT THE BACKBONE before anyone challenges it:</a:t>
            </a:r>
            <a:br>
              <a:rPr lang="en-US"/>
            </a:br>
            <a:r>
              <a:rPr lang="en-US"/>
              <a:t>"We would welcome guidance on whether the reconstruction model should count. If it does we are at thirty-three percent. If it does not we are at twenty-five, and we would want to talk about what to change."</a:t>
            </a:r>
            <a:br>
              <a:rPr lang="en-US"/>
            </a:br>
            <a:br>
              <a:rPr lang="en-US"/>
            </a:br>
            <a:r>
              <a:rPr lang="en-US"/>
              <a:t>IF ASKED whether the AI is bolted on:</a:t>
            </a:r>
            <a:br>
              <a:rPr lang="en-US"/>
            </a:br>
            <a:r>
              <a:rPr lang="en-US"/>
              <a:t>"No. The agent runs the capture session, a generative model imagines the surface the camera never saw and that decides where we ask for the next photo, and a vision-language model can veto a pass. Remove them and the product stops working."</a:t>
            </a:r>
            <a:br>
              <a:rPr lang="en-US"/>
            </a:br>
            <a:br>
              <a:rPr lang="en-US"/>
            </a:br>
            <a:r>
              <a:rPr lang="en-US"/>
              <a:t>IF ASKED how the hours were found: "We raised our own commitment from eight hours a week each to nine, and spent every added hour on the AI work."</a:t>
            </a:r>
            <a:br>
              <a:rPr lang="en-US"/>
            </a:br>
            <a:br>
              <a:rPr lang="en-US"/>
            </a:br>
            <a:r>
              <a:rPr lang="en-US"/>
              <a:t>LIKELY QUESTION: "Is the 3D model generated by AI?"</a:t>
            </a:r>
            <a:br>
              <a:rPr lang="en-US"/>
            </a:br>
            <a:r>
              <a:rPr lang="en-US"/>
              <a:t>ANSWER: "The geometry comes from real photographs through a learned reconstruction model, and every point is labeled by whether the camera actually saw it. Nothing invented contributes to the verdict."</a:t>
            </a:r>
            <a:br>
              <a:rPr lang="en-US"/>
            </a:br>
            <a:br>
              <a:rPr lang="en-US"/>
            </a:br>
            <a:r>
              <a:rPr lang="en-US"/>
              <a:t>LIKELY QUESTION: "What is the licence on those models?"</a:t>
            </a:r>
            <a:br>
              <a:rPr lang="en-US"/>
            </a:br>
            <a:r>
              <a:rPr lang="en-US"/>
              <a:t>ANSWER: "Non-commercial research licences, which is fine for a capstone. Swapping the backbone later is one config flag."</a:t>
            </a:r>
            <a:endParaRPr/>
          </a:p>
        </p:txBody>
      </p:sp>
      <p:sp>
        <p:nvSpPr>
          <p:cNvPr id="115" name="Google Shape;115;g3fa16d94e7b_1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a15d9b7fc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a15d9b7fc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Do not read nine rows. Use the three bands, then four rows.</a:t>
            </a:r>
            <a:br>
              <a:rPr lang="en-US"/>
            </a:br>
            <a:br>
              <a:rPr lang="en-US"/>
            </a:br>
            <a:r>
              <a:rPr lang="en-US"/>
              <a:t>Point at the bands: "Build the core, then measure and inspect, then test and present."</a:t>
            </a:r>
            <a:br>
              <a:rPr lang="en-US"/>
            </a:br>
            <a:br>
              <a:rPr lang="en-US"/>
            </a:br>
            <a:r>
              <a:rPr lang="en-US"/>
              <a:t>M0, September 8, next week: "Before we commit to this topic we prove the pipeline works. Photos of any rigid object on a printed board, through a rented GPU, out as a measured mesh. If the primary model fails, that is when we switch, not in November."</a:t>
            </a:r>
            <a:br>
              <a:rPr lang="en-US"/>
            </a:br>
            <a:br>
              <a:rPr lang="en-US"/>
            </a:br>
            <a:r>
              <a:rPr lang="en-US"/>
              <a:t>M1, September 25: "A phone on this team completes a full session end to end. That is Tier 1 existing in its simplest form, in week four."</a:t>
            </a:r>
            <a:br>
              <a:rPr lang="en-US"/>
            </a:br>
            <a:br>
              <a:rPr lang="en-US"/>
            </a:br>
            <a:r>
              <a:rPr lang="en-US"/>
              <a:t>M3, October 16: "We stop guessing about accuracy. Printer characterized, parts printed and measured with calipers, sigma-floor measured per reference tier. Every threshold in the product is set by this measurement."</a:t>
            </a:r>
            <a:br>
              <a:rPr lang="en-US"/>
            </a:br>
            <a:br>
              <a:rPr lang="en-US"/>
            </a:br>
            <a:r>
              <a:rPr lang="en-US"/>
              <a:t>M5, November 13: "Feature freeze. Anything not working by then is cut, not deferred into finals week."</a:t>
            </a:r>
            <a:br>
              <a:rPr lang="en-US"/>
            </a:br>
            <a:br>
              <a:rPr lang="en-US"/>
            </a:br>
            <a:r>
              <a:rPr lang="en-US"/>
              <a:t>Then the bottom line: "Three of us, about eight hours a week each, roughly three hundred ten person-hours. Labor Day and Thanksgiving are already accounted for. Thanksgiving week is bug fixing only."</a:t>
            </a:r>
            <a:br>
              <a:rPr lang="en-US"/>
            </a:br>
            <a:br>
              <a:rPr lang="en-US"/>
            </a:br>
            <a:r>
              <a:rPr lang="en-US"/>
              <a:t>LIKELY QUESTION: "What happens if the reconstruction quality is poor?"</a:t>
            </a:r>
            <a:br>
              <a:rPr lang="en-US"/>
            </a:br>
            <a:r>
              <a:rPr lang="en-US"/>
              <a:t>ANSWER: "Two model fallbacks behind one flag, and a batch mode that always works even if interactive guidance does not. The failure boundary itself, which surfaces and finishes defeat the method, is a reportable result."</a:t>
            </a:r>
            <a:br>
              <a:rPr lang="en-US"/>
            </a:br>
            <a:br>
              <a:rPr lang="en-US"/>
            </a:br>
            <a:r>
              <a:rPr lang="en-US"/>
              <a:t>LIKELY QUESTION: "Is this too ambitious for one semester?"</a:t>
            </a:r>
            <a:br>
              <a:rPr lang="en-US"/>
            </a:br>
            <a:r>
              <a:rPr lang="en-US"/>
              <a:t>ANSWER: "That is why it is tiered and why we have a written cut list in priority order. The core is a working capture-to-model pipeline, and that is proven next week at M0."</a:t>
            </a:r>
            <a:endParaRPr/>
          </a:p>
        </p:txBody>
      </p:sp>
      <p:sp>
        <p:nvSpPr>
          <p:cNvPr id="145" name="Google Shape;145;g3fa15d9b7fc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a15d9b7fc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fa15d9b7fc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90 seconds. Presenter: whoever owns the schedule.</a:t>
            </a:r>
            <a:br>
              <a:rPr lang="en-US"/>
            </a:br>
            <a:br>
              <a:rPr lang="en-US"/>
            </a:br>
            <a:r>
              <a:rPr lang="en-US"/>
              <a:t>Assume nobody in the room has seen a Gantt chart for this project before. Teach the axes first, then the one thing that matters.</a:t>
            </a:r>
            <a:br>
              <a:rPr lang="en-US"/>
            </a:br>
            <a:br>
              <a:rPr lang="en-US"/>
            </a:br>
            <a:r>
              <a:rPr lang="en-US"/>
              <a:t>HOW TO READ IT, say this before anything else:</a:t>
            </a:r>
            <a:br>
              <a:rPr lang="en-US"/>
            </a:br>
            <a:r>
              <a:rPr lang="en-US"/>
              <a:t>"Time runs left to right, September on the left, our final demo on the right. Each row is one person. Each bar is a block of work, and the length of the bar is how long it takes."</a:t>
            </a:r>
            <a:br>
              <a:rPr lang="en-US"/>
            </a:br>
            <a:br>
              <a:rPr lang="en-US"/>
            </a:br>
            <a:r>
              <a:rPr lang="en-US"/>
              <a:t>WHAT THE COLORS MEAN, one line:</a:t>
            </a:r>
            <a:br>
              <a:rPr lang="en-US"/>
            </a:br>
            <a:r>
              <a:rPr lang="en-US"/>
              <a:t>"One color per person. Blue is [Team member 1] on the capture app, green is [Team member 2] on the 3D reconstruction, orange is [Team member 3] on inspection and testing, grey is all three of us together."</a:t>
            </a:r>
            <a:br>
              <a:rPr lang="en-US"/>
            </a:br>
            <a:br>
              <a:rPr lang="en-US"/>
            </a:br>
            <a:r>
              <a:rPr lang="en-US"/>
              <a:t>THE POINT OF THE SLIDE. Everything above is setup. This is the sentence to land:</a:t>
            </a:r>
            <a:br>
              <a:rPr lang="en-US"/>
            </a:br>
            <a:r>
              <a:rPr lang="en-US"/>
              <a:t>"Almost every bar runs in parallel. That is deliberate. We designed the work so the three of us are never waiting on each other, because with eight hours a week each we cannot afford a week of one person blocked."</a:t>
            </a:r>
            <a:br>
              <a:rPr lang="en-US"/>
            </a:br>
            <a:br>
              <a:rPr lang="en-US"/>
            </a:br>
            <a:r>
              <a:rPr lang="en-US"/>
              <a:t>THE ARROW. Point at it.</a:t>
            </a:r>
            <a:br>
              <a:rPr lang="en-US"/>
            </a:br>
            <a:r>
              <a:rPr lang="en-US"/>
              <a:t>"There is exactly one hand-off we could not design away. [Team member 2] has to get the 3D model working before [Team member 3] can measure how accurate it is, and that accuracy measurement is what sets the pass and fail limits. So that chain, mid-October, is the one place a delay pushes the finish date."</a:t>
            </a:r>
            <a:br>
              <a:rPr lang="en-US"/>
            </a:br>
            <a:br>
              <a:rPr lang="en-US"/>
            </a:br>
            <a:r>
              <a:rPr lang="en-US"/>
              <a:t>THE DIAMONDS AND THE CIRCLES. These are different things, say so clearly:</a:t>
            </a:r>
            <a:br>
              <a:rPr lang="en-US"/>
            </a:br>
            <a:r>
              <a:rPr lang="en-US"/>
              <a:t>"The diamonds are our internal checkpoints, where we stop and wire the three pieces together and confirm they work as one system. The open circles are when we present progress to this class. Seven of them, every two weeks."</a:t>
            </a:r>
            <a:br>
              <a:rPr lang="en-US"/>
            </a:br>
            <a:br>
              <a:rPr lang="en-US"/>
            </a:br>
            <a:r>
              <a:rPr lang="en-US"/>
              <a:t>WHY THE CIRCLES SIT WHERE THEY DO. This is worth one extra sentence, because it shows the schedule was designed rather than assumed:</a:t>
            </a:r>
            <a:br>
              <a:rPr lang="en-US"/>
            </a:br>
            <a:r>
              <a:rPr lang="en-US"/>
              <a:t>"We lined the presentations up so each one lands a few days after a checkpoint closes, not on top of it. That way we are always demonstrating something that has been working and tested for a few days, rather than something that started working that morning."</a:t>
            </a:r>
            <a:br>
              <a:rPr lang="en-US"/>
            </a:br>
            <a:br>
              <a:rPr lang="en-US"/>
            </a:br>
            <a:r>
              <a:rPr lang="en-US"/>
              <a:t>IF ASKED what we show at each one: "The same four slides every time. What we said we would do, what works now with a live demo, what slipped and why, and what we will have by the next one."</a:t>
            </a:r>
            <a:br>
              <a:rPr lang="en-US"/>
            </a:br>
            <a:br>
              <a:rPr lang="en-US"/>
            </a:br>
            <a:r>
              <a:rPr lang="en-US"/>
              <a:t>IF THEY ASK how the rest stays parallel:</a:t>
            </a:r>
            <a:br>
              <a:rPr lang="en-US"/>
            </a:br>
            <a:r>
              <a:rPr lang="en-US"/>
              <a:t>"Three cheap stand-ins, built in the first two weeks. A written interface agreement so the app and the server can be built against the same spec before either exists. One saved set of photographs so the reconstruction work never waits for the phone app. And a script that fakes a 3D model so the inspection logic can be built and tested months before the real reconstruction is ready."</a:t>
            </a:r>
            <a:br>
              <a:rPr lang="en-US"/>
            </a:br>
            <a:br>
              <a:rPr lang="en-US"/>
            </a:br>
            <a:r>
              <a:rPr lang="en-US"/>
              <a:t>LIKELY QUESTION: "What happens if someone falls behind?"</a:t>
            </a:r>
            <a:br>
              <a:rPr lang="en-US"/>
            </a:br>
            <a:r>
              <a:rPr lang="en-US"/>
              <a:t>ANSWER: "We have a written cut list in priority order, agreed in advance, so we cut features in a known sequence rather than arguing about it in November. The core, phone photos to a 3D model, is never on that list."</a:t>
            </a:r>
            <a:br>
              <a:rPr lang="en-US"/>
            </a:br>
            <a:br>
              <a:rPr lang="en-US"/>
            </a:br>
            <a:r>
              <a:rPr lang="en-US"/>
              <a:t>LIKELY QUESTION: "Why is there slack at the end?"</a:t>
            </a:r>
            <a:br>
              <a:rPr lang="en-US"/>
            </a:br>
            <a:r>
              <a:rPr lang="en-US"/>
              <a:t>ANSWER: "That is not slack, it is testing and hardening. We freeze features in mid-November on purpose, so the last three weeks are fixing and rehearsing rather than building."</a:t>
            </a:r>
            <a:br>
              <a:rPr lang="en-US"/>
            </a:br>
            <a:br>
              <a:rPr lang="en-US"/>
            </a:br>
            <a:r>
              <a:rPr lang="en-US"/>
              <a:t>DO NOT read the bars aloud one by one. The audience can see them.</a:t>
            </a:r>
            <a:endParaRPr/>
          </a:p>
        </p:txBody>
      </p:sp>
      <p:sp>
        <p:nvSpPr>
          <p:cNvPr id="162" name="Google Shape;162;g3fa15d9b7fc_0_1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a15d9b7fc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fa15d9b7fc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20 seconds. Do not read the list. This is the last slide before questions.</a:t>
            </a:r>
            <a:br>
              <a:rPr lang="en-US"/>
            </a:br>
            <a:br>
              <a:rPr lang="en-US"/>
            </a:br>
            <a:r>
              <a:rPr lang="en-US"/>
              <a:t>Say: "The reconstruction, fusion and registration methods are all published and have open implementations. We are integrating known components into a working product, not inventing the geometry from scratch."</a:t>
            </a:r>
            <a:br>
              <a:rPr lang="en-US"/>
            </a:br>
            <a:br>
              <a:rPr lang="en-US"/>
            </a:br>
            <a:r>
              <a:rPr lang="en-US"/>
              <a:t>Then hand to Q&amp;A.</a:t>
            </a:r>
            <a:br>
              <a:rPr lang="en-US"/>
            </a:br>
            <a:br>
              <a:rPr lang="en-US"/>
            </a:br>
            <a:r>
              <a:rPr lang="en-US"/>
              <a:t>Q&amp;A BANK, short answers ready:</a:t>
            </a:r>
            <a:br>
              <a:rPr lang="en-US"/>
            </a:br>
            <a:br>
              <a:rPr lang="en-US"/>
            </a:br>
            <a:r>
              <a:rPr lang="en-US"/>
              <a:t>"How accurate is it?" - "We do not have that number yet, and we will not guess. We measure it at M3 against caliper ground truth on printed parts. Our design target is several millimetres on hand-sized parts."</a:t>
            </a:r>
            <a:br>
              <a:rPr lang="en-US"/>
            </a:br>
            <a:br>
              <a:rPr lang="en-US"/>
            </a:br>
            <a:r>
              <a:rPr lang="en-US"/>
              <a:t>"How is this different from an app that makes a 3D model?" - "Two things: it is metric, because the printed sheet supplies real-world scale, and it reports what it did not see instead of quietly filling it in."</a:t>
            </a:r>
            <a:br>
              <a:rPr lang="en-US"/>
            </a:br>
            <a:br>
              <a:rPr lang="en-US"/>
            </a:br>
            <a:r>
              <a:rPr lang="en-US"/>
              <a:t>"How many photos, and how long?" - "Ten to thirty photos, targeting under two minutes of capture, and seconds to reconstruct on the rented GPU. The timings get measured at M2."</a:t>
            </a:r>
            <a:br>
              <a:rPr lang="en-US"/>
            </a:br>
            <a:br>
              <a:rPr lang="en-US"/>
            </a:br>
            <a:r>
              <a:rPr lang="en-US"/>
              <a:t>"What if the supplier cheats?" - "Optional and honestly bounded. The sheet carries a per-order code so old photos cannot be replayed, and a photo of a screen reconstructs as a flat plane, which we detect. It does not prove which physical unit of an identical part is on the sheet, and we say so in the report."</a:t>
            </a:r>
            <a:br>
              <a:rPr lang="en-US"/>
            </a:br>
            <a:br>
              <a:rPr lang="en-US"/>
            </a:br>
            <a:r>
              <a:rPr lang="en-US"/>
              <a:t>"Is there a user study?" - "An informal one with five or six volunteers, internal only, so no IRB approval is needed this semester. A formal study with IRB approval is future work."</a:t>
            </a:r>
            <a:br>
              <a:rPr lang="en-US"/>
            </a:br>
            <a:br>
              <a:rPr lang="en-US"/>
            </a:br>
            <a:r>
              <a:rPr lang="en-US"/>
              <a:t>"What is the research contribution?" - "The capstone deliverable is the product. The follow-on research question is whether capture should stop when enough of the surface is covered, or when the scan can demonstrably detect the defects the buyer cares about. We build the product half of that this semester."</a:t>
            </a:r>
            <a:br>
              <a:rPr lang="en-US"/>
            </a:br>
            <a:br>
              <a:rPr lang="en-US"/>
            </a:br>
            <a:r>
              <a:rPr lang="en-US"/>
              <a:t>IF YOU DO NOT KNOW AN ANSWER: say "We do not know yet, that is what M3 measures." Do not invent a number. The credibility of this proposal rests on not promising numbers we have not measured.</a:t>
            </a:r>
            <a:endParaRPr/>
          </a:p>
        </p:txBody>
      </p:sp>
      <p:sp>
        <p:nvSpPr>
          <p:cNvPr id="253" name="Google Shape;253;g3fa15d9b7fc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2" name="Shape 12"/>
        <p:cNvGrpSpPr/>
        <p:nvPr/>
      </p:nvGrpSpPr>
      <p:grpSpPr>
        <a:xfrm>
          <a:off x="0" y="0"/>
          <a:ext cx="0" cy="0"/>
          <a:chOff x="0" y="0"/>
          <a:chExt cx="0" cy="0"/>
        </a:xfrm>
      </p:grpSpPr>
      <p:sp>
        <p:nvSpPr>
          <p:cNvPr id="13" name="Google Shape;13;p12"/>
          <p:cNvSpPr/>
          <p:nvPr/>
        </p:nvSpPr>
        <p:spPr>
          <a:xfrm>
            <a:off x="0" y="0"/>
            <a:ext cx="9144000" cy="9144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2"/>
          <p:cNvSpPr/>
          <p:nvPr/>
        </p:nvSpPr>
        <p:spPr>
          <a:xfrm>
            <a:off x="457200" y="477316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900"/>
              <a:buFont typeface="Arial"/>
              <a:buNone/>
            </a:pPr>
            <a:r>
              <a:rPr b="0" i="0" lang="en-US" sz="900" u="none" cap="none" strike="noStrike">
                <a:solidFill>
                  <a:srgbClr val="5F6B7A"/>
                </a:solidFill>
                <a:latin typeface="Arial"/>
                <a:ea typeface="Arial"/>
                <a:cs typeface="Arial"/>
                <a:sym typeface="Arial"/>
              </a:rPr>
              <a:t>ProofShape · CS595 Capstone Project Proposal · Fall 2026</a:t>
            </a:r>
            <a:endParaRPr b="0" i="0" sz="900" u="none" cap="none" strike="noStrike">
              <a:solidFill>
                <a:schemeClr val="dk1"/>
              </a:solidFill>
              <a:latin typeface="Calibri"/>
              <a:ea typeface="Calibri"/>
              <a:cs typeface="Calibri"/>
              <a:sym typeface="Calibri"/>
            </a:endParaRPr>
          </a:p>
        </p:txBody>
      </p:sp>
      <p:sp>
        <p:nvSpPr>
          <p:cNvPr id="15" name="Google Shape;15;p12"/>
          <p:cNvSpPr txBox="1"/>
          <p:nvPr>
            <p:ph idx="12" type="sldNum"/>
          </p:nvPr>
        </p:nvSpPr>
        <p:spPr>
          <a:xfrm>
            <a:off x="8229600" y="4773168"/>
            <a:ext cx="457200" cy="256032"/>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5F6B7A"/>
                </a:solidFill>
                <a:latin typeface="Arial"/>
                <a:ea typeface="Arial"/>
                <a:cs typeface="Arial"/>
                <a:sym typeface="Arial"/>
              </a:defRPr>
            </a:lvl1pPr>
            <a:lvl2pPr indent="0" lvl="1" marL="0" marR="0" algn="r">
              <a:spcBef>
                <a:spcPts val="0"/>
              </a:spcBef>
              <a:buNone/>
              <a:defRPr b="0" i="0" sz="900" u="none" cap="none" strike="noStrike">
                <a:solidFill>
                  <a:srgbClr val="5F6B7A"/>
                </a:solidFill>
                <a:latin typeface="Arial"/>
                <a:ea typeface="Arial"/>
                <a:cs typeface="Arial"/>
                <a:sym typeface="Arial"/>
              </a:defRPr>
            </a:lvl2pPr>
            <a:lvl3pPr indent="0" lvl="2" marL="0" marR="0" algn="r">
              <a:spcBef>
                <a:spcPts val="0"/>
              </a:spcBef>
              <a:buNone/>
              <a:defRPr b="0" i="0" sz="900" u="none" cap="none" strike="noStrike">
                <a:solidFill>
                  <a:srgbClr val="5F6B7A"/>
                </a:solidFill>
                <a:latin typeface="Arial"/>
                <a:ea typeface="Arial"/>
                <a:cs typeface="Arial"/>
                <a:sym typeface="Arial"/>
              </a:defRPr>
            </a:lvl3pPr>
            <a:lvl4pPr indent="0" lvl="3" marL="0" marR="0" algn="r">
              <a:spcBef>
                <a:spcPts val="0"/>
              </a:spcBef>
              <a:buNone/>
              <a:defRPr b="0" i="0" sz="900" u="none" cap="none" strike="noStrike">
                <a:solidFill>
                  <a:srgbClr val="5F6B7A"/>
                </a:solidFill>
                <a:latin typeface="Arial"/>
                <a:ea typeface="Arial"/>
                <a:cs typeface="Arial"/>
                <a:sym typeface="Arial"/>
              </a:defRPr>
            </a:lvl4pPr>
            <a:lvl5pPr indent="0" lvl="4" marL="0" marR="0" algn="r">
              <a:spcBef>
                <a:spcPts val="0"/>
              </a:spcBef>
              <a:buNone/>
              <a:defRPr b="0" i="0" sz="900" u="none" cap="none" strike="noStrike">
                <a:solidFill>
                  <a:srgbClr val="5F6B7A"/>
                </a:solidFill>
                <a:latin typeface="Arial"/>
                <a:ea typeface="Arial"/>
                <a:cs typeface="Arial"/>
                <a:sym typeface="Arial"/>
              </a:defRPr>
            </a:lvl5pPr>
            <a:lvl6pPr indent="0" lvl="5" marL="0" marR="0" algn="r">
              <a:spcBef>
                <a:spcPts val="0"/>
              </a:spcBef>
              <a:buNone/>
              <a:defRPr b="0" i="0" sz="900" u="none" cap="none" strike="noStrike">
                <a:solidFill>
                  <a:srgbClr val="5F6B7A"/>
                </a:solidFill>
                <a:latin typeface="Arial"/>
                <a:ea typeface="Arial"/>
                <a:cs typeface="Arial"/>
                <a:sym typeface="Arial"/>
              </a:defRPr>
            </a:lvl6pPr>
            <a:lvl7pPr indent="0" lvl="6" marL="0" marR="0" algn="r">
              <a:spcBef>
                <a:spcPts val="0"/>
              </a:spcBef>
              <a:buNone/>
              <a:defRPr b="0" i="0" sz="900" u="none" cap="none" strike="noStrike">
                <a:solidFill>
                  <a:srgbClr val="5F6B7A"/>
                </a:solidFill>
                <a:latin typeface="Arial"/>
                <a:ea typeface="Arial"/>
                <a:cs typeface="Arial"/>
                <a:sym typeface="Arial"/>
              </a:defRPr>
            </a:lvl7pPr>
            <a:lvl8pPr indent="0" lvl="7" marL="0" marR="0" algn="r">
              <a:spcBef>
                <a:spcPts val="0"/>
              </a:spcBef>
              <a:buNone/>
              <a:defRPr b="0" i="0" sz="900" u="none" cap="none" strike="noStrike">
                <a:solidFill>
                  <a:srgbClr val="5F6B7A"/>
                </a:solidFill>
                <a:latin typeface="Arial"/>
                <a:ea typeface="Arial"/>
                <a:cs typeface="Arial"/>
                <a:sym typeface="Arial"/>
              </a:defRPr>
            </a:lvl8pPr>
            <a:lvl9pPr indent="0" lvl="8" marL="0" marR="0" algn="r">
              <a:spcBef>
                <a:spcPts val="0"/>
              </a:spcBef>
              <a:buNone/>
              <a:defRPr b="0" i="0" sz="900" u="none" cap="none" strike="noStrike">
                <a:solidFill>
                  <a:srgbClr val="5F6B7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0"/>
          <p:cNvSpPr txBox="1"/>
          <p:nvPr>
            <p:ph idx="12" type="sldNum"/>
          </p:nvPr>
        </p:nvSpPr>
        <p:spPr>
          <a:xfrm>
            <a:off x="8229600" y="4773168"/>
            <a:ext cx="457200" cy="256032"/>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5F6B7A"/>
                </a:solidFill>
                <a:latin typeface="Arial"/>
                <a:ea typeface="Arial"/>
                <a:cs typeface="Arial"/>
                <a:sym typeface="Arial"/>
              </a:defRPr>
            </a:lvl1pPr>
            <a:lvl2pPr indent="0" lvl="1" marL="0" marR="0" rtl="0" algn="r">
              <a:spcBef>
                <a:spcPts val="0"/>
              </a:spcBef>
              <a:buNone/>
              <a:defRPr b="0" i="0" sz="900" u="none" cap="none" strike="noStrike">
                <a:solidFill>
                  <a:srgbClr val="5F6B7A"/>
                </a:solidFill>
                <a:latin typeface="Arial"/>
                <a:ea typeface="Arial"/>
                <a:cs typeface="Arial"/>
                <a:sym typeface="Arial"/>
              </a:defRPr>
            </a:lvl2pPr>
            <a:lvl3pPr indent="0" lvl="2" marL="0" marR="0" rtl="0" algn="r">
              <a:spcBef>
                <a:spcPts val="0"/>
              </a:spcBef>
              <a:buNone/>
              <a:defRPr b="0" i="0" sz="900" u="none" cap="none" strike="noStrike">
                <a:solidFill>
                  <a:srgbClr val="5F6B7A"/>
                </a:solidFill>
                <a:latin typeface="Arial"/>
                <a:ea typeface="Arial"/>
                <a:cs typeface="Arial"/>
                <a:sym typeface="Arial"/>
              </a:defRPr>
            </a:lvl3pPr>
            <a:lvl4pPr indent="0" lvl="3" marL="0" marR="0" rtl="0" algn="r">
              <a:spcBef>
                <a:spcPts val="0"/>
              </a:spcBef>
              <a:buNone/>
              <a:defRPr b="0" i="0" sz="900" u="none" cap="none" strike="noStrike">
                <a:solidFill>
                  <a:srgbClr val="5F6B7A"/>
                </a:solidFill>
                <a:latin typeface="Arial"/>
                <a:ea typeface="Arial"/>
                <a:cs typeface="Arial"/>
                <a:sym typeface="Arial"/>
              </a:defRPr>
            </a:lvl4pPr>
            <a:lvl5pPr indent="0" lvl="4" marL="0" marR="0" rtl="0" algn="r">
              <a:spcBef>
                <a:spcPts val="0"/>
              </a:spcBef>
              <a:buNone/>
              <a:defRPr b="0" i="0" sz="900" u="none" cap="none" strike="noStrike">
                <a:solidFill>
                  <a:srgbClr val="5F6B7A"/>
                </a:solidFill>
                <a:latin typeface="Arial"/>
                <a:ea typeface="Arial"/>
                <a:cs typeface="Arial"/>
                <a:sym typeface="Arial"/>
              </a:defRPr>
            </a:lvl5pPr>
            <a:lvl6pPr indent="0" lvl="5" marL="0" marR="0" rtl="0" algn="r">
              <a:spcBef>
                <a:spcPts val="0"/>
              </a:spcBef>
              <a:buNone/>
              <a:defRPr b="0" i="0" sz="900" u="none" cap="none" strike="noStrike">
                <a:solidFill>
                  <a:srgbClr val="5F6B7A"/>
                </a:solidFill>
                <a:latin typeface="Arial"/>
                <a:ea typeface="Arial"/>
                <a:cs typeface="Arial"/>
                <a:sym typeface="Arial"/>
              </a:defRPr>
            </a:lvl6pPr>
            <a:lvl7pPr indent="0" lvl="6" marL="0" marR="0" rtl="0" algn="r">
              <a:spcBef>
                <a:spcPts val="0"/>
              </a:spcBef>
              <a:buNone/>
              <a:defRPr b="0" i="0" sz="900" u="none" cap="none" strike="noStrike">
                <a:solidFill>
                  <a:srgbClr val="5F6B7A"/>
                </a:solidFill>
                <a:latin typeface="Arial"/>
                <a:ea typeface="Arial"/>
                <a:cs typeface="Arial"/>
                <a:sym typeface="Arial"/>
              </a:defRPr>
            </a:lvl7pPr>
            <a:lvl8pPr indent="0" lvl="7" marL="0" marR="0" rtl="0" algn="r">
              <a:spcBef>
                <a:spcPts val="0"/>
              </a:spcBef>
              <a:buNone/>
              <a:defRPr b="0" i="0" sz="900" u="none" cap="none" strike="noStrike">
                <a:solidFill>
                  <a:srgbClr val="5F6B7A"/>
                </a:solidFill>
                <a:latin typeface="Arial"/>
                <a:ea typeface="Arial"/>
                <a:cs typeface="Arial"/>
                <a:sym typeface="Arial"/>
              </a:defRPr>
            </a:lvl8pPr>
            <a:lvl9pPr indent="0" lvl="8" marL="0" marR="0" rtl="0" algn="r">
              <a:spcBef>
                <a:spcPts val="0"/>
              </a:spcBef>
              <a:buNone/>
              <a:defRPr b="0" i="0" sz="900" u="none" cap="none" strike="noStrike">
                <a:solidFill>
                  <a:srgbClr val="5F6B7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 name="Shape 20"/>
        <p:cNvGrpSpPr/>
        <p:nvPr/>
      </p:nvGrpSpPr>
      <p:grpSpPr>
        <a:xfrm>
          <a:off x="0" y="0"/>
          <a:ext cx="0" cy="0"/>
          <a:chOff x="0" y="0"/>
          <a:chExt cx="0" cy="0"/>
        </a:xfrm>
      </p:grpSpPr>
      <p:sp>
        <p:nvSpPr>
          <p:cNvPr id="21" name="Google Shape;21;g3fa15d9b7fc_0_0"/>
          <p:cNvSpPr/>
          <p:nvPr/>
        </p:nvSpPr>
        <p:spPr>
          <a:xfrm>
            <a:off x="0" y="0"/>
            <a:ext cx="9144000" cy="21489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g3fa15d9b7fc_0_0"/>
          <p:cNvSpPr/>
          <p:nvPr/>
        </p:nvSpPr>
        <p:spPr>
          <a:xfrm>
            <a:off x="548640" y="457200"/>
            <a:ext cx="8046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Arial"/>
              <a:buNone/>
            </a:pPr>
            <a:r>
              <a:rPr b="1" i="0" lang="en-US" sz="4600" u="none" cap="none" strike="noStrike">
                <a:solidFill>
                  <a:srgbClr val="FFFFFF"/>
                </a:solidFill>
                <a:latin typeface="Arial"/>
                <a:ea typeface="Arial"/>
                <a:cs typeface="Arial"/>
                <a:sym typeface="Arial"/>
              </a:rPr>
              <a:t>ProofShape</a:t>
            </a:r>
            <a:endParaRPr b="0" i="0" sz="4600" u="none" cap="none" strike="noStrike">
              <a:solidFill>
                <a:schemeClr val="dk1"/>
              </a:solidFill>
              <a:latin typeface="Calibri"/>
              <a:ea typeface="Calibri"/>
              <a:cs typeface="Calibri"/>
              <a:sym typeface="Calibri"/>
            </a:endParaRPr>
          </a:p>
        </p:txBody>
      </p:sp>
      <p:sp>
        <p:nvSpPr>
          <p:cNvPr id="23" name="Google Shape;23;g3fa15d9b7fc_0_0"/>
          <p:cNvSpPr/>
          <p:nvPr/>
        </p:nvSpPr>
        <p:spPr>
          <a:xfrm>
            <a:off x="548640" y="1234440"/>
            <a:ext cx="8046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E3E3"/>
              </a:buClr>
              <a:buSzPts val="2100"/>
              <a:buFont typeface="Arial"/>
              <a:buNone/>
            </a:pPr>
            <a:r>
              <a:rPr b="0" i="0" lang="en-US" sz="2100" u="none" cap="none" strike="noStrike">
                <a:solidFill>
                  <a:srgbClr val="BFE3E3"/>
                </a:solidFill>
                <a:latin typeface="Arial"/>
                <a:ea typeface="Arial"/>
                <a:cs typeface="Arial"/>
                <a:sym typeface="Arial"/>
              </a:rPr>
              <a:t>Phone-Based 3D Capture and Inspection for Manufactured Parts</a:t>
            </a:r>
            <a:endParaRPr b="0" i="0" sz="2100" u="none" cap="none" strike="noStrike">
              <a:solidFill>
                <a:schemeClr val="dk1"/>
              </a:solidFill>
              <a:latin typeface="Calibri"/>
              <a:ea typeface="Calibri"/>
              <a:cs typeface="Calibri"/>
              <a:sym typeface="Calibri"/>
            </a:endParaRPr>
          </a:p>
        </p:txBody>
      </p:sp>
      <p:sp>
        <p:nvSpPr>
          <p:cNvPr id="24" name="Google Shape;24;g3fa15d9b7fc_0_0"/>
          <p:cNvSpPr/>
          <p:nvPr/>
        </p:nvSpPr>
        <p:spPr>
          <a:xfrm>
            <a:off x="548640" y="233172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CS595 Capstone Project Proposal · Fall 2026</a:t>
            </a:r>
            <a:endParaRPr b="0" i="0" sz="1700" u="none" cap="none" strike="noStrike">
              <a:solidFill>
                <a:schemeClr val="dk1"/>
              </a:solidFill>
              <a:latin typeface="Calibri"/>
              <a:ea typeface="Calibri"/>
              <a:cs typeface="Calibri"/>
              <a:sym typeface="Calibri"/>
            </a:endParaRPr>
          </a:p>
        </p:txBody>
      </p:sp>
      <p:sp>
        <p:nvSpPr>
          <p:cNvPr id="25" name="Google Shape;25;g3fa15d9b7fc_0_0"/>
          <p:cNvSpPr/>
          <p:nvPr/>
        </p:nvSpPr>
        <p:spPr>
          <a:xfrm>
            <a:off x="548640" y="2670048"/>
            <a:ext cx="8046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300"/>
              <a:buFont typeface="Arial"/>
              <a:buNone/>
            </a:pPr>
            <a:r>
              <a:rPr b="0" i="0" lang="en-US" sz="1300" u="none" cap="none" strike="noStrike">
                <a:solidFill>
                  <a:srgbClr val="5F6B7A"/>
                </a:solidFill>
                <a:latin typeface="Arial"/>
                <a:ea typeface="Arial"/>
                <a:cs typeface="Arial"/>
                <a:sym typeface="Arial"/>
              </a:rPr>
              <a:t>San Francisco Bay University</a:t>
            </a:r>
            <a:endParaRPr b="0" i="0" sz="1300" u="none" cap="none" strike="noStrike">
              <a:solidFill>
                <a:schemeClr val="dk1"/>
              </a:solidFill>
              <a:latin typeface="Calibri"/>
              <a:ea typeface="Calibri"/>
              <a:cs typeface="Calibri"/>
              <a:sym typeface="Calibri"/>
            </a:endParaRPr>
          </a:p>
        </p:txBody>
      </p:sp>
      <p:sp>
        <p:nvSpPr>
          <p:cNvPr id="26" name="Google Shape;26;g3fa15d9b7fc_0_0"/>
          <p:cNvSpPr/>
          <p:nvPr/>
        </p:nvSpPr>
        <p:spPr>
          <a:xfrm>
            <a:off x="548640" y="2944368"/>
            <a:ext cx="8046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Team: </a:t>
            </a:r>
            <a:r>
              <a:rPr lang="en-US" sz="1300">
                <a:solidFill>
                  <a:srgbClr val="222222"/>
                </a:solidFill>
              </a:rPr>
              <a:t>Tabeen</a:t>
            </a:r>
            <a:r>
              <a:rPr b="0" i="0" lang="en-US" sz="1300" u="none" cap="none" strike="noStrike">
                <a:solidFill>
                  <a:srgbClr val="222222"/>
                </a:solidFill>
                <a:latin typeface="Arial"/>
                <a:ea typeface="Arial"/>
                <a:cs typeface="Arial"/>
                <a:sym typeface="Arial"/>
              </a:rPr>
              <a:t> ·</a:t>
            </a:r>
            <a:r>
              <a:rPr lang="en-US" sz="1300">
                <a:solidFill>
                  <a:srgbClr val="222222"/>
                </a:solidFill>
              </a:rPr>
              <a:t> Mamadou </a:t>
            </a:r>
            <a:r>
              <a:rPr b="0" i="0" lang="en-US" sz="1300" u="none" cap="none" strike="noStrike">
                <a:solidFill>
                  <a:srgbClr val="222222"/>
                </a:solidFill>
                <a:latin typeface="Arial"/>
                <a:ea typeface="Arial"/>
                <a:cs typeface="Arial"/>
                <a:sym typeface="Arial"/>
              </a:rPr>
              <a:t>· </a:t>
            </a:r>
            <a:r>
              <a:rPr lang="en-US" sz="1300">
                <a:solidFill>
                  <a:srgbClr val="222222"/>
                </a:solidFill>
              </a:rPr>
              <a:t>Yashi</a:t>
            </a:r>
            <a:endParaRPr b="0" i="0" sz="1300" u="none" cap="none" strike="noStrike">
              <a:solidFill>
                <a:schemeClr val="dk1"/>
              </a:solidFill>
              <a:latin typeface="Calibri"/>
              <a:ea typeface="Calibri"/>
              <a:cs typeface="Calibri"/>
              <a:sym typeface="Calibri"/>
            </a:endParaRPr>
          </a:p>
        </p:txBody>
      </p:sp>
      <p:sp>
        <p:nvSpPr>
          <p:cNvPr id="27" name="Google Shape;27;g3fa15d9b7fc_0_0"/>
          <p:cNvSpPr/>
          <p:nvPr/>
        </p:nvSpPr>
        <p:spPr>
          <a:xfrm>
            <a:off x="548640" y="3520440"/>
            <a:ext cx="2377500" cy="685800"/>
          </a:xfrm>
          <a:prstGeom prst="roundRect">
            <a:avLst>
              <a:gd fmla="val 10667"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3fa15d9b7fc_0_0"/>
          <p:cNvSpPr/>
          <p:nvPr/>
        </p:nvSpPr>
        <p:spPr>
          <a:xfrm>
            <a:off x="548640" y="3520440"/>
            <a:ext cx="237750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1100"/>
              <a:buFont typeface="Arial"/>
              <a:buNone/>
            </a:pPr>
            <a:r>
              <a:rPr b="0" i="0" lang="en-US" sz="1100" u="none" cap="none" strike="noStrike">
                <a:solidFill>
                  <a:srgbClr val="1F3A5F"/>
                </a:solidFill>
                <a:latin typeface="Arial"/>
                <a:ea typeface="Arial"/>
                <a:cs typeface="Arial"/>
                <a:sym typeface="Arial"/>
              </a:rPr>
              <a:t>Phone photos of a part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1100"/>
              <a:buFont typeface="Arial"/>
              <a:buNone/>
            </a:pPr>
            <a:r>
              <a:rPr b="0" i="0" lang="en-US" sz="1100" u="none" cap="none" strike="noStrike">
                <a:solidFill>
                  <a:srgbClr val="1F3A5F"/>
                </a:solidFill>
                <a:latin typeface="Arial"/>
                <a:ea typeface="Arial"/>
                <a:cs typeface="Arial"/>
                <a:sym typeface="Arial"/>
              </a:rPr>
              <a:t>on a printed reference sheet</a:t>
            </a:r>
            <a:endParaRPr b="0" i="0" sz="1100" u="none" cap="none" strike="noStrike">
              <a:solidFill>
                <a:schemeClr val="dk1"/>
              </a:solidFill>
              <a:latin typeface="Calibri"/>
              <a:ea typeface="Calibri"/>
              <a:cs typeface="Calibri"/>
              <a:sym typeface="Calibri"/>
            </a:endParaRPr>
          </a:p>
        </p:txBody>
      </p:sp>
      <p:cxnSp>
        <p:nvCxnSpPr>
          <p:cNvPr id="29" name="Google Shape;29;g3fa15d9b7fc_0_0"/>
          <p:cNvCxnSpPr/>
          <p:nvPr/>
        </p:nvCxnSpPr>
        <p:spPr>
          <a:xfrm>
            <a:off x="2953512" y="3863340"/>
            <a:ext cx="402300" cy="0"/>
          </a:xfrm>
          <a:prstGeom prst="straightConnector1">
            <a:avLst/>
          </a:prstGeom>
          <a:noFill/>
          <a:ln cap="flat" cmpd="sng" w="19050">
            <a:solidFill>
              <a:srgbClr val="5F6B7A"/>
            </a:solidFill>
            <a:prstDash val="solid"/>
            <a:round/>
            <a:headEnd len="sm" w="sm" type="none"/>
            <a:tailEnd len="med" w="med" type="triangle"/>
          </a:ln>
        </p:spPr>
      </p:cxnSp>
      <p:sp>
        <p:nvSpPr>
          <p:cNvPr id="30" name="Google Shape;30;g3fa15d9b7fc_0_0"/>
          <p:cNvSpPr/>
          <p:nvPr/>
        </p:nvSpPr>
        <p:spPr>
          <a:xfrm>
            <a:off x="3383280" y="3520440"/>
            <a:ext cx="2377500" cy="685800"/>
          </a:xfrm>
          <a:prstGeom prst="roundRect">
            <a:avLst>
              <a:gd fmla="val 10667"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3fa15d9b7fc_0_0"/>
          <p:cNvSpPr/>
          <p:nvPr/>
        </p:nvSpPr>
        <p:spPr>
          <a:xfrm>
            <a:off x="3383280" y="3520440"/>
            <a:ext cx="237750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1100"/>
              <a:buFont typeface="Arial"/>
              <a:buNone/>
            </a:pPr>
            <a:r>
              <a:rPr b="0" i="0" lang="en-US" sz="1100" u="none" cap="none" strike="noStrike">
                <a:solidFill>
                  <a:srgbClr val="1F3A5F"/>
                </a:solidFill>
                <a:latin typeface="Arial"/>
                <a:ea typeface="Arial"/>
                <a:cs typeface="Arial"/>
                <a:sym typeface="Arial"/>
              </a:rPr>
              <a:t>Metric 3D model</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1100"/>
              <a:buFont typeface="Arial"/>
              <a:buNone/>
            </a:pPr>
            <a:r>
              <a:rPr b="0" i="0" lang="en-US" sz="1100" u="none" cap="none" strike="noStrike">
                <a:solidFill>
                  <a:srgbClr val="1F3A5F"/>
                </a:solidFill>
                <a:latin typeface="Arial"/>
                <a:ea typeface="Arial"/>
                <a:cs typeface="Arial"/>
                <a:sym typeface="Arial"/>
              </a:rPr>
              <a:t>in the browser</a:t>
            </a:r>
            <a:endParaRPr b="0" i="0" sz="1100" u="none" cap="none" strike="noStrike">
              <a:solidFill>
                <a:schemeClr val="dk1"/>
              </a:solidFill>
              <a:latin typeface="Calibri"/>
              <a:ea typeface="Calibri"/>
              <a:cs typeface="Calibri"/>
              <a:sym typeface="Calibri"/>
            </a:endParaRPr>
          </a:p>
        </p:txBody>
      </p:sp>
      <p:cxnSp>
        <p:nvCxnSpPr>
          <p:cNvPr id="32" name="Google Shape;32;g3fa15d9b7fc_0_0"/>
          <p:cNvCxnSpPr/>
          <p:nvPr/>
        </p:nvCxnSpPr>
        <p:spPr>
          <a:xfrm>
            <a:off x="5788152" y="3863340"/>
            <a:ext cx="402300" cy="0"/>
          </a:xfrm>
          <a:prstGeom prst="straightConnector1">
            <a:avLst/>
          </a:prstGeom>
          <a:noFill/>
          <a:ln cap="flat" cmpd="sng" w="19050">
            <a:solidFill>
              <a:srgbClr val="5F6B7A"/>
            </a:solidFill>
            <a:prstDash val="solid"/>
            <a:round/>
            <a:headEnd len="sm" w="sm" type="none"/>
            <a:tailEnd len="med" w="med" type="triangle"/>
          </a:ln>
        </p:spPr>
      </p:cxnSp>
      <p:sp>
        <p:nvSpPr>
          <p:cNvPr id="33" name="Google Shape;33;g3fa15d9b7fc_0_0"/>
          <p:cNvSpPr/>
          <p:nvPr/>
        </p:nvSpPr>
        <p:spPr>
          <a:xfrm>
            <a:off x="6217920" y="3520440"/>
            <a:ext cx="2377500" cy="685800"/>
          </a:xfrm>
          <a:prstGeom prst="roundRect">
            <a:avLst>
              <a:gd fmla="val 10667"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fa15d9b7fc_0_0"/>
          <p:cNvSpPr/>
          <p:nvPr/>
        </p:nvSpPr>
        <p:spPr>
          <a:xfrm>
            <a:off x="6217920" y="3520440"/>
            <a:ext cx="237750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1100"/>
              <a:buFont typeface="Arial"/>
              <a:buNone/>
            </a:pPr>
            <a:r>
              <a:rPr b="0" i="0" lang="en-US" sz="1100" u="none" cap="none" strike="noStrike">
                <a:solidFill>
                  <a:srgbClr val="1F3A5F"/>
                </a:solidFill>
                <a:latin typeface="Arial"/>
                <a:ea typeface="Arial"/>
                <a:cs typeface="Arial"/>
                <a:sym typeface="Arial"/>
              </a:rPr>
              <a:t>Pass / Fail / Rescan / Unverifiable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1100"/>
              <a:buFont typeface="Arial"/>
              <a:buNone/>
            </a:pPr>
            <a:r>
              <a:rPr b="0" i="0" lang="en-US" sz="1100" u="none" cap="none" strike="noStrike">
                <a:solidFill>
                  <a:srgbClr val="1F3A5F"/>
                </a:solidFill>
                <a:latin typeface="Arial"/>
                <a:ea typeface="Arial"/>
                <a:cs typeface="Arial"/>
                <a:sym typeface="Arial"/>
              </a:rPr>
              <a:t>report with deviation heatmap</a:t>
            </a:r>
            <a:endParaRPr b="0" i="0" sz="1100" u="none" cap="none" strike="noStrike">
              <a:solidFill>
                <a:schemeClr val="dk1"/>
              </a:solidFill>
              <a:latin typeface="Calibri"/>
              <a:ea typeface="Calibri"/>
              <a:cs typeface="Calibri"/>
              <a:sym typeface="Calibri"/>
            </a:endParaRPr>
          </a:p>
        </p:txBody>
      </p:sp>
      <p:sp>
        <p:nvSpPr>
          <p:cNvPr id="35" name="Google Shape;35;g3fa15d9b7fc_0_0"/>
          <p:cNvSpPr/>
          <p:nvPr/>
        </p:nvSpPr>
        <p:spPr>
          <a:xfrm>
            <a:off x="548640" y="4422221"/>
            <a:ext cx="8046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6B7A"/>
              </a:buClr>
              <a:buSzPts val="1100"/>
              <a:buFont typeface="Arial"/>
              <a:buNone/>
            </a:pPr>
            <a:r>
              <a:rPr lang="en-US" sz="1100">
                <a:solidFill>
                  <a:srgbClr val="5F6B7A"/>
                </a:solidFill>
              </a:rPr>
              <a:t>                                                                                                                                                                       September 2026</a:t>
            </a:r>
            <a:endParaRPr b="0" i="0" sz="1100" u="none" cap="none" strike="noStrike">
              <a:solidFill>
                <a:schemeClr val="dk1"/>
              </a:solidFill>
              <a:latin typeface="Calibri"/>
              <a:ea typeface="Calibri"/>
              <a:cs typeface="Calibri"/>
              <a:sym typeface="Calibri"/>
            </a:endParaRPr>
          </a:p>
        </p:txBody>
      </p:sp>
      <p:sp>
        <p:nvSpPr>
          <p:cNvPr id="36" name="Google Shape;36;g3fa15d9b7fc_0_0"/>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Tabeen                                                                                                                                                                       </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g3fa15d9b7fc_0_19"/>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Team Members</a:t>
            </a:r>
            <a:endParaRPr b="0" i="0" sz="2600" u="none" cap="none" strike="noStrike">
              <a:solidFill>
                <a:schemeClr val="dk1"/>
              </a:solidFill>
              <a:latin typeface="Calibri"/>
              <a:ea typeface="Calibri"/>
              <a:cs typeface="Calibri"/>
              <a:sym typeface="Calibri"/>
            </a:endParaRPr>
          </a:p>
        </p:txBody>
      </p:sp>
      <p:sp>
        <p:nvSpPr>
          <p:cNvPr id="43" name="Google Shape;43;g3fa15d9b7fc_0_19"/>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fa15d9b7fc_0_19"/>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Three members, three lanes; everyone presents and everyone can run the demo</a:t>
            </a:r>
            <a:endParaRPr b="0" i="0" sz="1100" u="none" cap="none" strike="noStrike">
              <a:solidFill>
                <a:schemeClr val="dk1"/>
              </a:solidFill>
              <a:latin typeface="Calibri"/>
              <a:ea typeface="Calibri"/>
              <a:cs typeface="Calibri"/>
              <a:sym typeface="Calibri"/>
            </a:endParaRPr>
          </a:p>
        </p:txBody>
      </p:sp>
      <p:sp>
        <p:nvSpPr>
          <p:cNvPr id="45" name="Google Shape;45;g3fa15d9b7fc_0_19"/>
          <p:cNvSpPr/>
          <p:nvPr/>
        </p:nvSpPr>
        <p:spPr>
          <a:xfrm>
            <a:off x="457200" y="1188720"/>
            <a:ext cx="2606100" cy="2331600"/>
          </a:xfrm>
          <a:prstGeom prst="roundRect">
            <a:avLst>
              <a:gd fmla="val 3137" name="adj"/>
            </a:avLst>
          </a:prstGeom>
          <a:solidFill>
            <a:srgbClr val="F2F4F7"/>
          </a:solidFill>
          <a:ln cap="flat" cmpd="sng" w="12700">
            <a:solidFill>
              <a:srgbClr val="F2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fa15d9b7fc_0_19"/>
          <p:cNvSpPr/>
          <p:nvPr/>
        </p:nvSpPr>
        <p:spPr>
          <a:xfrm>
            <a:off x="457200" y="1188720"/>
            <a:ext cx="2606100" cy="822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fa15d9b7fc_0_19"/>
          <p:cNvSpPr/>
          <p:nvPr/>
        </p:nvSpPr>
        <p:spPr>
          <a:xfrm>
            <a:off x="594360" y="1417320"/>
            <a:ext cx="2331600" cy="1965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700"/>
              <a:buFont typeface="Arial"/>
              <a:buNone/>
            </a:pPr>
            <a:r>
              <a:rPr b="1" lang="en-US" sz="1700">
                <a:solidFill>
                  <a:srgbClr val="1F3A5F"/>
                </a:solidFill>
              </a:rPr>
              <a:t>Tabeen</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F8B8D"/>
              </a:buClr>
              <a:buSzPts val="1200"/>
              <a:buFont typeface="Arial"/>
              <a:buNone/>
            </a:pPr>
            <a:r>
              <a:rPr b="0" i="0" lang="en-US" sz="1200" u="none" cap="none" strike="noStrike">
                <a:solidFill>
                  <a:srgbClr val="0F8B8D"/>
                </a:solidFill>
                <a:latin typeface="Arial"/>
                <a:ea typeface="Arial"/>
                <a:cs typeface="Arial"/>
                <a:sym typeface="Arial"/>
              </a:rPr>
              <a:t>Lane 1 · Capture front end</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 </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22222"/>
              </a:buClr>
              <a:buSzPts val="1150"/>
              <a:buFont typeface="Arial"/>
              <a:buNone/>
            </a:pPr>
            <a:r>
              <a:rPr b="0" i="0" lang="en-US" sz="1150" u="none" cap="none" strike="noStrike">
                <a:solidFill>
                  <a:srgbClr val="222222"/>
                </a:solidFill>
                <a:latin typeface="Arial"/>
                <a:ea typeface="Arial"/>
                <a:cs typeface="Arial"/>
                <a:sym typeface="Arial"/>
              </a:rPr>
              <a:t>Owns what the supplier sees: the phone capture experience, the guidance arrow, the 3D viewer and the report page.</a:t>
            </a:r>
            <a:endParaRPr b="0" i="0" sz="1700" u="none" cap="none" strike="noStrike">
              <a:solidFill>
                <a:schemeClr val="dk1"/>
              </a:solidFill>
              <a:latin typeface="Calibri"/>
              <a:ea typeface="Calibri"/>
              <a:cs typeface="Calibri"/>
              <a:sym typeface="Calibri"/>
            </a:endParaRPr>
          </a:p>
        </p:txBody>
      </p:sp>
      <p:sp>
        <p:nvSpPr>
          <p:cNvPr id="48" name="Google Shape;48;g3fa15d9b7fc_0_19"/>
          <p:cNvSpPr/>
          <p:nvPr/>
        </p:nvSpPr>
        <p:spPr>
          <a:xfrm>
            <a:off x="3268980" y="1188720"/>
            <a:ext cx="2606100" cy="2331600"/>
          </a:xfrm>
          <a:prstGeom prst="roundRect">
            <a:avLst>
              <a:gd fmla="val 3137" name="adj"/>
            </a:avLst>
          </a:prstGeom>
          <a:solidFill>
            <a:srgbClr val="F2F4F7"/>
          </a:solidFill>
          <a:ln cap="flat" cmpd="sng" w="12700">
            <a:solidFill>
              <a:srgbClr val="F2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g3fa15d9b7fc_0_19"/>
          <p:cNvSpPr/>
          <p:nvPr/>
        </p:nvSpPr>
        <p:spPr>
          <a:xfrm>
            <a:off x="3268980" y="1188720"/>
            <a:ext cx="2606100" cy="822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g3fa15d9b7fc_0_19"/>
          <p:cNvSpPr/>
          <p:nvPr/>
        </p:nvSpPr>
        <p:spPr>
          <a:xfrm>
            <a:off x="3406140" y="1417320"/>
            <a:ext cx="2331600" cy="1965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700"/>
              <a:buFont typeface="Arial"/>
              <a:buNone/>
            </a:pPr>
            <a:r>
              <a:rPr b="1" lang="en-US" sz="1700">
                <a:solidFill>
                  <a:srgbClr val="1F3A5F"/>
                </a:solidFill>
              </a:rPr>
              <a:t>Mamadou</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F8B8D"/>
              </a:buClr>
              <a:buSzPts val="1200"/>
              <a:buFont typeface="Arial"/>
              <a:buNone/>
            </a:pPr>
            <a:r>
              <a:rPr b="0" i="0" lang="en-US" sz="1200" u="none" cap="none" strike="noStrike">
                <a:solidFill>
                  <a:srgbClr val="0F8B8D"/>
                </a:solidFill>
                <a:latin typeface="Arial"/>
                <a:ea typeface="Arial"/>
                <a:cs typeface="Arial"/>
                <a:sym typeface="Arial"/>
              </a:rPr>
              <a:t>Lane 2 · Reconstruction backend</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 </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22222"/>
              </a:buClr>
              <a:buSzPts val="1150"/>
              <a:buFont typeface="Arial"/>
              <a:buNone/>
            </a:pPr>
            <a:r>
              <a:rPr b="0" i="0" lang="en-US" sz="1150" u="none" cap="none" strike="noStrike">
                <a:solidFill>
                  <a:srgbClr val="222222"/>
                </a:solidFill>
                <a:latin typeface="Arial"/>
                <a:ea typeface="Arial"/>
                <a:cs typeface="Arial"/>
                <a:sym typeface="Arial"/>
              </a:rPr>
              <a:t>Owns the GPU service: board detection, multi-view reconstruction, mesh fusion, provenance and latency.</a:t>
            </a:r>
            <a:endParaRPr b="0" i="0" sz="1700" u="none" cap="none" strike="noStrike">
              <a:solidFill>
                <a:schemeClr val="dk1"/>
              </a:solidFill>
              <a:latin typeface="Calibri"/>
              <a:ea typeface="Calibri"/>
              <a:cs typeface="Calibri"/>
              <a:sym typeface="Calibri"/>
            </a:endParaRPr>
          </a:p>
        </p:txBody>
      </p:sp>
      <p:sp>
        <p:nvSpPr>
          <p:cNvPr id="51" name="Google Shape;51;g3fa15d9b7fc_0_19"/>
          <p:cNvSpPr/>
          <p:nvPr/>
        </p:nvSpPr>
        <p:spPr>
          <a:xfrm>
            <a:off x="6080760" y="1188720"/>
            <a:ext cx="2606100" cy="2331600"/>
          </a:xfrm>
          <a:prstGeom prst="roundRect">
            <a:avLst>
              <a:gd fmla="val 3137" name="adj"/>
            </a:avLst>
          </a:prstGeom>
          <a:solidFill>
            <a:srgbClr val="F2F4F7"/>
          </a:solidFill>
          <a:ln cap="flat" cmpd="sng" w="12700">
            <a:solidFill>
              <a:srgbClr val="F2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fa15d9b7fc_0_19"/>
          <p:cNvSpPr/>
          <p:nvPr/>
        </p:nvSpPr>
        <p:spPr>
          <a:xfrm>
            <a:off x="6080760" y="1188720"/>
            <a:ext cx="2606100" cy="82200"/>
          </a:xfrm>
          <a:prstGeom prst="rect">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3fa15d9b7fc_0_19"/>
          <p:cNvSpPr/>
          <p:nvPr/>
        </p:nvSpPr>
        <p:spPr>
          <a:xfrm>
            <a:off x="6217920" y="1417320"/>
            <a:ext cx="2331600" cy="1965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700"/>
              <a:buFont typeface="Arial"/>
              <a:buNone/>
            </a:pPr>
            <a:r>
              <a:rPr b="1" lang="en-US" sz="1700">
                <a:solidFill>
                  <a:srgbClr val="1F3A5F"/>
                </a:solidFill>
              </a:rPr>
              <a:t>Yashi</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F8B8D"/>
              </a:buClr>
              <a:buSzPts val="1200"/>
              <a:buFont typeface="Arial"/>
              <a:buNone/>
            </a:pPr>
            <a:r>
              <a:rPr b="0" i="0" lang="en-US" sz="1200" u="none" cap="none" strike="noStrike">
                <a:solidFill>
                  <a:srgbClr val="0F8B8D"/>
                </a:solidFill>
                <a:latin typeface="Arial"/>
                <a:ea typeface="Arial"/>
                <a:cs typeface="Arial"/>
                <a:sym typeface="Arial"/>
              </a:rPr>
              <a:t>Lane 3 · Inspection and truth</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 </a:t>
            </a:r>
            <a:endParaRPr b="0" i="0" sz="17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22222"/>
              </a:buClr>
              <a:buSzPts val="1150"/>
              <a:buFont typeface="Arial"/>
              <a:buNone/>
            </a:pPr>
            <a:r>
              <a:rPr b="0" i="0" lang="en-US" sz="1150" u="none" cap="none" strike="noStrike">
                <a:solidFill>
                  <a:srgbClr val="222222"/>
                </a:solidFill>
                <a:latin typeface="Arial"/>
                <a:ea typeface="Arial"/>
                <a:cs typeface="Arial"/>
                <a:sym typeface="Arial"/>
              </a:rPr>
              <a:t>Owns correctness: CAD registration, verdict logic, printed specimens, caliper ground truth and testing.</a:t>
            </a:r>
            <a:endParaRPr b="0" i="0" sz="1700" u="none" cap="none" strike="noStrike">
              <a:solidFill>
                <a:schemeClr val="dk1"/>
              </a:solidFill>
              <a:latin typeface="Calibri"/>
              <a:ea typeface="Calibri"/>
              <a:cs typeface="Calibri"/>
              <a:sym typeface="Calibri"/>
            </a:endParaRPr>
          </a:p>
        </p:txBody>
      </p:sp>
      <p:sp>
        <p:nvSpPr>
          <p:cNvPr id="54" name="Google Shape;54;g3fa15d9b7fc_0_19"/>
          <p:cNvSpPr/>
          <p:nvPr/>
        </p:nvSpPr>
        <p:spPr>
          <a:xfrm>
            <a:off x="457200" y="3794760"/>
            <a:ext cx="8229600" cy="548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F6B7A"/>
              </a:buClr>
              <a:buSzPts val="1200"/>
              <a:buFont typeface="Arial"/>
              <a:buNone/>
            </a:pPr>
            <a:r>
              <a:rPr b="0" i="0" lang="en-US" sz="1200" u="none" cap="none" strike="noStrike">
                <a:solidFill>
                  <a:srgbClr val="5F6B7A"/>
                </a:solidFill>
                <a:latin typeface="Arial"/>
                <a:ea typeface="Arial"/>
                <a:cs typeface="Arial"/>
                <a:sym typeface="Arial"/>
              </a:rPr>
              <a:t>Lane owners are proposed here and confirmed by the team this week. Each lane has a named backup so no milestone depends on one person.</a:t>
            </a:r>
            <a:endParaRPr b="0" i="0" sz="1200" u="none" cap="none" strike="noStrike">
              <a:solidFill>
                <a:schemeClr val="dk1"/>
              </a:solidFill>
              <a:latin typeface="Calibri"/>
              <a:ea typeface="Calibri"/>
              <a:cs typeface="Calibri"/>
              <a:sym typeface="Calibri"/>
            </a:endParaRPr>
          </a:p>
        </p:txBody>
      </p:sp>
      <p:sp>
        <p:nvSpPr>
          <p:cNvPr id="55" name="Google Shape;55;g3fa15d9b7fc_0_19"/>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56" name="Google Shape;56;g3fa15d9b7fc_0_19"/>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Tabeen                                                                                                                                                                       </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fa15d9b7fc_0_37"/>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Roles of Each Team Member (1/2)</a:t>
            </a:r>
            <a:endParaRPr b="0" i="0" sz="2600" u="none" cap="none" strike="noStrike">
              <a:solidFill>
                <a:schemeClr val="dk1"/>
              </a:solidFill>
              <a:latin typeface="Calibri"/>
              <a:ea typeface="Calibri"/>
              <a:cs typeface="Calibri"/>
              <a:sym typeface="Calibri"/>
            </a:endParaRPr>
          </a:p>
        </p:txBody>
      </p:sp>
      <p:sp>
        <p:nvSpPr>
          <p:cNvPr id="63" name="Google Shape;63;g3fa15d9b7fc_0_37"/>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fa15d9b7fc_0_37"/>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Capture front end and reconstruction backend</a:t>
            </a:r>
            <a:endParaRPr b="0" i="0" sz="1100" u="none" cap="none" strike="noStrike">
              <a:solidFill>
                <a:schemeClr val="dk1"/>
              </a:solidFill>
              <a:latin typeface="Calibri"/>
              <a:ea typeface="Calibri"/>
              <a:cs typeface="Calibri"/>
              <a:sym typeface="Calibri"/>
            </a:endParaRPr>
          </a:p>
        </p:txBody>
      </p:sp>
      <p:sp>
        <p:nvSpPr>
          <p:cNvPr id="65" name="Google Shape;65;g3fa15d9b7fc_0_37"/>
          <p:cNvSpPr/>
          <p:nvPr/>
        </p:nvSpPr>
        <p:spPr>
          <a:xfrm>
            <a:off x="457200" y="1051560"/>
            <a:ext cx="4023300" cy="3566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500"/>
              <a:buFont typeface="Arial"/>
              <a:buNone/>
            </a:pPr>
            <a:r>
              <a:rPr b="1" lang="en-US" sz="1500">
                <a:solidFill>
                  <a:srgbClr val="1F3A5F"/>
                </a:solidFill>
              </a:rPr>
              <a:t>Tabeen</a:t>
            </a:r>
            <a:r>
              <a:rPr b="1" i="0" lang="en-US" sz="1500" u="none" cap="none" strike="noStrike">
                <a:solidFill>
                  <a:srgbClr val="1F3A5F"/>
                </a:solidFill>
                <a:latin typeface="Arial"/>
                <a:ea typeface="Arial"/>
                <a:cs typeface="Arial"/>
                <a:sym typeface="Arial"/>
              </a:rPr>
              <a:t> · Lane 1 · Capture front end</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0F8B8D"/>
              </a:buClr>
              <a:buSzPts val="1100"/>
              <a:buFont typeface="Arial"/>
              <a:buNone/>
            </a:pPr>
            <a:r>
              <a:rPr b="0" i="0" lang="en-US" sz="1100" u="none" cap="none" strike="noStrike">
                <a:solidFill>
                  <a:srgbClr val="0F8B8D"/>
                </a:solidFill>
                <a:latin typeface="Arial"/>
                <a:ea typeface="Arial"/>
                <a:cs typeface="Arial"/>
                <a:sym typeface="Arial"/>
              </a:rPr>
              <a:t>Estimated 97 hours</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Progressive web app in TypeScript: live camera, HTTPS upload, session link handling</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On-device frame gate: blur (Laplacian variance), exposure, duplicate detection</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Gyro overlay, next-view scoring, and the capture agent conversation view</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three.js viewer for the model, heatmap and observed / unobserved map</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Condition report page; testing on one iPhone and one Android phone</a:t>
            </a:r>
            <a:endParaRPr b="0" i="0" sz="1250" u="none" cap="none" strike="noStrike">
              <a:solidFill>
                <a:schemeClr val="dk1"/>
              </a:solidFill>
              <a:latin typeface="Calibri"/>
              <a:ea typeface="Calibri"/>
              <a:cs typeface="Calibri"/>
              <a:sym typeface="Calibri"/>
            </a:endParaRPr>
          </a:p>
        </p:txBody>
      </p:sp>
      <p:sp>
        <p:nvSpPr>
          <p:cNvPr id="66" name="Google Shape;66;g3fa15d9b7fc_0_37"/>
          <p:cNvSpPr/>
          <p:nvPr/>
        </p:nvSpPr>
        <p:spPr>
          <a:xfrm>
            <a:off x="4663440" y="1051560"/>
            <a:ext cx="4023300" cy="3566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500"/>
              <a:buFont typeface="Arial"/>
              <a:buNone/>
            </a:pPr>
            <a:r>
              <a:rPr b="1" lang="en-US" sz="1500">
                <a:solidFill>
                  <a:srgbClr val="1F3A5F"/>
                </a:solidFill>
              </a:rPr>
              <a:t>Mamadou</a:t>
            </a:r>
            <a:r>
              <a:rPr b="1" i="0" lang="en-US" sz="1500" u="none" cap="none" strike="noStrike">
                <a:solidFill>
                  <a:srgbClr val="1F3A5F"/>
                </a:solidFill>
                <a:latin typeface="Arial"/>
                <a:ea typeface="Arial"/>
                <a:cs typeface="Arial"/>
                <a:sym typeface="Arial"/>
              </a:rPr>
              <a:t> · Lane 2 · Reconstruction backend</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0F8B8D"/>
              </a:buClr>
              <a:buSzPts val="1100"/>
              <a:buFont typeface="Arial"/>
              <a:buNone/>
            </a:pPr>
            <a:r>
              <a:rPr b="0" i="0" lang="en-US" sz="1100" u="none" cap="none" strike="noStrike">
                <a:solidFill>
                  <a:srgbClr val="0F8B8D"/>
                </a:solidFill>
                <a:latin typeface="Arial"/>
                <a:ea typeface="Arial"/>
                <a:cs typeface="Arial"/>
                <a:sym typeface="Arial"/>
              </a:rPr>
              <a:t>Estimated 97 hours</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RunPod GPU pod, Docker image, FastAPI service, one-command startup</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ChArUco board detection: metric camera pose per frame, scale, QR code</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VGGT integration, with MASt3R and COLMAP fallbacks behind one flag</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Segmentation, TSDF fusion, mesh cleanup, GLB export</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Per-vertex provenance; generative shape completion; the agent tool-calling loop</a:t>
            </a:r>
            <a:endParaRPr b="0" i="0" sz="1250" u="none" cap="none" strike="noStrike">
              <a:solidFill>
                <a:schemeClr val="dk1"/>
              </a:solidFill>
              <a:latin typeface="Calibri"/>
              <a:ea typeface="Calibri"/>
              <a:cs typeface="Calibri"/>
              <a:sym typeface="Calibri"/>
            </a:endParaRPr>
          </a:p>
        </p:txBody>
      </p:sp>
      <p:sp>
        <p:nvSpPr>
          <p:cNvPr id="67" name="Google Shape;67;g3fa15d9b7fc_0_37"/>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68" name="Google Shape;68;g3fa15d9b7fc_0_37"/>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Tabeen                                                                                                                                                                       </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fa15d9b7fc_0_47"/>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Roles of Each Team Member (2/2)</a:t>
            </a:r>
            <a:endParaRPr b="0" i="0" sz="2600" u="none" cap="none" strike="noStrike">
              <a:solidFill>
                <a:schemeClr val="dk1"/>
              </a:solidFill>
              <a:latin typeface="Calibri"/>
              <a:ea typeface="Calibri"/>
              <a:cs typeface="Calibri"/>
              <a:sym typeface="Calibri"/>
            </a:endParaRPr>
          </a:p>
        </p:txBody>
      </p:sp>
      <p:sp>
        <p:nvSpPr>
          <p:cNvPr id="75" name="Google Shape;75;g3fa15d9b7fc_0_47"/>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fa15d9b7fc_0_47"/>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Inspection and truth, plus shared responsibilities</a:t>
            </a:r>
            <a:endParaRPr b="0" i="0" sz="1100" u="none" cap="none" strike="noStrike">
              <a:solidFill>
                <a:schemeClr val="dk1"/>
              </a:solidFill>
              <a:latin typeface="Calibri"/>
              <a:ea typeface="Calibri"/>
              <a:cs typeface="Calibri"/>
              <a:sym typeface="Calibri"/>
            </a:endParaRPr>
          </a:p>
        </p:txBody>
      </p:sp>
      <p:sp>
        <p:nvSpPr>
          <p:cNvPr id="77" name="Google Shape;77;g3fa15d9b7fc_0_47"/>
          <p:cNvSpPr/>
          <p:nvPr/>
        </p:nvSpPr>
        <p:spPr>
          <a:xfrm>
            <a:off x="457200" y="1051560"/>
            <a:ext cx="4023300" cy="3566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500"/>
              <a:buFont typeface="Arial"/>
              <a:buNone/>
            </a:pPr>
            <a:r>
              <a:rPr b="1" lang="en-US" sz="1500">
                <a:solidFill>
                  <a:srgbClr val="1F3A5F"/>
                </a:solidFill>
              </a:rPr>
              <a:t>Yashi</a:t>
            </a:r>
            <a:r>
              <a:rPr b="1" i="0" lang="en-US" sz="1500" u="none" cap="none" strike="noStrike">
                <a:solidFill>
                  <a:srgbClr val="1F3A5F"/>
                </a:solidFill>
                <a:latin typeface="Arial"/>
                <a:ea typeface="Arial"/>
                <a:cs typeface="Arial"/>
                <a:sym typeface="Arial"/>
              </a:rPr>
              <a:t> · Lane 3 · Inspection and truth</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0F8B8D"/>
              </a:buClr>
              <a:buSzPts val="1100"/>
              <a:buFont typeface="Arial"/>
              <a:buNone/>
            </a:pPr>
            <a:r>
              <a:rPr b="0" i="0" lang="en-US" sz="1100" u="none" cap="none" strike="noStrike">
                <a:solidFill>
                  <a:srgbClr val="0F8B8D"/>
                </a:solidFill>
                <a:latin typeface="Arial"/>
                <a:ea typeface="Arial"/>
                <a:cs typeface="Arial"/>
                <a:sym typeface="Arial"/>
              </a:rPr>
              <a:t>Estimated 97 hours</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CAD registration: FPFH + RANSAC, robust ICP, orientation-ambiguity check</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Deviation heatmap and verdict logic; evaluating whether the agent beats the deterministic policy</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Ingestion pre-check against the measured noise floor (σ_floor)</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Printer characterization, printed specimens, caliper ground truth</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Accuracy, planted-defect, robustness and usability tests</a:t>
            </a:r>
            <a:endParaRPr b="0" i="0" sz="1250" u="none" cap="none" strike="noStrike">
              <a:solidFill>
                <a:schemeClr val="dk1"/>
              </a:solidFill>
              <a:latin typeface="Calibri"/>
              <a:ea typeface="Calibri"/>
              <a:cs typeface="Calibri"/>
              <a:sym typeface="Calibri"/>
            </a:endParaRPr>
          </a:p>
        </p:txBody>
      </p:sp>
      <p:sp>
        <p:nvSpPr>
          <p:cNvPr id="78" name="Google Shape;78;g3fa15d9b7fc_0_47"/>
          <p:cNvSpPr/>
          <p:nvPr/>
        </p:nvSpPr>
        <p:spPr>
          <a:xfrm>
            <a:off x="4663440" y="1051560"/>
            <a:ext cx="4023300" cy="2103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500"/>
              <a:buFont typeface="Arial"/>
              <a:buNone/>
            </a:pPr>
            <a:r>
              <a:rPr b="1" i="0" lang="en-US" sz="1500" u="none" cap="none" strike="noStrike">
                <a:solidFill>
                  <a:srgbClr val="1F3A5F"/>
                </a:solidFill>
                <a:latin typeface="Arial"/>
                <a:ea typeface="Arial"/>
                <a:cs typeface="Arial"/>
                <a:sym typeface="Arial"/>
              </a:rPr>
              <a:t>Shared responsibilities</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0F8B8D"/>
              </a:buClr>
              <a:buSzPts val="1100"/>
              <a:buFont typeface="Arial"/>
              <a:buNone/>
            </a:pPr>
            <a:r>
              <a:rPr b="0" i="0" lang="en-US" sz="1100" u="none" cap="none" strike="noStrike">
                <a:solidFill>
                  <a:srgbClr val="0F8B8D"/>
                </a:solidFill>
                <a:latin typeface="Arial"/>
                <a:ea typeface="Arial"/>
                <a:cs typeface="Arial"/>
                <a:sym typeface="Arial"/>
              </a:rPr>
              <a:t>Estimated 54 hours, all members</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Progress presentation to the class every two weeks, seven in total</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Milestone reports and the final written report</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Presentations: everyone presents, everyone can run the demo</a:t>
            </a:r>
            <a:endParaRPr b="0" i="0" sz="125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50"/>
              <a:buFont typeface="Arial"/>
              <a:buChar char="•"/>
            </a:pPr>
            <a:r>
              <a:rPr b="0" i="0" lang="en-US" sz="1250" u="none" cap="none" strike="noStrike">
                <a:solidFill>
                  <a:srgbClr val="222222"/>
                </a:solidFill>
                <a:latin typeface="Arial"/>
                <a:ea typeface="Arial"/>
                <a:cs typeface="Arial"/>
                <a:sym typeface="Arial"/>
              </a:rPr>
              <a:t>Recorded backup demo before the final presentation</a:t>
            </a:r>
            <a:endParaRPr b="0" i="0" sz="1250" u="none" cap="none" strike="noStrike">
              <a:solidFill>
                <a:schemeClr val="dk1"/>
              </a:solidFill>
              <a:latin typeface="Calibri"/>
              <a:ea typeface="Calibri"/>
              <a:cs typeface="Calibri"/>
              <a:sym typeface="Calibri"/>
            </a:endParaRPr>
          </a:p>
        </p:txBody>
      </p:sp>
      <p:sp>
        <p:nvSpPr>
          <p:cNvPr id="79" name="Google Shape;79;g3fa15d9b7fc_0_47"/>
          <p:cNvSpPr/>
          <p:nvPr/>
        </p:nvSpPr>
        <p:spPr>
          <a:xfrm>
            <a:off x="4663440" y="3246120"/>
            <a:ext cx="4023300" cy="1371600"/>
          </a:xfrm>
          <a:prstGeom prst="roundRect">
            <a:avLst>
              <a:gd fmla="val 533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fa15d9b7fc_0_47"/>
          <p:cNvSpPr/>
          <p:nvPr/>
        </p:nvSpPr>
        <p:spPr>
          <a:xfrm>
            <a:off x="4754880" y="3291840"/>
            <a:ext cx="3840600" cy="12801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Capacity. </a:t>
            </a:r>
            <a:r>
              <a:rPr b="0" i="0" lang="en-US" sz="1100" u="none" cap="none" strike="noStrike">
                <a:solidFill>
                  <a:srgbClr val="222222"/>
                </a:solidFill>
                <a:latin typeface="Arial"/>
                <a:ea typeface="Arial"/>
                <a:cs typeface="Arial"/>
                <a:sym typeface="Arial"/>
              </a:rPr>
              <a:t>Each member commits 9 hours a week, about 116 across the semester. All three lanes land at 115.</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Scope rule. </a:t>
            </a:r>
            <a:r>
              <a:rPr b="0" i="0" lang="en-US" sz="1100" u="none" cap="none" strike="noStrike">
                <a:solidFill>
                  <a:srgbClr val="222222"/>
                </a:solidFill>
                <a:latin typeface="Arial"/>
                <a:ea typeface="Arial"/>
                <a:cs typeface="Arial"/>
                <a:sym typeface="Arial"/>
              </a:rPr>
              <a:t>Tier 1 takes the first half of every lane's hours and is never cut. Tier 3 starts only after Tier 2 is done.</a:t>
            </a:r>
            <a:endParaRPr b="0" i="0" sz="1100" u="none" cap="none" strike="noStrike">
              <a:solidFill>
                <a:schemeClr val="dk1"/>
              </a:solidFill>
              <a:latin typeface="Calibri"/>
              <a:ea typeface="Calibri"/>
              <a:cs typeface="Calibri"/>
              <a:sym typeface="Calibri"/>
            </a:endParaRPr>
          </a:p>
        </p:txBody>
      </p:sp>
      <p:sp>
        <p:nvSpPr>
          <p:cNvPr id="81" name="Google Shape;81;g3fa15d9b7fc_0_47"/>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82" name="Google Shape;82;g3fa15d9b7fc_0_47"/>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Tabeen                                                                                                                                                                       </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fa15d9b7fc_0_59"/>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Why We Chose This Topic</a:t>
            </a:r>
            <a:endParaRPr b="0" i="0" sz="2600" u="none" cap="none" strike="noStrike">
              <a:solidFill>
                <a:schemeClr val="dk1"/>
              </a:solidFill>
              <a:latin typeface="Calibri"/>
              <a:ea typeface="Calibri"/>
              <a:cs typeface="Calibri"/>
              <a:sym typeface="Calibri"/>
            </a:endParaRPr>
          </a:p>
        </p:txBody>
      </p:sp>
      <p:sp>
        <p:nvSpPr>
          <p:cNvPr id="89" name="Google Shape;89;g3fa15d9b7fc_0_59"/>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fa15d9b7fc_0_59"/>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A real inspection gap, and a project shaped so a working product exists at every milestone</a:t>
            </a:r>
            <a:endParaRPr b="0" i="0" sz="1100" u="none" cap="none" strike="noStrike">
              <a:solidFill>
                <a:schemeClr val="dk1"/>
              </a:solidFill>
              <a:latin typeface="Calibri"/>
              <a:ea typeface="Calibri"/>
              <a:cs typeface="Calibri"/>
              <a:sym typeface="Calibri"/>
            </a:endParaRPr>
          </a:p>
        </p:txBody>
      </p:sp>
      <p:sp>
        <p:nvSpPr>
          <p:cNvPr id="91" name="Google Shape;91;g3fa15d9b7fc_0_59"/>
          <p:cNvSpPr/>
          <p:nvPr/>
        </p:nvSpPr>
        <p:spPr>
          <a:xfrm>
            <a:off x="457200" y="1024128"/>
            <a:ext cx="4023300" cy="256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500"/>
              <a:buFont typeface="Arial"/>
              <a:buNone/>
            </a:pPr>
            <a:r>
              <a:rPr b="1" i="0" lang="en-US" sz="1500" u="none" cap="none" strike="noStrike">
                <a:solidFill>
                  <a:srgbClr val="1F3A5F"/>
                </a:solidFill>
                <a:latin typeface="Arial"/>
                <a:ea typeface="Arial"/>
                <a:cs typeface="Arial"/>
                <a:sym typeface="Arial"/>
              </a:rPr>
              <a:t>The problem</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Parts shipped out of spec cost shipping twice plus days to weeks of delay</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Coordinate measuring machines are accurate but lab-bound</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An emailed photo measures nothing in 3D; a supplier's own scan file is only as trustworthy as the supplier</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No sub-minute, phone-only, quantitative check exists at the workbench</a:t>
            </a:r>
            <a:endParaRPr b="0" i="0" sz="1200" u="none" cap="none" strike="noStrike">
              <a:solidFill>
                <a:schemeClr val="dk1"/>
              </a:solidFill>
              <a:latin typeface="Calibri"/>
              <a:ea typeface="Calibri"/>
              <a:cs typeface="Calibri"/>
              <a:sym typeface="Calibri"/>
            </a:endParaRPr>
          </a:p>
        </p:txBody>
      </p:sp>
      <p:sp>
        <p:nvSpPr>
          <p:cNvPr id="92" name="Google Shape;92;g3fa15d9b7fc_0_59"/>
          <p:cNvSpPr/>
          <p:nvPr/>
        </p:nvSpPr>
        <p:spPr>
          <a:xfrm>
            <a:off x="4663440" y="1024128"/>
            <a:ext cx="4023300" cy="256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5F"/>
              </a:buClr>
              <a:buSzPts val="1500"/>
              <a:buFont typeface="Arial"/>
              <a:buNone/>
            </a:pPr>
            <a:r>
              <a:rPr b="1" i="0" lang="en-US" sz="1500" u="none" cap="none" strike="noStrike">
                <a:solidFill>
                  <a:srgbClr val="1F3A5F"/>
                </a:solidFill>
                <a:latin typeface="Arial"/>
                <a:ea typeface="Arial"/>
                <a:cs typeface="Arial"/>
                <a:sym typeface="Arial"/>
              </a:rPr>
              <a:t>Why it fits a capstone</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A usable product: phone + printed sheet + browser; no app install, no special hardware</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Real computer vision and deep learning: learned multi-view reconstruction, CAD registration, uncertainty</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Full-stack engineering: PWA, GPU service, Docker, testing on real phones</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Three delivery tiers guarantee a working product at every milestone</a:t>
            </a:r>
            <a:endParaRPr b="0" i="0" sz="1200" u="none" cap="none" strike="noStrike">
              <a:solidFill>
                <a:schemeClr val="dk1"/>
              </a:solidFill>
              <a:latin typeface="Calibri"/>
              <a:ea typeface="Calibri"/>
              <a:cs typeface="Calibri"/>
              <a:sym typeface="Calibri"/>
            </a:endParaRPr>
          </a:p>
          <a:p>
            <a:pPr indent="-152400" lvl="0" marL="152400" marR="0" rtl="0" algn="l">
              <a:spcBef>
                <a:spcPts val="500"/>
              </a:spcBef>
              <a:spcAft>
                <a:spcPts val="0"/>
              </a:spcAft>
              <a:buClr>
                <a:srgbClr val="222222"/>
              </a:buClr>
              <a:buSzPts val="1200"/>
              <a:buFont typeface="Arial"/>
              <a:buChar char="•"/>
            </a:pPr>
            <a:r>
              <a:rPr b="0" i="0" lang="en-US" sz="1200" u="none" cap="none" strike="noStrike">
                <a:solidFill>
                  <a:srgbClr val="222222"/>
                </a:solidFill>
                <a:latin typeface="Arial"/>
                <a:ea typeface="Arial"/>
                <a:cs typeface="Arial"/>
                <a:sym typeface="Arial"/>
              </a:rPr>
              <a:t>Honest scope: millimetre-class checks that complement CMM inspection, never replace it</a:t>
            </a:r>
            <a:endParaRPr b="0" i="0" sz="1200" u="none" cap="none" strike="noStrike">
              <a:solidFill>
                <a:schemeClr val="dk1"/>
              </a:solidFill>
              <a:latin typeface="Calibri"/>
              <a:ea typeface="Calibri"/>
              <a:cs typeface="Calibri"/>
              <a:sym typeface="Calibri"/>
            </a:endParaRPr>
          </a:p>
        </p:txBody>
      </p:sp>
      <p:sp>
        <p:nvSpPr>
          <p:cNvPr id="93" name="Google Shape;93;g3fa15d9b7fc_0_59"/>
          <p:cNvSpPr/>
          <p:nvPr/>
        </p:nvSpPr>
        <p:spPr>
          <a:xfrm>
            <a:off x="457200" y="3657600"/>
            <a:ext cx="2651700" cy="868800"/>
          </a:xfrm>
          <a:prstGeom prst="roundRect">
            <a:avLst>
              <a:gd fmla="val 6316"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fa15d9b7fc_0_59"/>
          <p:cNvSpPr/>
          <p:nvPr/>
        </p:nvSpPr>
        <p:spPr>
          <a:xfrm>
            <a:off x="457200" y="3657600"/>
            <a:ext cx="2651700" cy="8688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Tier 1 · Must work</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Phone photos → metric 3D model in the browser</a:t>
            </a:r>
            <a:endParaRPr b="0" i="0" sz="1150" u="none" cap="none" strike="noStrike">
              <a:solidFill>
                <a:schemeClr val="dk1"/>
              </a:solidFill>
              <a:latin typeface="Calibri"/>
              <a:ea typeface="Calibri"/>
              <a:cs typeface="Calibri"/>
              <a:sym typeface="Calibri"/>
            </a:endParaRPr>
          </a:p>
        </p:txBody>
      </p:sp>
      <p:sp>
        <p:nvSpPr>
          <p:cNvPr id="95" name="Google Shape;95;g3fa15d9b7fc_0_59"/>
          <p:cNvSpPr/>
          <p:nvPr/>
        </p:nvSpPr>
        <p:spPr>
          <a:xfrm>
            <a:off x="3246120" y="3657600"/>
            <a:ext cx="2651700" cy="868800"/>
          </a:xfrm>
          <a:prstGeom prst="roundRect">
            <a:avLst>
              <a:gd fmla="val 6316" name="adj"/>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fa15d9b7fc_0_59"/>
          <p:cNvSpPr/>
          <p:nvPr/>
        </p:nvSpPr>
        <p:spPr>
          <a:xfrm>
            <a:off x="3246120" y="3657600"/>
            <a:ext cx="2651700" cy="8688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Tier 2 · Should work</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CAD alignment, deviation heatmap, Pass / Fail / Rescan / Unverifiable</a:t>
            </a:r>
            <a:endParaRPr b="0" i="0" sz="1150" u="none" cap="none" strike="noStrike">
              <a:solidFill>
                <a:schemeClr val="dk1"/>
              </a:solidFill>
              <a:latin typeface="Calibri"/>
              <a:ea typeface="Calibri"/>
              <a:cs typeface="Calibri"/>
              <a:sym typeface="Calibri"/>
            </a:endParaRPr>
          </a:p>
        </p:txBody>
      </p:sp>
      <p:sp>
        <p:nvSpPr>
          <p:cNvPr id="97" name="Google Shape;97;g3fa15d9b7fc_0_59"/>
          <p:cNvSpPr/>
          <p:nvPr/>
        </p:nvSpPr>
        <p:spPr>
          <a:xfrm>
            <a:off x="6035040" y="3657600"/>
            <a:ext cx="2651700" cy="868800"/>
          </a:xfrm>
          <a:prstGeom prst="roundRect">
            <a:avLst>
              <a:gd fmla="val 6316" name="adj"/>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fa15d9b7fc_0_59"/>
          <p:cNvSpPr/>
          <p:nvPr/>
        </p:nvSpPr>
        <p:spPr>
          <a:xfrm>
            <a:off x="6035040" y="3657600"/>
            <a:ext cx="2651700" cy="8688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Tier 3 · Could work</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Defect-aware guidance, session integrity checks, richer agent coaching</a:t>
            </a:r>
            <a:endParaRPr b="0" i="0" sz="1150" u="none" cap="none" strike="noStrike">
              <a:solidFill>
                <a:schemeClr val="dk1"/>
              </a:solidFill>
              <a:latin typeface="Calibri"/>
              <a:ea typeface="Calibri"/>
              <a:cs typeface="Calibri"/>
              <a:sym typeface="Calibri"/>
            </a:endParaRPr>
          </a:p>
        </p:txBody>
      </p:sp>
      <p:sp>
        <p:nvSpPr>
          <p:cNvPr id="99" name="Google Shape;99;g3fa15d9b7fc_0_59"/>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100" name="Google Shape;100;g3fa15d9b7fc_0_59"/>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Yashi</a:t>
            </a:r>
            <a:r>
              <a:rPr lang="en-US" sz="1100">
                <a:solidFill>
                  <a:srgbClr val="5F6B7A"/>
                </a:solidFill>
              </a:rPr>
              <a:t>                                                                                                                                                                       </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fa15d9b7fc_0_75"/>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Technology Stack (1/2)</a:t>
            </a:r>
            <a:endParaRPr b="0" i="0" sz="2600" u="none" cap="none" strike="noStrike">
              <a:solidFill>
                <a:schemeClr val="dk1"/>
              </a:solidFill>
              <a:latin typeface="Calibri"/>
              <a:ea typeface="Calibri"/>
              <a:cs typeface="Calibri"/>
              <a:sym typeface="Calibri"/>
            </a:endParaRPr>
          </a:p>
        </p:txBody>
      </p:sp>
      <p:sp>
        <p:nvSpPr>
          <p:cNvPr id="107" name="Google Shape;107;g3fa15d9b7fc_0_75"/>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3fa15d9b7fc_0_75"/>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Capture, hosting and the service layer</a:t>
            </a:r>
            <a:endParaRPr b="0" i="0" sz="1100" u="none" cap="none" strike="noStrike">
              <a:solidFill>
                <a:schemeClr val="dk1"/>
              </a:solidFill>
              <a:latin typeface="Calibri"/>
              <a:ea typeface="Calibri"/>
              <a:cs typeface="Calibri"/>
              <a:sym typeface="Calibri"/>
            </a:endParaRPr>
          </a:p>
        </p:txBody>
      </p:sp>
      <p:graphicFrame>
        <p:nvGraphicFramePr>
          <p:cNvPr id="109" name="Google Shape;109;g3fa15d9b7fc_0_75"/>
          <p:cNvGraphicFramePr/>
          <p:nvPr/>
        </p:nvGraphicFramePr>
        <p:xfrm>
          <a:off x="457200" y="1051560"/>
          <a:ext cx="3000000" cy="3000000"/>
        </p:xfrm>
        <a:graphic>
          <a:graphicData uri="http://schemas.openxmlformats.org/drawingml/2006/table">
            <a:tbl>
              <a:tblPr>
                <a:noFill/>
                <a:tableStyleId>{DBFB0F30-B0E7-429E-AA0D-B27A5B105553}</a:tableStyleId>
              </a:tblPr>
              <a:tblGrid>
                <a:gridCol w="1463050"/>
                <a:gridCol w="4114800"/>
                <a:gridCol w="2651750"/>
              </a:tblGrid>
              <a:tr h="365750">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Layer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Choice</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Fallback / notes</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Front end</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Progressive web app in TypeScript; getUserMedia (camera), DeviceOrientation (gyro), three.js viewer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HTTPS required for camera and sensors; Safari tab on iOS</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Reference sheet</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Printed ChArUco board on A4 / Letter with a per-PO QR code and orientation arrow</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Blank sheet or credit card, with wider error bars</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Board detection</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OpenCV ≥ 4.7 ChArUco detector, solvePnP, QR detector; intrinsics calibrated from the board</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Stock tooling, no custom detector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Backend service</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Python 3.11, FastAPI, uvicorn, Docker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One image, one command</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GPU hosting</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RunPod RTX 4090 (24 GB) pod behind its HTTPS proxy; about $150–200 for the semester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Network volume + startup script for re-provisioning</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Static hosting</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Served from the same pod</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GitHub Pages, or IBM LinuxONE for the application layer only</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Storage</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Folder + JSON per purchase order on the pod volume</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No database this semester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222222"/>
                        </a:buClr>
                        <a:buSzPts val="1000"/>
                        <a:buFont typeface="Arial"/>
                        <a:buNone/>
                      </a:pPr>
                      <a:r>
                        <a:rPr b="1" lang="en-US" sz="1000" u="none" cap="none" strike="noStrike">
                          <a:solidFill>
                            <a:srgbClr val="222222"/>
                          </a:solidFill>
                          <a:latin typeface="Arial"/>
                          <a:ea typeface="Arial"/>
                          <a:cs typeface="Arial"/>
                          <a:sym typeface="Arial"/>
                        </a:rPr>
                        <a:t>Test rig</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FDM 3D printer, digital calipers, calibration cube</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Print service or a $200 printer</a:t>
                      </a:r>
                      <a:endParaRPr sz="100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bl>
          </a:graphicData>
        </a:graphic>
      </p:graphicFrame>
      <p:sp>
        <p:nvSpPr>
          <p:cNvPr id="110" name="Google Shape;110;g3fa15d9b7fc_0_75"/>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111" name="Google Shape;111;g3fa15d9b7fc_0_75"/>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Mamadou</a:t>
            </a:r>
            <a:r>
              <a:rPr lang="en-US" sz="1100">
                <a:solidFill>
                  <a:srgbClr val="5F6B7A"/>
                </a:solidFill>
              </a:rPr>
              <a:t>                                                                                                                                                                       </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fa16d94e7b_14_0"/>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Technology Stack (2/2)</a:t>
            </a:r>
            <a:endParaRPr b="0" i="0" sz="2600" u="none" cap="none" strike="noStrike">
              <a:solidFill>
                <a:schemeClr val="dk1"/>
              </a:solidFill>
              <a:latin typeface="Calibri"/>
              <a:ea typeface="Calibri"/>
              <a:cs typeface="Calibri"/>
              <a:sym typeface="Calibri"/>
            </a:endParaRPr>
          </a:p>
        </p:txBody>
      </p:sp>
      <p:sp>
        <p:nvSpPr>
          <p:cNvPr id="118" name="Google Shape;118;g3fa16d94e7b_14_0"/>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fa16d94e7b_14_0"/>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Reconstruction, inspection and AI components</a:t>
            </a:r>
            <a:endParaRPr b="0" i="0" sz="1100" u="none" cap="none" strike="noStrike">
              <a:solidFill>
                <a:schemeClr val="dk1"/>
              </a:solidFill>
              <a:latin typeface="Calibri"/>
              <a:ea typeface="Calibri"/>
              <a:cs typeface="Calibri"/>
              <a:sym typeface="Calibri"/>
            </a:endParaRPr>
          </a:p>
        </p:txBody>
      </p:sp>
      <p:sp>
        <p:nvSpPr>
          <p:cNvPr id="120" name="Google Shape;120;g3fa16d94e7b_14_0"/>
          <p:cNvSpPr/>
          <p:nvPr/>
        </p:nvSpPr>
        <p:spPr>
          <a:xfrm>
            <a:off x="493776" y="965845"/>
            <a:ext cx="1206900" cy="567000"/>
          </a:xfrm>
          <a:prstGeom prst="roundRect">
            <a:avLst>
              <a:gd fmla="val 1290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fa16d94e7b_14_0"/>
          <p:cNvSpPr/>
          <p:nvPr/>
        </p:nvSpPr>
        <p:spPr>
          <a:xfrm>
            <a:off x="493776" y="965845"/>
            <a:ext cx="1206900" cy="567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Phone frames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 gyro</a:t>
            </a:r>
            <a:endParaRPr b="0" i="0" sz="950" u="none" cap="none" strike="noStrike">
              <a:solidFill>
                <a:schemeClr val="dk1"/>
              </a:solidFill>
              <a:latin typeface="Calibri"/>
              <a:ea typeface="Calibri"/>
              <a:cs typeface="Calibri"/>
              <a:sym typeface="Calibri"/>
            </a:endParaRPr>
          </a:p>
        </p:txBody>
      </p:sp>
      <p:cxnSp>
        <p:nvCxnSpPr>
          <p:cNvPr id="122" name="Google Shape;122;g3fa16d94e7b_14_0"/>
          <p:cNvCxnSpPr/>
          <p:nvPr/>
        </p:nvCxnSpPr>
        <p:spPr>
          <a:xfrm>
            <a:off x="1728216" y="1249309"/>
            <a:ext cx="128100" cy="0"/>
          </a:xfrm>
          <a:prstGeom prst="straightConnector1">
            <a:avLst/>
          </a:prstGeom>
          <a:noFill/>
          <a:ln cap="flat" cmpd="sng" w="19050">
            <a:solidFill>
              <a:srgbClr val="5F6B7A"/>
            </a:solidFill>
            <a:prstDash val="solid"/>
            <a:round/>
            <a:headEnd len="sm" w="sm" type="none"/>
            <a:tailEnd len="med" w="med" type="triangle"/>
          </a:ln>
        </p:spPr>
      </p:cxnSp>
      <p:sp>
        <p:nvSpPr>
          <p:cNvPr id="123" name="Google Shape;123;g3fa16d94e7b_14_0"/>
          <p:cNvSpPr/>
          <p:nvPr/>
        </p:nvSpPr>
        <p:spPr>
          <a:xfrm>
            <a:off x="1883664" y="965845"/>
            <a:ext cx="1206900" cy="567000"/>
          </a:xfrm>
          <a:prstGeom prst="roundRect">
            <a:avLst>
              <a:gd fmla="val 1290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fa16d94e7b_14_0"/>
          <p:cNvSpPr/>
          <p:nvPr/>
        </p:nvSpPr>
        <p:spPr>
          <a:xfrm>
            <a:off x="1883664" y="965845"/>
            <a:ext cx="1206900" cy="567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Board detection:</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metric poses</a:t>
            </a:r>
            <a:endParaRPr b="0" i="0" sz="950" u="none" cap="none" strike="noStrike">
              <a:solidFill>
                <a:schemeClr val="dk1"/>
              </a:solidFill>
              <a:latin typeface="Calibri"/>
              <a:ea typeface="Calibri"/>
              <a:cs typeface="Calibri"/>
              <a:sym typeface="Calibri"/>
            </a:endParaRPr>
          </a:p>
        </p:txBody>
      </p:sp>
      <p:cxnSp>
        <p:nvCxnSpPr>
          <p:cNvPr id="125" name="Google Shape;125;g3fa16d94e7b_14_0"/>
          <p:cNvCxnSpPr/>
          <p:nvPr/>
        </p:nvCxnSpPr>
        <p:spPr>
          <a:xfrm>
            <a:off x="3118104" y="1249309"/>
            <a:ext cx="128100" cy="0"/>
          </a:xfrm>
          <a:prstGeom prst="straightConnector1">
            <a:avLst/>
          </a:prstGeom>
          <a:noFill/>
          <a:ln cap="flat" cmpd="sng" w="19050">
            <a:solidFill>
              <a:srgbClr val="5F6B7A"/>
            </a:solidFill>
            <a:prstDash val="solid"/>
            <a:round/>
            <a:headEnd len="sm" w="sm" type="none"/>
            <a:tailEnd len="med" w="med" type="triangle"/>
          </a:ln>
        </p:spPr>
      </p:cxnSp>
      <p:sp>
        <p:nvSpPr>
          <p:cNvPr id="126" name="Google Shape;126;g3fa16d94e7b_14_0"/>
          <p:cNvSpPr/>
          <p:nvPr/>
        </p:nvSpPr>
        <p:spPr>
          <a:xfrm>
            <a:off x="3273552" y="965845"/>
            <a:ext cx="1206900" cy="567000"/>
          </a:xfrm>
          <a:prstGeom prst="roundRect">
            <a:avLst>
              <a:gd fmla="val 1290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fa16d94e7b_14_0"/>
          <p:cNvSpPr/>
          <p:nvPr/>
        </p:nvSpPr>
        <p:spPr>
          <a:xfrm>
            <a:off x="3273552" y="965845"/>
            <a:ext cx="1206900" cy="567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VGGT</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reconstruction</a:t>
            </a:r>
            <a:endParaRPr b="0" i="0" sz="950" u="none" cap="none" strike="noStrike">
              <a:solidFill>
                <a:schemeClr val="dk1"/>
              </a:solidFill>
              <a:latin typeface="Calibri"/>
              <a:ea typeface="Calibri"/>
              <a:cs typeface="Calibri"/>
              <a:sym typeface="Calibri"/>
            </a:endParaRPr>
          </a:p>
        </p:txBody>
      </p:sp>
      <p:cxnSp>
        <p:nvCxnSpPr>
          <p:cNvPr id="128" name="Google Shape;128;g3fa16d94e7b_14_0"/>
          <p:cNvCxnSpPr/>
          <p:nvPr/>
        </p:nvCxnSpPr>
        <p:spPr>
          <a:xfrm>
            <a:off x="4507992" y="1249309"/>
            <a:ext cx="128100" cy="0"/>
          </a:xfrm>
          <a:prstGeom prst="straightConnector1">
            <a:avLst/>
          </a:prstGeom>
          <a:noFill/>
          <a:ln cap="flat" cmpd="sng" w="19050">
            <a:solidFill>
              <a:srgbClr val="5F6B7A"/>
            </a:solidFill>
            <a:prstDash val="solid"/>
            <a:round/>
            <a:headEnd len="sm" w="sm" type="none"/>
            <a:tailEnd len="med" w="med" type="triangle"/>
          </a:ln>
        </p:spPr>
      </p:cxnSp>
      <p:sp>
        <p:nvSpPr>
          <p:cNvPr id="129" name="Google Shape;129;g3fa16d94e7b_14_0"/>
          <p:cNvSpPr/>
          <p:nvPr/>
        </p:nvSpPr>
        <p:spPr>
          <a:xfrm>
            <a:off x="4663440" y="965845"/>
            <a:ext cx="1206900" cy="567000"/>
          </a:xfrm>
          <a:prstGeom prst="roundRect">
            <a:avLst>
              <a:gd fmla="val 1290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fa16d94e7b_14_0"/>
          <p:cNvSpPr/>
          <p:nvPr/>
        </p:nvSpPr>
        <p:spPr>
          <a:xfrm>
            <a:off x="4663440" y="965845"/>
            <a:ext cx="1206900" cy="567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TSDF mesh</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 provenance</a:t>
            </a:r>
            <a:endParaRPr b="0" i="0" sz="950" u="none" cap="none" strike="noStrike">
              <a:solidFill>
                <a:schemeClr val="dk1"/>
              </a:solidFill>
              <a:latin typeface="Calibri"/>
              <a:ea typeface="Calibri"/>
              <a:cs typeface="Calibri"/>
              <a:sym typeface="Calibri"/>
            </a:endParaRPr>
          </a:p>
        </p:txBody>
      </p:sp>
      <p:cxnSp>
        <p:nvCxnSpPr>
          <p:cNvPr id="131" name="Google Shape;131;g3fa16d94e7b_14_0"/>
          <p:cNvCxnSpPr/>
          <p:nvPr/>
        </p:nvCxnSpPr>
        <p:spPr>
          <a:xfrm>
            <a:off x="5897880" y="1249309"/>
            <a:ext cx="128100" cy="0"/>
          </a:xfrm>
          <a:prstGeom prst="straightConnector1">
            <a:avLst/>
          </a:prstGeom>
          <a:noFill/>
          <a:ln cap="flat" cmpd="sng" w="19050">
            <a:solidFill>
              <a:srgbClr val="5F6B7A"/>
            </a:solidFill>
            <a:prstDash val="solid"/>
            <a:round/>
            <a:headEnd len="sm" w="sm" type="none"/>
            <a:tailEnd len="med" w="med" type="triangle"/>
          </a:ln>
        </p:spPr>
      </p:cxnSp>
      <p:sp>
        <p:nvSpPr>
          <p:cNvPr id="132" name="Google Shape;132;g3fa16d94e7b_14_0"/>
          <p:cNvSpPr/>
          <p:nvPr/>
        </p:nvSpPr>
        <p:spPr>
          <a:xfrm>
            <a:off x="6053328" y="965845"/>
            <a:ext cx="1206900" cy="567000"/>
          </a:xfrm>
          <a:prstGeom prst="roundRect">
            <a:avLst>
              <a:gd fmla="val 1290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fa16d94e7b_14_0"/>
          <p:cNvSpPr/>
          <p:nvPr/>
        </p:nvSpPr>
        <p:spPr>
          <a:xfrm>
            <a:off x="6053328" y="965845"/>
            <a:ext cx="1206900" cy="567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CAD registration</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 heatmap</a:t>
            </a:r>
            <a:endParaRPr b="0" i="0" sz="950" u="none" cap="none" strike="noStrike">
              <a:solidFill>
                <a:schemeClr val="dk1"/>
              </a:solidFill>
              <a:latin typeface="Calibri"/>
              <a:ea typeface="Calibri"/>
              <a:cs typeface="Calibri"/>
              <a:sym typeface="Calibri"/>
            </a:endParaRPr>
          </a:p>
        </p:txBody>
      </p:sp>
      <p:cxnSp>
        <p:nvCxnSpPr>
          <p:cNvPr id="134" name="Google Shape;134;g3fa16d94e7b_14_0"/>
          <p:cNvCxnSpPr/>
          <p:nvPr/>
        </p:nvCxnSpPr>
        <p:spPr>
          <a:xfrm>
            <a:off x="7287768" y="1249309"/>
            <a:ext cx="128100" cy="0"/>
          </a:xfrm>
          <a:prstGeom prst="straightConnector1">
            <a:avLst/>
          </a:prstGeom>
          <a:noFill/>
          <a:ln cap="flat" cmpd="sng" w="19050">
            <a:solidFill>
              <a:srgbClr val="5F6B7A"/>
            </a:solidFill>
            <a:prstDash val="solid"/>
            <a:round/>
            <a:headEnd len="sm" w="sm" type="none"/>
            <a:tailEnd len="med" w="med" type="triangle"/>
          </a:ln>
        </p:spPr>
      </p:cxnSp>
      <p:sp>
        <p:nvSpPr>
          <p:cNvPr id="135" name="Google Shape;135;g3fa16d94e7b_14_0"/>
          <p:cNvSpPr/>
          <p:nvPr/>
        </p:nvSpPr>
        <p:spPr>
          <a:xfrm>
            <a:off x="7443216" y="965845"/>
            <a:ext cx="1206900" cy="567000"/>
          </a:xfrm>
          <a:prstGeom prst="roundRect">
            <a:avLst>
              <a:gd fmla="val 12903"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fa16d94e7b_14_0"/>
          <p:cNvSpPr/>
          <p:nvPr/>
        </p:nvSpPr>
        <p:spPr>
          <a:xfrm>
            <a:off x="7443216" y="965845"/>
            <a:ext cx="1206900" cy="567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Verdict</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3A5F"/>
              </a:buClr>
              <a:buSzPts val="950"/>
              <a:buFont typeface="Arial"/>
              <a:buNone/>
            </a:pPr>
            <a:r>
              <a:rPr b="0" i="0" lang="en-US" sz="950" u="none" cap="none" strike="noStrike">
                <a:solidFill>
                  <a:srgbClr val="1F3A5F"/>
                </a:solidFill>
                <a:latin typeface="Arial"/>
                <a:ea typeface="Arial"/>
                <a:cs typeface="Arial"/>
                <a:sym typeface="Arial"/>
              </a:rPr>
              <a:t>+ report</a:t>
            </a:r>
            <a:endParaRPr b="0" i="0" sz="950" u="none" cap="none" strike="noStrike">
              <a:solidFill>
                <a:schemeClr val="dk1"/>
              </a:solidFill>
              <a:latin typeface="Calibri"/>
              <a:ea typeface="Calibri"/>
              <a:cs typeface="Calibri"/>
              <a:sym typeface="Calibri"/>
            </a:endParaRPr>
          </a:p>
        </p:txBody>
      </p:sp>
      <p:graphicFrame>
        <p:nvGraphicFramePr>
          <p:cNvPr id="137" name="Google Shape;137;g3fa16d94e7b_14_0"/>
          <p:cNvGraphicFramePr/>
          <p:nvPr/>
        </p:nvGraphicFramePr>
        <p:xfrm>
          <a:off x="457200" y="1602505"/>
          <a:ext cx="3000000" cy="3000000"/>
        </p:xfrm>
        <a:graphic>
          <a:graphicData uri="http://schemas.openxmlformats.org/drawingml/2006/table">
            <a:tbl>
              <a:tblPr>
                <a:noFill/>
                <a:tableStyleId>{DBFB0F30-B0E7-429E-AA0D-B27A5B105553}</a:tableStyleId>
              </a:tblPr>
              <a:tblGrid>
                <a:gridCol w="1737350"/>
                <a:gridCol w="4206250"/>
                <a:gridCol w="2286000"/>
              </a:tblGrid>
              <a:tr h="292600">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Stage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Choice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Fallback</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Multi-view reconstruction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VGGT: feed-forward transformer; cameras, depth and point maps in one pass</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MASt3R, then COLMAP</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Fusion and meshing</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Open3D TSDF volume + marching cubes; cleanup and GLB export</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Open3D Poisson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Segmentation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Board-frame crop: keep points above the sheet plane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SAM 2 masks</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CAD registration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Open3D FPFH + RANSAC, then robust ICP (Tukey loss); ambiguity check</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trimesh ICP</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CAD I/O, defect synthesis</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trimesh + manifold3d Booleans; STL / OBJ / GLB input</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STEP import is future work</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Next-view scoring</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Open3D RaycastingScene on CPU; no custom CUDA</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Fixed 12–16 position orbit</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29260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Generative AI (core)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Capture agent (tool-calling loop), shape completion, VLM frame supervision, prose-to-spec parser</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Deterministic policy; coverage-only guidance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138" name="Google Shape;138;g3fa16d94e7b_14_0"/>
          <p:cNvSpPr/>
          <p:nvPr/>
        </p:nvSpPr>
        <p:spPr>
          <a:xfrm>
            <a:off x="457200" y="4191371"/>
            <a:ext cx="8229600" cy="530400"/>
          </a:xfrm>
          <a:prstGeom prst="roundRect">
            <a:avLst>
              <a:gd fmla="val 10345"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fa16d94e7b_14_0"/>
          <p:cNvSpPr/>
          <p:nvPr/>
        </p:nvSpPr>
        <p:spPr>
          <a:xfrm>
            <a:off x="566928" y="4227947"/>
            <a:ext cx="8010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950"/>
              <a:buFont typeface="Arial"/>
              <a:buNone/>
            </a:pPr>
            <a:r>
              <a:rPr b="1" i="0" lang="en-US" sz="950" u="none" cap="none" strike="noStrike">
                <a:solidFill>
                  <a:srgbClr val="1F3A5F"/>
                </a:solidFill>
                <a:latin typeface="Arial"/>
                <a:ea typeface="Arial"/>
                <a:cs typeface="Arial"/>
                <a:sym typeface="Arial"/>
              </a:rPr>
              <a:t>Generative AI is 115 of our 349 person-hours, a third of the project: </a:t>
            </a:r>
            <a:r>
              <a:rPr b="0" i="0" lang="en-US" sz="950" u="none" cap="none" strike="noStrike">
                <a:solidFill>
                  <a:srgbClr val="222222"/>
                </a:solidFill>
                <a:latin typeface="Arial"/>
                <a:ea typeface="Arial"/>
                <a:cs typeface="Arial"/>
                <a:sym typeface="Arial"/>
              </a:rPr>
              <a:t>the capture agent, shape completion, frame supervision, the prose-to-spec parser and the report narrative. The reconstruction model is counted in that as a large learned model, though unlike the others it is deterministic.</a:t>
            </a:r>
            <a:endParaRPr b="0" i="0" sz="950" u="none" cap="none" strike="noStrike">
              <a:solidFill>
                <a:schemeClr val="dk1"/>
              </a:solidFill>
              <a:latin typeface="Calibri"/>
              <a:ea typeface="Calibri"/>
              <a:cs typeface="Calibri"/>
              <a:sym typeface="Calibri"/>
            </a:endParaRPr>
          </a:p>
        </p:txBody>
      </p:sp>
      <p:sp>
        <p:nvSpPr>
          <p:cNvPr id="140" name="Google Shape;140;g3fa16d94e7b_14_0"/>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141" name="Google Shape;141;g3fa16d94e7b_14_0"/>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Mamadou                                                                                                                                                                       </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fa15d9b7fc_0_132"/>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Timeline</a:t>
            </a:r>
            <a:endParaRPr b="0" i="0" sz="2600" u="none" cap="none" strike="noStrike">
              <a:solidFill>
                <a:schemeClr val="dk1"/>
              </a:solidFill>
              <a:latin typeface="Calibri"/>
              <a:ea typeface="Calibri"/>
              <a:cs typeface="Calibri"/>
              <a:sym typeface="Calibri"/>
            </a:endParaRPr>
          </a:p>
        </p:txBody>
      </p:sp>
      <p:sp>
        <p:nvSpPr>
          <p:cNvPr id="148" name="Google Shape;148;g3fa15d9b7fc_0_132"/>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fa15d9b7fc_0_132"/>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Milestones are dated and gated; each names what works by the date and the fallback</a:t>
            </a:r>
            <a:endParaRPr b="0" i="0" sz="1100" u="none" cap="none" strike="noStrike">
              <a:solidFill>
                <a:schemeClr val="dk1"/>
              </a:solidFill>
              <a:latin typeface="Calibri"/>
              <a:ea typeface="Calibri"/>
              <a:cs typeface="Calibri"/>
              <a:sym typeface="Calibri"/>
            </a:endParaRPr>
          </a:p>
        </p:txBody>
      </p:sp>
      <p:sp>
        <p:nvSpPr>
          <p:cNvPr id="150" name="Google Shape;150;g3fa15d9b7fc_0_132"/>
          <p:cNvSpPr/>
          <p:nvPr/>
        </p:nvSpPr>
        <p:spPr>
          <a:xfrm>
            <a:off x="457200" y="1005840"/>
            <a:ext cx="2651700" cy="384000"/>
          </a:xfrm>
          <a:prstGeom prst="roundRect">
            <a:avLst>
              <a:gd fmla="val 14286"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fa15d9b7fc_0_132"/>
          <p:cNvSpPr/>
          <p:nvPr/>
        </p:nvSpPr>
        <p:spPr>
          <a:xfrm>
            <a:off x="457200" y="1005840"/>
            <a:ext cx="2651700" cy="3840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Build the core · M0–M2 · Sept 8 – Oct 9</a:t>
            </a:r>
            <a:endParaRPr b="0" i="0" sz="1100" u="none" cap="none" strike="noStrike">
              <a:solidFill>
                <a:schemeClr val="dk1"/>
              </a:solidFill>
              <a:latin typeface="Calibri"/>
              <a:ea typeface="Calibri"/>
              <a:cs typeface="Calibri"/>
              <a:sym typeface="Calibri"/>
            </a:endParaRPr>
          </a:p>
        </p:txBody>
      </p:sp>
      <p:sp>
        <p:nvSpPr>
          <p:cNvPr id="152" name="Google Shape;152;g3fa15d9b7fc_0_132"/>
          <p:cNvSpPr/>
          <p:nvPr/>
        </p:nvSpPr>
        <p:spPr>
          <a:xfrm>
            <a:off x="3246120" y="1005840"/>
            <a:ext cx="2651700" cy="384000"/>
          </a:xfrm>
          <a:prstGeom prst="roundRect">
            <a:avLst>
              <a:gd fmla="val 14286" name="adj"/>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fa15d9b7fc_0_132"/>
          <p:cNvSpPr/>
          <p:nvPr/>
        </p:nvSpPr>
        <p:spPr>
          <a:xfrm>
            <a:off x="3246120" y="1005840"/>
            <a:ext cx="2651700" cy="3840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Measure and inspect · M3–M5 · Oct 16 – Nov 13</a:t>
            </a:r>
            <a:endParaRPr b="0" i="0" sz="1100" u="none" cap="none" strike="noStrike">
              <a:solidFill>
                <a:schemeClr val="dk1"/>
              </a:solidFill>
              <a:latin typeface="Calibri"/>
              <a:ea typeface="Calibri"/>
              <a:cs typeface="Calibri"/>
              <a:sym typeface="Calibri"/>
            </a:endParaRPr>
          </a:p>
        </p:txBody>
      </p:sp>
      <p:sp>
        <p:nvSpPr>
          <p:cNvPr id="154" name="Google Shape;154;g3fa15d9b7fc_0_132"/>
          <p:cNvSpPr/>
          <p:nvPr/>
        </p:nvSpPr>
        <p:spPr>
          <a:xfrm>
            <a:off x="6035040" y="1005840"/>
            <a:ext cx="2651700" cy="384000"/>
          </a:xfrm>
          <a:prstGeom prst="roundRect">
            <a:avLst>
              <a:gd fmla="val 14286" name="adj"/>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fa15d9b7fc_0_132"/>
          <p:cNvSpPr/>
          <p:nvPr/>
        </p:nvSpPr>
        <p:spPr>
          <a:xfrm>
            <a:off x="6035040" y="1005840"/>
            <a:ext cx="2651700" cy="3840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Test, harden, present · M6–M8 · Nov 16 – Dec 18</a:t>
            </a:r>
            <a:endParaRPr b="0" i="0" sz="1100" u="none" cap="none" strike="noStrike">
              <a:solidFill>
                <a:schemeClr val="dk1"/>
              </a:solidFill>
              <a:latin typeface="Calibri"/>
              <a:ea typeface="Calibri"/>
              <a:cs typeface="Calibri"/>
              <a:sym typeface="Calibri"/>
            </a:endParaRPr>
          </a:p>
        </p:txBody>
      </p:sp>
      <p:graphicFrame>
        <p:nvGraphicFramePr>
          <p:cNvPr id="156" name="Google Shape;156;g3fa15d9b7fc_0_132"/>
          <p:cNvGraphicFramePr/>
          <p:nvPr/>
        </p:nvGraphicFramePr>
        <p:xfrm>
          <a:off x="457200" y="1508760"/>
          <a:ext cx="3000000" cy="3000000"/>
        </p:xfrm>
        <a:graphic>
          <a:graphicData uri="http://schemas.openxmlformats.org/drawingml/2006/table">
            <a:tbl>
              <a:tblPr>
                <a:noFill/>
                <a:tableStyleId>{DBFB0F30-B0E7-429E-AA0D-B27A5B105553}</a:tableStyleId>
              </a:tblPr>
              <a:tblGrid>
                <a:gridCol w="1737350"/>
                <a:gridCol w="1188725"/>
                <a:gridCol w="5303525"/>
              </a:tblGrid>
              <a:tr h="301750">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Milestone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Date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What works by this date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3A5F"/>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M0 · Spike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Tue Sep</a:t>
                      </a:r>
                      <a:r>
                        <a:rPr lang="en-US" sz="950">
                          <a:solidFill>
                            <a:srgbClr val="222222"/>
                          </a:solidFill>
                        </a:rPr>
                        <a:t> </a:t>
                      </a:r>
                      <a:r>
                        <a:rPr lang="en-US" sz="950" u="none" cap="none" strike="noStrike">
                          <a:solidFill>
                            <a:srgbClr val="222222"/>
                          </a:solidFill>
                          <a:latin typeface="Arial"/>
                          <a:ea typeface="Arial"/>
                          <a:cs typeface="Arial"/>
                          <a:sym typeface="Arial"/>
                        </a:rPr>
                        <a:t>8</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Phone photos on a printed board → metric mesh on a rented GPU; backbone chosen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M1 · End to end</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Fri Sep 25</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Link → capture → upload → reconstruction → GLB in the browser; batch mode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M2 · Capture quality</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Fri Oct 9</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Local gate, gyro arrow, segmentation, provenance map; latency table picks the mode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M3 · Accuracy baseline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Fri Oct 16</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Printer characterized; printed parts calipered; σ_floor per tier; defect ladder printed</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M4 · Inspection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Fri Oct 30</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CAD registration, heatmap, verdict logic, hard rule, report page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M5 · Feature complete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Fri Nov 13</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Ingestion pre-check, sheet / card tiers; Tier 3 only if Tier 2 is done; feature freeze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M6 · Test and harden</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Nov 16 – Dec 2</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Accuracy, planted-defect, robustness and usability tests; recorded demo</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M7 · Freeze</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Fri Dec 4</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Code freeze; report and slides</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F4F7"/>
                    </a:solidFill>
                  </a:tcPr>
                </a:tc>
              </a:tr>
              <a:tr h="301750">
                <a:tc>
                  <a:txBody>
                    <a:bodyPr/>
                    <a:lstStyle/>
                    <a:p>
                      <a:pPr indent="0" lvl="0" marL="0" marR="0" rtl="0" algn="l">
                        <a:spcBef>
                          <a:spcPts val="0"/>
                        </a:spcBef>
                        <a:spcAft>
                          <a:spcPts val="0"/>
                        </a:spcAft>
                        <a:buClr>
                          <a:srgbClr val="222222"/>
                        </a:buClr>
                        <a:buSzPts val="950"/>
                        <a:buFont typeface="Arial"/>
                        <a:buNone/>
                      </a:pPr>
                      <a:r>
                        <a:rPr b="1" lang="en-US" sz="950" u="none" cap="none" strike="noStrike">
                          <a:solidFill>
                            <a:srgbClr val="222222"/>
                          </a:solidFill>
                          <a:latin typeface="Arial"/>
                          <a:ea typeface="Arial"/>
                          <a:cs typeface="Arial"/>
                          <a:sym typeface="Arial"/>
                        </a:rPr>
                        <a:t>M8 · Final</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Dec 7–18</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Presentation, live demo, recorded backup</a:t>
                      </a:r>
                      <a:endParaRPr sz="950" u="none" cap="none" strike="noStrike">
                        <a:latin typeface="Arial"/>
                        <a:ea typeface="Arial"/>
                        <a:cs typeface="Arial"/>
                        <a:sym typeface="Arial"/>
                      </a:endParaRPr>
                    </a:p>
                  </a:txBody>
                  <a:tcPr marT="45725" marB="45725" marR="45725" marL="4572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157" name="Google Shape;157;g3fa15d9b7fc_0_132"/>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158" name="Google Shape;158;g3fa15d9b7fc_0_132"/>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Yashi                                                                                                                                                                       </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fa15d9b7fc_0_148"/>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Who Builds What, and When</a:t>
            </a:r>
            <a:endParaRPr b="0" i="0" sz="2600" u="none" cap="none" strike="noStrike">
              <a:solidFill>
                <a:schemeClr val="dk1"/>
              </a:solidFill>
              <a:latin typeface="Calibri"/>
              <a:ea typeface="Calibri"/>
              <a:cs typeface="Calibri"/>
              <a:sym typeface="Calibri"/>
            </a:endParaRPr>
          </a:p>
        </p:txBody>
      </p:sp>
      <p:sp>
        <p:nvSpPr>
          <p:cNvPr id="165" name="Google Shape;165;g3fa15d9b7fc_0_148"/>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fa15d9b7fc_0_148"/>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Three people working in parallel from September to December</a:t>
            </a:r>
            <a:endParaRPr b="0" i="0" sz="1100" u="none" cap="none" strike="noStrike">
              <a:solidFill>
                <a:schemeClr val="dk1"/>
              </a:solidFill>
              <a:latin typeface="Calibri"/>
              <a:ea typeface="Calibri"/>
              <a:cs typeface="Calibri"/>
              <a:sym typeface="Calibri"/>
            </a:endParaRPr>
          </a:p>
        </p:txBody>
      </p:sp>
      <p:sp>
        <p:nvSpPr>
          <p:cNvPr id="167" name="Google Shape;167;g3fa15d9b7fc_0_148"/>
          <p:cNvSpPr/>
          <p:nvPr/>
        </p:nvSpPr>
        <p:spPr>
          <a:xfrm>
            <a:off x="1572768" y="1024128"/>
            <a:ext cx="1873500" cy="201300"/>
          </a:xfrm>
          <a:prstGeom prst="rect">
            <a:avLst/>
          </a:prstGeom>
          <a:solidFill>
            <a:srgbClr val="F2F4F7"/>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fa15d9b7fc_0_148"/>
          <p:cNvSpPr/>
          <p:nvPr/>
        </p:nvSpPr>
        <p:spPr>
          <a:xfrm>
            <a:off x="1572768" y="1024128"/>
            <a:ext cx="1873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SEPTEMBER</a:t>
            </a:r>
            <a:endParaRPr b="0" i="0" sz="750" u="none" cap="none" strike="noStrike">
              <a:solidFill>
                <a:schemeClr val="dk1"/>
              </a:solidFill>
              <a:latin typeface="Calibri"/>
              <a:ea typeface="Calibri"/>
              <a:cs typeface="Calibri"/>
              <a:sym typeface="Calibri"/>
            </a:endParaRPr>
          </a:p>
        </p:txBody>
      </p:sp>
      <p:sp>
        <p:nvSpPr>
          <p:cNvPr id="169" name="Google Shape;169;g3fa15d9b7fc_0_148"/>
          <p:cNvSpPr/>
          <p:nvPr/>
        </p:nvSpPr>
        <p:spPr>
          <a:xfrm>
            <a:off x="3446348" y="1024128"/>
            <a:ext cx="2074200" cy="201300"/>
          </a:xfrm>
          <a:prstGeom prst="rect">
            <a:avLst/>
          </a:prstGeom>
          <a:solidFill>
            <a:srgbClr val="F2F4F7"/>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fa15d9b7fc_0_148"/>
          <p:cNvSpPr/>
          <p:nvPr/>
        </p:nvSpPr>
        <p:spPr>
          <a:xfrm>
            <a:off x="3446348" y="1024128"/>
            <a:ext cx="20742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OCTOBER</a:t>
            </a:r>
            <a:endParaRPr b="0" i="0" sz="750" u="none" cap="none" strike="noStrike">
              <a:solidFill>
                <a:schemeClr val="dk1"/>
              </a:solidFill>
              <a:latin typeface="Calibri"/>
              <a:ea typeface="Calibri"/>
              <a:cs typeface="Calibri"/>
              <a:sym typeface="Calibri"/>
            </a:endParaRPr>
          </a:p>
        </p:txBody>
      </p:sp>
      <p:sp>
        <p:nvSpPr>
          <p:cNvPr id="171" name="Google Shape;171;g3fa15d9b7fc_0_148"/>
          <p:cNvSpPr/>
          <p:nvPr/>
        </p:nvSpPr>
        <p:spPr>
          <a:xfrm>
            <a:off x="5520669" y="1024128"/>
            <a:ext cx="2007300" cy="201300"/>
          </a:xfrm>
          <a:prstGeom prst="rect">
            <a:avLst/>
          </a:prstGeom>
          <a:solidFill>
            <a:srgbClr val="F2F4F7"/>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fa15d9b7fc_0_148"/>
          <p:cNvSpPr/>
          <p:nvPr/>
        </p:nvSpPr>
        <p:spPr>
          <a:xfrm>
            <a:off x="5520669" y="1024128"/>
            <a:ext cx="2007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NOVEMBER</a:t>
            </a:r>
            <a:endParaRPr b="0" i="0" sz="750" u="none" cap="none" strike="noStrike">
              <a:solidFill>
                <a:schemeClr val="dk1"/>
              </a:solidFill>
              <a:latin typeface="Calibri"/>
              <a:ea typeface="Calibri"/>
              <a:cs typeface="Calibri"/>
              <a:sym typeface="Calibri"/>
            </a:endParaRPr>
          </a:p>
        </p:txBody>
      </p:sp>
      <p:sp>
        <p:nvSpPr>
          <p:cNvPr id="173" name="Google Shape;173;g3fa15d9b7fc_0_148"/>
          <p:cNvSpPr/>
          <p:nvPr/>
        </p:nvSpPr>
        <p:spPr>
          <a:xfrm>
            <a:off x="7528076" y="1024128"/>
            <a:ext cx="1204500" cy="201300"/>
          </a:xfrm>
          <a:prstGeom prst="rect">
            <a:avLst/>
          </a:prstGeom>
          <a:solidFill>
            <a:srgbClr val="F2F4F7"/>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fa15d9b7fc_0_148"/>
          <p:cNvSpPr/>
          <p:nvPr/>
        </p:nvSpPr>
        <p:spPr>
          <a:xfrm>
            <a:off x="7528076" y="1024128"/>
            <a:ext cx="1204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DECEMBER</a:t>
            </a:r>
            <a:endParaRPr b="0" i="0" sz="750" u="none" cap="none" strike="noStrike">
              <a:solidFill>
                <a:schemeClr val="dk1"/>
              </a:solidFill>
              <a:latin typeface="Calibri"/>
              <a:ea typeface="Calibri"/>
              <a:cs typeface="Calibri"/>
              <a:sym typeface="Calibri"/>
            </a:endParaRPr>
          </a:p>
        </p:txBody>
      </p:sp>
      <p:cxnSp>
        <p:nvCxnSpPr>
          <p:cNvPr id="175" name="Google Shape;175;g3fa15d9b7fc_0_148"/>
          <p:cNvCxnSpPr/>
          <p:nvPr/>
        </p:nvCxnSpPr>
        <p:spPr>
          <a:xfrm>
            <a:off x="3044867" y="1822543"/>
            <a:ext cx="0" cy="1865400"/>
          </a:xfrm>
          <a:prstGeom prst="straightConnector1">
            <a:avLst/>
          </a:prstGeom>
          <a:noFill/>
          <a:ln cap="flat" cmpd="sng" w="9525">
            <a:solidFill>
              <a:srgbClr val="D0D5DD"/>
            </a:solidFill>
            <a:prstDash val="dash"/>
            <a:round/>
            <a:headEnd len="sm" w="sm" type="none"/>
            <a:tailEnd len="sm" w="sm" type="none"/>
          </a:ln>
        </p:spPr>
      </p:cxnSp>
      <p:sp>
        <p:nvSpPr>
          <p:cNvPr id="176" name="Google Shape;176;g3fa15d9b7fc_0_148"/>
          <p:cNvSpPr/>
          <p:nvPr/>
        </p:nvSpPr>
        <p:spPr>
          <a:xfrm>
            <a:off x="2994575" y="1261872"/>
            <a:ext cx="100500" cy="100500"/>
          </a:xfrm>
          <a:prstGeom prst="diamond">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fa15d9b7fc_0_148"/>
          <p:cNvSpPr/>
          <p:nvPr/>
        </p:nvSpPr>
        <p:spPr>
          <a:xfrm>
            <a:off x="2267627" y="1362456"/>
            <a:ext cx="1554600" cy="128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750"/>
              <a:buFont typeface="Arial"/>
              <a:buNone/>
            </a:pPr>
            <a:r>
              <a:rPr b="1" i="0" lang="en-US" sz="750" u="none" cap="none" strike="noStrike">
                <a:solidFill>
                  <a:srgbClr val="1F3A5F"/>
                </a:solidFill>
                <a:latin typeface="Arial"/>
                <a:ea typeface="Arial"/>
                <a:cs typeface="Arial"/>
                <a:sym typeface="Arial"/>
              </a:rPr>
              <a:t>M1  First 3D model</a:t>
            </a:r>
            <a:endParaRPr b="0" i="0" sz="750" u="none" cap="none" strike="noStrike">
              <a:solidFill>
                <a:schemeClr val="dk1"/>
              </a:solidFill>
              <a:latin typeface="Calibri"/>
              <a:ea typeface="Calibri"/>
              <a:cs typeface="Calibri"/>
              <a:sym typeface="Calibri"/>
            </a:endParaRPr>
          </a:p>
        </p:txBody>
      </p:sp>
      <p:cxnSp>
        <p:nvCxnSpPr>
          <p:cNvPr id="178" name="Google Shape;178;g3fa15d9b7fc_0_148"/>
          <p:cNvCxnSpPr/>
          <p:nvPr/>
        </p:nvCxnSpPr>
        <p:spPr>
          <a:xfrm>
            <a:off x="4450052" y="1822543"/>
            <a:ext cx="0" cy="1865400"/>
          </a:xfrm>
          <a:prstGeom prst="straightConnector1">
            <a:avLst/>
          </a:prstGeom>
          <a:noFill/>
          <a:ln cap="flat" cmpd="sng" w="9525">
            <a:solidFill>
              <a:srgbClr val="D0D5DD"/>
            </a:solidFill>
            <a:prstDash val="dash"/>
            <a:round/>
            <a:headEnd len="sm" w="sm" type="none"/>
            <a:tailEnd len="sm" w="sm" type="none"/>
          </a:ln>
        </p:spPr>
      </p:cxnSp>
      <p:sp>
        <p:nvSpPr>
          <p:cNvPr id="179" name="Google Shape;179;g3fa15d9b7fc_0_148"/>
          <p:cNvSpPr/>
          <p:nvPr/>
        </p:nvSpPr>
        <p:spPr>
          <a:xfrm>
            <a:off x="4399760" y="1261872"/>
            <a:ext cx="100500" cy="100500"/>
          </a:xfrm>
          <a:prstGeom prst="diamond">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fa15d9b7fc_0_148"/>
          <p:cNvSpPr/>
          <p:nvPr/>
        </p:nvSpPr>
        <p:spPr>
          <a:xfrm>
            <a:off x="3672812" y="1490472"/>
            <a:ext cx="1554600" cy="128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750"/>
              <a:buFont typeface="Arial"/>
              <a:buNone/>
            </a:pPr>
            <a:r>
              <a:rPr b="1" i="0" lang="en-US" sz="750" u="none" cap="none" strike="noStrike">
                <a:solidFill>
                  <a:srgbClr val="1F3A5F"/>
                </a:solidFill>
                <a:latin typeface="Arial"/>
                <a:ea typeface="Arial"/>
                <a:cs typeface="Arial"/>
                <a:sym typeface="Arial"/>
              </a:rPr>
              <a:t>M3  Accuracy measured</a:t>
            </a:r>
            <a:endParaRPr b="0" i="0" sz="750" u="none" cap="none" strike="noStrike">
              <a:solidFill>
                <a:schemeClr val="dk1"/>
              </a:solidFill>
              <a:latin typeface="Calibri"/>
              <a:ea typeface="Calibri"/>
              <a:cs typeface="Calibri"/>
              <a:sym typeface="Calibri"/>
            </a:endParaRPr>
          </a:p>
        </p:txBody>
      </p:sp>
      <p:cxnSp>
        <p:nvCxnSpPr>
          <p:cNvPr id="181" name="Google Shape;181;g3fa15d9b7fc_0_148"/>
          <p:cNvCxnSpPr/>
          <p:nvPr/>
        </p:nvCxnSpPr>
        <p:spPr>
          <a:xfrm>
            <a:off x="5386841" y="1822543"/>
            <a:ext cx="0" cy="1865400"/>
          </a:xfrm>
          <a:prstGeom prst="straightConnector1">
            <a:avLst/>
          </a:prstGeom>
          <a:noFill/>
          <a:ln cap="flat" cmpd="sng" w="9525">
            <a:solidFill>
              <a:srgbClr val="D0D5DD"/>
            </a:solidFill>
            <a:prstDash val="dash"/>
            <a:round/>
            <a:headEnd len="sm" w="sm" type="none"/>
            <a:tailEnd len="sm" w="sm" type="none"/>
          </a:ln>
        </p:spPr>
      </p:cxnSp>
      <p:sp>
        <p:nvSpPr>
          <p:cNvPr id="182" name="Google Shape;182;g3fa15d9b7fc_0_148"/>
          <p:cNvSpPr/>
          <p:nvPr/>
        </p:nvSpPr>
        <p:spPr>
          <a:xfrm>
            <a:off x="5336549" y="1261872"/>
            <a:ext cx="100500" cy="100500"/>
          </a:xfrm>
          <a:prstGeom prst="diamond">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fa15d9b7fc_0_148"/>
          <p:cNvSpPr/>
          <p:nvPr/>
        </p:nvSpPr>
        <p:spPr>
          <a:xfrm>
            <a:off x="4609601" y="1362456"/>
            <a:ext cx="1554600" cy="128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750"/>
              <a:buFont typeface="Arial"/>
              <a:buNone/>
            </a:pPr>
            <a:r>
              <a:rPr b="1" i="0" lang="en-US" sz="750" u="none" cap="none" strike="noStrike">
                <a:solidFill>
                  <a:srgbClr val="1F3A5F"/>
                </a:solidFill>
                <a:latin typeface="Arial"/>
                <a:ea typeface="Arial"/>
                <a:cs typeface="Arial"/>
                <a:sym typeface="Arial"/>
              </a:rPr>
              <a:t>M4  Pass / fail works</a:t>
            </a:r>
            <a:endParaRPr b="0" i="0" sz="750" u="none" cap="none" strike="noStrike">
              <a:solidFill>
                <a:schemeClr val="dk1"/>
              </a:solidFill>
              <a:latin typeface="Calibri"/>
              <a:ea typeface="Calibri"/>
              <a:cs typeface="Calibri"/>
              <a:sym typeface="Calibri"/>
            </a:endParaRPr>
          </a:p>
        </p:txBody>
      </p:sp>
      <p:cxnSp>
        <p:nvCxnSpPr>
          <p:cNvPr id="184" name="Google Shape;184;g3fa15d9b7fc_0_148"/>
          <p:cNvCxnSpPr/>
          <p:nvPr/>
        </p:nvCxnSpPr>
        <p:spPr>
          <a:xfrm>
            <a:off x="6323631" y="1822543"/>
            <a:ext cx="0" cy="1865400"/>
          </a:xfrm>
          <a:prstGeom prst="straightConnector1">
            <a:avLst/>
          </a:prstGeom>
          <a:noFill/>
          <a:ln cap="flat" cmpd="sng" w="9525">
            <a:solidFill>
              <a:srgbClr val="D0D5DD"/>
            </a:solidFill>
            <a:prstDash val="dash"/>
            <a:round/>
            <a:headEnd len="sm" w="sm" type="none"/>
            <a:tailEnd len="sm" w="sm" type="none"/>
          </a:ln>
        </p:spPr>
      </p:cxnSp>
      <p:sp>
        <p:nvSpPr>
          <p:cNvPr id="185" name="Google Shape;185;g3fa15d9b7fc_0_148"/>
          <p:cNvSpPr/>
          <p:nvPr/>
        </p:nvSpPr>
        <p:spPr>
          <a:xfrm>
            <a:off x="6273339" y="1261872"/>
            <a:ext cx="100500" cy="100500"/>
          </a:xfrm>
          <a:prstGeom prst="diamond">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fa15d9b7fc_0_148"/>
          <p:cNvSpPr/>
          <p:nvPr/>
        </p:nvSpPr>
        <p:spPr>
          <a:xfrm>
            <a:off x="5546391" y="1490472"/>
            <a:ext cx="1554600" cy="128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750"/>
              <a:buFont typeface="Arial"/>
              <a:buNone/>
            </a:pPr>
            <a:r>
              <a:rPr b="1" i="0" lang="en-US" sz="750" u="none" cap="none" strike="noStrike">
                <a:solidFill>
                  <a:srgbClr val="1F3A5F"/>
                </a:solidFill>
                <a:latin typeface="Arial"/>
                <a:ea typeface="Arial"/>
                <a:cs typeface="Arial"/>
                <a:sym typeface="Arial"/>
              </a:rPr>
              <a:t>M5  Feature freeze</a:t>
            </a:r>
            <a:endParaRPr b="0" i="0" sz="750" u="none" cap="none" strike="noStrike">
              <a:solidFill>
                <a:schemeClr val="dk1"/>
              </a:solidFill>
              <a:latin typeface="Calibri"/>
              <a:ea typeface="Calibri"/>
              <a:cs typeface="Calibri"/>
              <a:sym typeface="Calibri"/>
            </a:endParaRPr>
          </a:p>
        </p:txBody>
      </p:sp>
      <p:cxnSp>
        <p:nvCxnSpPr>
          <p:cNvPr id="187" name="Google Shape;187;g3fa15d9b7fc_0_148"/>
          <p:cNvCxnSpPr/>
          <p:nvPr/>
        </p:nvCxnSpPr>
        <p:spPr>
          <a:xfrm flipH="1">
            <a:off x="8130525" y="1642645"/>
            <a:ext cx="8400" cy="2045400"/>
          </a:xfrm>
          <a:prstGeom prst="straightConnector1">
            <a:avLst/>
          </a:prstGeom>
          <a:noFill/>
          <a:ln cap="flat" cmpd="sng" w="9525">
            <a:solidFill>
              <a:srgbClr val="D0D5DD"/>
            </a:solidFill>
            <a:prstDash val="dash"/>
            <a:round/>
            <a:headEnd len="sm" w="sm" type="none"/>
            <a:tailEnd len="sm" w="sm" type="none"/>
          </a:ln>
        </p:spPr>
      </p:cxnSp>
      <p:sp>
        <p:nvSpPr>
          <p:cNvPr id="188" name="Google Shape;188;g3fa15d9b7fc_0_148"/>
          <p:cNvSpPr/>
          <p:nvPr/>
        </p:nvSpPr>
        <p:spPr>
          <a:xfrm>
            <a:off x="8072719" y="1261872"/>
            <a:ext cx="100500" cy="100500"/>
          </a:xfrm>
          <a:prstGeom prst="diamond">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fa15d9b7fc_0_148"/>
          <p:cNvSpPr/>
          <p:nvPr/>
        </p:nvSpPr>
        <p:spPr>
          <a:xfrm>
            <a:off x="6589725" y="1362456"/>
            <a:ext cx="1554600" cy="128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3A5F"/>
              </a:buClr>
              <a:buSzPts val="750"/>
              <a:buFont typeface="Arial"/>
              <a:buNone/>
            </a:pPr>
            <a:r>
              <a:rPr b="1" i="0" lang="en-US" sz="750" u="none" cap="none" strike="noStrike">
                <a:solidFill>
                  <a:srgbClr val="1F3A5F"/>
                </a:solidFill>
                <a:latin typeface="Arial"/>
                <a:ea typeface="Arial"/>
                <a:cs typeface="Arial"/>
                <a:sym typeface="Arial"/>
              </a:rPr>
              <a:t>M8  Final demo</a:t>
            </a:r>
            <a:endParaRPr b="0" i="0" sz="750" u="none" cap="none" strike="noStrike">
              <a:solidFill>
                <a:schemeClr val="dk1"/>
              </a:solidFill>
              <a:latin typeface="Calibri"/>
              <a:ea typeface="Calibri"/>
              <a:cs typeface="Calibri"/>
              <a:sym typeface="Calibri"/>
            </a:endParaRPr>
          </a:p>
        </p:txBody>
      </p:sp>
      <p:sp>
        <p:nvSpPr>
          <p:cNvPr id="190" name="Google Shape;190;g3fa15d9b7fc_0_148"/>
          <p:cNvSpPr/>
          <p:nvPr/>
        </p:nvSpPr>
        <p:spPr>
          <a:xfrm>
            <a:off x="457200" y="1694527"/>
            <a:ext cx="1051500" cy="128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9822B"/>
              </a:buClr>
              <a:buSzPts val="700"/>
              <a:buFont typeface="Arial"/>
              <a:buNone/>
            </a:pPr>
            <a:r>
              <a:rPr b="0" i="0" lang="en-US" sz="700" u="none" cap="none" strike="noStrike">
                <a:solidFill>
                  <a:srgbClr val="D9822B"/>
                </a:solidFill>
                <a:latin typeface="Arial"/>
                <a:ea typeface="Arial"/>
                <a:cs typeface="Arial"/>
                <a:sym typeface="Arial"/>
              </a:rPr>
              <a:t>WE PRESENT</a:t>
            </a:r>
            <a:endParaRPr b="0" i="0" sz="700" u="none" cap="none" strike="noStrike">
              <a:solidFill>
                <a:schemeClr val="dk1"/>
              </a:solidFill>
              <a:latin typeface="Calibri"/>
              <a:ea typeface="Calibri"/>
              <a:cs typeface="Calibri"/>
              <a:sym typeface="Calibri"/>
            </a:endParaRPr>
          </a:p>
        </p:txBody>
      </p:sp>
      <p:sp>
        <p:nvSpPr>
          <p:cNvPr id="191" name="Google Shape;191;g3fa15d9b7fc_0_148"/>
          <p:cNvSpPr/>
          <p:nvPr/>
        </p:nvSpPr>
        <p:spPr>
          <a:xfrm>
            <a:off x="2066929"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fa15d9b7fc_0_148"/>
          <p:cNvSpPr/>
          <p:nvPr/>
        </p:nvSpPr>
        <p:spPr>
          <a:xfrm>
            <a:off x="3003719"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fa15d9b7fc_0_148"/>
          <p:cNvSpPr/>
          <p:nvPr/>
        </p:nvSpPr>
        <p:spPr>
          <a:xfrm>
            <a:off x="3940509"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fa15d9b7fc_0_148"/>
          <p:cNvSpPr/>
          <p:nvPr/>
        </p:nvSpPr>
        <p:spPr>
          <a:xfrm>
            <a:off x="4877299"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fa15d9b7fc_0_148"/>
          <p:cNvSpPr/>
          <p:nvPr/>
        </p:nvSpPr>
        <p:spPr>
          <a:xfrm>
            <a:off x="5814088"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fa15d9b7fc_0_148"/>
          <p:cNvSpPr/>
          <p:nvPr/>
        </p:nvSpPr>
        <p:spPr>
          <a:xfrm>
            <a:off x="6750878"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fa15d9b7fc_0_148"/>
          <p:cNvSpPr/>
          <p:nvPr/>
        </p:nvSpPr>
        <p:spPr>
          <a:xfrm>
            <a:off x="7687668" y="1703671"/>
            <a:ext cx="82200" cy="822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fa15d9b7fc_0_148"/>
          <p:cNvSpPr/>
          <p:nvPr/>
        </p:nvSpPr>
        <p:spPr>
          <a:xfrm>
            <a:off x="457200" y="1840831"/>
            <a:ext cx="10515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PERSON A</a:t>
            </a:r>
            <a:endParaRPr b="0" i="0" sz="75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1F3A5F"/>
              </a:buClr>
              <a:buSzPts val="1050"/>
              <a:buFont typeface="Arial"/>
              <a:buNone/>
            </a:pPr>
            <a:r>
              <a:rPr b="1" i="0" lang="en-US" sz="1050" u="none" cap="none" strike="noStrike">
                <a:solidFill>
                  <a:srgbClr val="1F3A5F"/>
                </a:solidFill>
                <a:latin typeface="Arial"/>
                <a:ea typeface="Arial"/>
                <a:cs typeface="Arial"/>
                <a:sym typeface="Arial"/>
              </a:rPr>
              <a:t>Capture app</a:t>
            </a:r>
            <a:endParaRPr b="0" i="0" sz="750" u="none" cap="none" strike="noStrike">
              <a:solidFill>
                <a:schemeClr val="dk1"/>
              </a:solidFill>
              <a:latin typeface="Calibri"/>
              <a:ea typeface="Calibri"/>
              <a:cs typeface="Calibri"/>
              <a:sym typeface="Calibri"/>
            </a:endParaRPr>
          </a:p>
        </p:txBody>
      </p:sp>
      <p:sp>
        <p:nvSpPr>
          <p:cNvPr id="199" name="Google Shape;199;g3fa15d9b7fc_0_148"/>
          <p:cNvSpPr/>
          <p:nvPr/>
        </p:nvSpPr>
        <p:spPr>
          <a:xfrm>
            <a:off x="1572768" y="1913983"/>
            <a:ext cx="1539000" cy="237600"/>
          </a:xfrm>
          <a:prstGeom prst="roundRect">
            <a:avLst>
              <a:gd fmla="val 19231"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fa15d9b7fc_0_148"/>
          <p:cNvSpPr/>
          <p:nvPr/>
        </p:nvSpPr>
        <p:spPr>
          <a:xfrm>
            <a:off x="1572768" y="1913983"/>
            <a:ext cx="15390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Capture app + camera</a:t>
            </a:r>
            <a:endParaRPr b="0" i="0" sz="800" u="none" cap="none" strike="noStrike">
              <a:solidFill>
                <a:schemeClr val="dk1"/>
              </a:solidFill>
              <a:latin typeface="Calibri"/>
              <a:ea typeface="Calibri"/>
              <a:cs typeface="Calibri"/>
              <a:sym typeface="Calibri"/>
            </a:endParaRPr>
          </a:p>
        </p:txBody>
      </p:sp>
      <p:sp>
        <p:nvSpPr>
          <p:cNvPr id="201" name="Google Shape;201;g3fa15d9b7fc_0_148"/>
          <p:cNvSpPr/>
          <p:nvPr/>
        </p:nvSpPr>
        <p:spPr>
          <a:xfrm>
            <a:off x="3245607" y="1913983"/>
            <a:ext cx="1271400" cy="237600"/>
          </a:xfrm>
          <a:prstGeom prst="roundRect">
            <a:avLst>
              <a:gd fmla="val 19231"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fa15d9b7fc_0_148"/>
          <p:cNvSpPr/>
          <p:nvPr/>
        </p:nvSpPr>
        <p:spPr>
          <a:xfrm>
            <a:off x="3245607" y="1913983"/>
            <a:ext cx="1271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Guidance + quality</a:t>
            </a:r>
            <a:endParaRPr b="0" i="0" sz="800" u="none" cap="none" strike="noStrike">
              <a:solidFill>
                <a:schemeClr val="dk1"/>
              </a:solidFill>
              <a:latin typeface="Calibri"/>
              <a:ea typeface="Calibri"/>
              <a:cs typeface="Calibri"/>
              <a:sym typeface="Calibri"/>
            </a:endParaRPr>
          </a:p>
        </p:txBody>
      </p:sp>
      <p:sp>
        <p:nvSpPr>
          <p:cNvPr id="203" name="Google Shape;203;g3fa15d9b7fc_0_148"/>
          <p:cNvSpPr/>
          <p:nvPr/>
        </p:nvSpPr>
        <p:spPr>
          <a:xfrm>
            <a:off x="4650792" y="1913983"/>
            <a:ext cx="1739700" cy="237600"/>
          </a:xfrm>
          <a:prstGeom prst="roundRect">
            <a:avLst>
              <a:gd fmla="val 19231"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fa15d9b7fc_0_148"/>
          <p:cNvSpPr/>
          <p:nvPr/>
        </p:nvSpPr>
        <p:spPr>
          <a:xfrm>
            <a:off x="4650792" y="1913983"/>
            <a:ext cx="17397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Heatmap + report screens</a:t>
            </a:r>
            <a:endParaRPr b="0" i="0" sz="800" u="none" cap="none" strike="noStrike">
              <a:solidFill>
                <a:schemeClr val="dk1"/>
              </a:solidFill>
              <a:latin typeface="Calibri"/>
              <a:ea typeface="Calibri"/>
              <a:cs typeface="Calibri"/>
              <a:sym typeface="Calibri"/>
            </a:endParaRPr>
          </a:p>
        </p:txBody>
      </p:sp>
      <p:sp>
        <p:nvSpPr>
          <p:cNvPr id="205" name="Google Shape;205;g3fa15d9b7fc_0_148"/>
          <p:cNvSpPr/>
          <p:nvPr/>
        </p:nvSpPr>
        <p:spPr>
          <a:xfrm>
            <a:off x="6524372" y="1913983"/>
            <a:ext cx="1137600" cy="237600"/>
          </a:xfrm>
          <a:prstGeom prst="roundRect">
            <a:avLst>
              <a:gd fmla="val 19231"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fa15d9b7fc_0_148"/>
          <p:cNvSpPr/>
          <p:nvPr/>
        </p:nvSpPr>
        <p:spPr>
          <a:xfrm>
            <a:off x="6524372" y="1913983"/>
            <a:ext cx="11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Phone testing</a:t>
            </a:r>
            <a:endParaRPr b="0" i="0" sz="800" u="none" cap="none" strike="noStrike">
              <a:solidFill>
                <a:schemeClr val="dk1"/>
              </a:solidFill>
              <a:latin typeface="Calibri"/>
              <a:ea typeface="Calibri"/>
              <a:cs typeface="Calibri"/>
              <a:sym typeface="Calibri"/>
            </a:endParaRPr>
          </a:p>
        </p:txBody>
      </p:sp>
      <p:sp>
        <p:nvSpPr>
          <p:cNvPr id="207" name="Google Shape;207;g3fa15d9b7fc_0_148"/>
          <p:cNvSpPr/>
          <p:nvPr/>
        </p:nvSpPr>
        <p:spPr>
          <a:xfrm>
            <a:off x="457200" y="2352895"/>
            <a:ext cx="10515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PERSON B</a:t>
            </a:r>
            <a:endParaRPr b="0" i="0" sz="75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0F8B8D"/>
              </a:buClr>
              <a:buSzPts val="1050"/>
              <a:buFont typeface="Arial"/>
              <a:buNone/>
            </a:pPr>
            <a:r>
              <a:rPr b="1" i="0" lang="en-US" sz="1050" u="none" cap="none" strike="noStrike">
                <a:solidFill>
                  <a:srgbClr val="0F8B8D"/>
                </a:solidFill>
                <a:latin typeface="Arial"/>
                <a:ea typeface="Arial"/>
                <a:cs typeface="Arial"/>
                <a:sym typeface="Arial"/>
              </a:rPr>
              <a:t>3D reconstruction</a:t>
            </a:r>
            <a:endParaRPr b="0" i="0" sz="750" u="none" cap="none" strike="noStrike">
              <a:solidFill>
                <a:schemeClr val="dk1"/>
              </a:solidFill>
              <a:latin typeface="Calibri"/>
              <a:ea typeface="Calibri"/>
              <a:cs typeface="Calibri"/>
              <a:sym typeface="Calibri"/>
            </a:endParaRPr>
          </a:p>
        </p:txBody>
      </p:sp>
      <p:sp>
        <p:nvSpPr>
          <p:cNvPr id="208" name="Google Shape;208;g3fa15d9b7fc_0_148"/>
          <p:cNvSpPr/>
          <p:nvPr/>
        </p:nvSpPr>
        <p:spPr>
          <a:xfrm>
            <a:off x="1572768" y="2426047"/>
            <a:ext cx="1539000" cy="237600"/>
          </a:xfrm>
          <a:prstGeom prst="roundRect">
            <a:avLst>
              <a:gd fmla="val 19231" name="adj"/>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fa15d9b7fc_0_148"/>
          <p:cNvSpPr/>
          <p:nvPr/>
        </p:nvSpPr>
        <p:spPr>
          <a:xfrm>
            <a:off x="1572768" y="2426047"/>
            <a:ext cx="15390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Pick 3D engine + service</a:t>
            </a:r>
            <a:endParaRPr b="0" i="0" sz="800" u="none" cap="none" strike="noStrike">
              <a:solidFill>
                <a:schemeClr val="dk1"/>
              </a:solidFill>
              <a:latin typeface="Calibri"/>
              <a:ea typeface="Calibri"/>
              <a:cs typeface="Calibri"/>
              <a:sym typeface="Calibri"/>
            </a:endParaRPr>
          </a:p>
        </p:txBody>
      </p:sp>
      <p:sp>
        <p:nvSpPr>
          <p:cNvPr id="210" name="Google Shape;210;g3fa15d9b7fc_0_148"/>
          <p:cNvSpPr/>
          <p:nvPr/>
        </p:nvSpPr>
        <p:spPr>
          <a:xfrm>
            <a:off x="3245607" y="2426047"/>
            <a:ext cx="803100" cy="237600"/>
          </a:xfrm>
          <a:prstGeom prst="roundRect">
            <a:avLst>
              <a:gd fmla="val 19231" name="adj"/>
            </a:avLst>
          </a:prstGeom>
          <a:solidFill>
            <a:srgbClr val="0F8B8D"/>
          </a:solidFill>
          <a:ln cap="flat" cmpd="sng" w="15875">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fa15d9b7fc_0_148"/>
          <p:cNvSpPr/>
          <p:nvPr/>
        </p:nvSpPr>
        <p:spPr>
          <a:xfrm>
            <a:off x="3245607" y="2426047"/>
            <a:ext cx="80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Build the mesh</a:t>
            </a:r>
            <a:endParaRPr b="0" i="0" sz="800" u="none" cap="none" strike="noStrike">
              <a:solidFill>
                <a:schemeClr val="dk1"/>
              </a:solidFill>
              <a:latin typeface="Calibri"/>
              <a:ea typeface="Calibri"/>
              <a:cs typeface="Calibri"/>
              <a:sym typeface="Calibri"/>
            </a:endParaRPr>
          </a:p>
        </p:txBody>
      </p:sp>
      <p:sp>
        <p:nvSpPr>
          <p:cNvPr id="212" name="Google Shape;212;g3fa15d9b7fc_0_148"/>
          <p:cNvSpPr/>
          <p:nvPr/>
        </p:nvSpPr>
        <p:spPr>
          <a:xfrm>
            <a:off x="4182397" y="2426047"/>
            <a:ext cx="2208000" cy="237600"/>
          </a:xfrm>
          <a:prstGeom prst="roundRect">
            <a:avLst>
              <a:gd fmla="val 19231" name="adj"/>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fa15d9b7fc_0_148"/>
          <p:cNvSpPr/>
          <p:nvPr/>
        </p:nvSpPr>
        <p:spPr>
          <a:xfrm>
            <a:off x="4182397" y="2426047"/>
            <a:ext cx="22080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Tuning, scale checks, backups</a:t>
            </a:r>
            <a:endParaRPr b="0" i="0" sz="800" u="none" cap="none" strike="noStrike">
              <a:solidFill>
                <a:schemeClr val="dk1"/>
              </a:solidFill>
              <a:latin typeface="Calibri"/>
              <a:ea typeface="Calibri"/>
              <a:cs typeface="Calibri"/>
              <a:sym typeface="Calibri"/>
            </a:endParaRPr>
          </a:p>
        </p:txBody>
      </p:sp>
      <p:sp>
        <p:nvSpPr>
          <p:cNvPr id="214" name="Google Shape;214;g3fa15d9b7fc_0_148"/>
          <p:cNvSpPr/>
          <p:nvPr/>
        </p:nvSpPr>
        <p:spPr>
          <a:xfrm>
            <a:off x="6524372" y="2426047"/>
            <a:ext cx="1137600" cy="237600"/>
          </a:xfrm>
          <a:prstGeom prst="roundRect">
            <a:avLst>
              <a:gd fmla="val 19231" name="adj"/>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fa15d9b7fc_0_148"/>
          <p:cNvSpPr/>
          <p:nvPr/>
        </p:nvSpPr>
        <p:spPr>
          <a:xfrm>
            <a:off x="6524372" y="2426047"/>
            <a:ext cx="11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Reliability</a:t>
            </a:r>
            <a:endParaRPr b="0" i="0" sz="800" u="none" cap="none" strike="noStrike">
              <a:solidFill>
                <a:schemeClr val="dk1"/>
              </a:solidFill>
              <a:latin typeface="Calibri"/>
              <a:ea typeface="Calibri"/>
              <a:cs typeface="Calibri"/>
              <a:sym typeface="Calibri"/>
            </a:endParaRPr>
          </a:p>
        </p:txBody>
      </p:sp>
      <p:sp>
        <p:nvSpPr>
          <p:cNvPr id="216" name="Google Shape;216;g3fa15d9b7fc_0_148"/>
          <p:cNvSpPr/>
          <p:nvPr/>
        </p:nvSpPr>
        <p:spPr>
          <a:xfrm>
            <a:off x="457200" y="2864959"/>
            <a:ext cx="10515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PERSON C</a:t>
            </a:r>
            <a:endParaRPr b="0" i="0" sz="75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D9822B"/>
              </a:buClr>
              <a:buSzPts val="1050"/>
              <a:buFont typeface="Arial"/>
              <a:buNone/>
            </a:pPr>
            <a:r>
              <a:rPr b="1" i="0" lang="en-US" sz="1050" u="none" cap="none" strike="noStrike">
                <a:solidFill>
                  <a:srgbClr val="D9822B"/>
                </a:solidFill>
                <a:latin typeface="Arial"/>
                <a:ea typeface="Arial"/>
                <a:cs typeface="Arial"/>
                <a:sym typeface="Arial"/>
              </a:rPr>
              <a:t>Inspection + testing</a:t>
            </a:r>
            <a:endParaRPr b="0" i="0" sz="750" u="none" cap="none" strike="noStrike">
              <a:solidFill>
                <a:schemeClr val="dk1"/>
              </a:solidFill>
              <a:latin typeface="Calibri"/>
              <a:ea typeface="Calibri"/>
              <a:cs typeface="Calibri"/>
              <a:sym typeface="Calibri"/>
            </a:endParaRPr>
          </a:p>
        </p:txBody>
      </p:sp>
      <p:sp>
        <p:nvSpPr>
          <p:cNvPr id="217" name="Google Shape;217;g3fa15d9b7fc_0_148"/>
          <p:cNvSpPr/>
          <p:nvPr/>
        </p:nvSpPr>
        <p:spPr>
          <a:xfrm>
            <a:off x="1572768" y="2938111"/>
            <a:ext cx="2475900" cy="237600"/>
          </a:xfrm>
          <a:prstGeom prst="roundRect">
            <a:avLst>
              <a:gd fmla="val 19231" name="adj"/>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fa15d9b7fc_0_148"/>
          <p:cNvSpPr/>
          <p:nvPr/>
        </p:nvSpPr>
        <p:spPr>
          <a:xfrm>
            <a:off x="1572768" y="2938111"/>
            <a:ext cx="24759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Print test parts + align to design</a:t>
            </a:r>
            <a:endParaRPr b="0" i="0" sz="800" u="none" cap="none" strike="noStrike">
              <a:solidFill>
                <a:schemeClr val="dk1"/>
              </a:solidFill>
              <a:latin typeface="Calibri"/>
              <a:ea typeface="Calibri"/>
              <a:cs typeface="Calibri"/>
              <a:sym typeface="Calibri"/>
            </a:endParaRPr>
          </a:p>
        </p:txBody>
      </p:sp>
      <p:sp>
        <p:nvSpPr>
          <p:cNvPr id="219" name="Google Shape;219;g3fa15d9b7fc_0_148"/>
          <p:cNvSpPr/>
          <p:nvPr/>
        </p:nvSpPr>
        <p:spPr>
          <a:xfrm>
            <a:off x="4182397" y="2938111"/>
            <a:ext cx="334500" cy="237600"/>
          </a:xfrm>
          <a:prstGeom prst="roundRect">
            <a:avLst>
              <a:gd fmla="val 19231" name="adj"/>
            </a:avLst>
          </a:prstGeom>
          <a:solidFill>
            <a:srgbClr val="D9822B"/>
          </a:solidFill>
          <a:ln cap="flat" cmpd="sng" w="15875">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fa15d9b7fc_0_148"/>
          <p:cNvSpPr/>
          <p:nvPr/>
        </p:nvSpPr>
        <p:spPr>
          <a:xfrm>
            <a:off x="3588037" y="3184999"/>
            <a:ext cx="15234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822B"/>
              </a:buClr>
              <a:buSzPts val="750"/>
              <a:buFont typeface="Arial"/>
              <a:buNone/>
            </a:pPr>
            <a:r>
              <a:rPr b="1" i="0" lang="en-US" sz="750" u="none" cap="none" strike="noStrike">
                <a:solidFill>
                  <a:srgbClr val="D9822B"/>
                </a:solidFill>
                <a:latin typeface="Arial"/>
                <a:ea typeface="Arial"/>
                <a:cs typeface="Arial"/>
                <a:sym typeface="Arial"/>
              </a:rPr>
              <a:t>Measure accuracy</a:t>
            </a:r>
            <a:endParaRPr b="0" i="0" sz="750" u="none" cap="none" strike="noStrike">
              <a:solidFill>
                <a:schemeClr val="dk1"/>
              </a:solidFill>
              <a:latin typeface="Calibri"/>
              <a:ea typeface="Calibri"/>
              <a:cs typeface="Calibri"/>
              <a:sym typeface="Calibri"/>
            </a:endParaRPr>
          </a:p>
        </p:txBody>
      </p:sp>
      <p:sp>
        <p:nvSpPr>
          <p:cNvPr id="221" name="Google Shape;221;g3fa15d9b7fc_0_148"/>
          <p:cNvSpPr/>
          <p:nvPr/>
        </p:nvSpPr>
        <p:spPr>
          <a:xfrm>
            <a:off x="4650792" y="2938111"/>
            <a:ext cx="1739700" cy="237600"/>
          </a:xfrm>
          <a:prstGeom prst="roundRect">
            <a:avLst>
              <a:gd fmla="val 19231" name="adj"/>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fa15d9b7fc_0_148"/>
          <p:cNvSpPr/>
          <p:nvPr/>
        </p:nvSpPr>
        <p:spPr>
          <a:xfrm>
            <a:off x="4650792" y="2938111"/>
            <a:ext cx="17397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Pass / fail logic</a:t>
            </a:r>
            <a:endParaRPr b="0" i="0" sz="800" u="none" cap="none" strike="noStrike">
              <a:solidFill>
                <a:schemeClr val="dk1"/>
              </a:solidFill>
              <a:latin typeface="Calibri"/>
              <a:ea typeface="Calibri"/>
              <a:cs typeface="Calibri"/>
              <a:sym typeface="Calibri"/>
            </a:endParaRPr>
          </a:p>
        </p:txBody>
      </p:sp>
      <p:sp>
        <p:nvSpPr>
          <p:cNvPr id="223" name="Google Shape;223;g3fa15d9b7fc_0_148"/>
          <p:cNvSpPr/>
          <p:nvPr/>
        </p:nvSpPr>
        <p:spPr>
          <a:xfrm>
            <a:off x="6524372" y="2938111"/>
            <a:ext cx="1137600" cy="237600"/>
          </a:xfrm>
          <a:prstGeom prst="roundRect">
            <a:avLst>
              <a:gd fmla="val 19231" name="adj"/>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fa15d9b7fc_0_148"/>
          <p:cNvSpPr/>
          <p:nvPr/>
        </p:nvSpPr>
        <p:spPr>
          <a:xfrm>
            <a:off x="6524372" y="2938111"/>
            <a:ext cx="11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Run all the tests</a:t>
            </a:r>
            <a:endParaRPr b="0" i="0" sz="800" u="none" cap="none" strike="noStrike">
              <a:solidFill>
                <a:schemeClr val="dk1"/>
              </a:solidFill>
              <a:latin typeface="Calibri"/>
              <a:ea typeface="Calibri"/>
              <a:cs typeface="Calibri"/>
              <a:sym typeface="Calibri"/>
            </a:endParaRPr>
          </a:p>
        </p:txBody>
      </p:sp>
      <p:sp>
        <p:nvSpPr>
          <p:cNvPr id="225" name="Google Shape;225;g3fa15d9b7fc_0_148"/>
          <p:cNvSpPr/>
          <p:nvPr/>
        </p:nvSpPr>
        <p:spPr>
          <a:xfrm>
            <a:off x="457200" y="3377023"/>
            <a:ext cx="10515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F6B7A"/>
              </a:buClr>
              <a:buSzPts val="750"/>
              <a:buFont typeface="Arial"/>
              <a:buNone/>
            </a:pPr>
            <a:r>
              <a:rPr b="0" i="0" lang="en-US" sz="750" u="none" cap="none" strike="noStrike">
                <a:solidFill>
                  <a:srgbClr val="5F6B7A"/>
                </a:solidFill>
                <a:latin typeface="Arial"/>
                <a:ea typeface="Arial"/>
                <a:cs typeface="Arial"/>
                <a:sym typeface="Arial"/>
              </a:rPr>
              <a:t>ALL THREE</a:t>
            </a:r>
            <a:endParaRPr b="0" i="0" sz="75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5F6B7A"/>
              </a:buClr>
              <a:buSzPts val="1050"/>
              <a:buFont typeface="Arial"/>
              <a:buNone/>
            </a:pPr>
            <a:r>
              <a:rPr b="1" i="0" lang="en-US" sz="1050" u="none" cap="none" strike="noStrike">
                <a:solidFill>
                  <a:srgbClr val="5F6B7A"/>
                </a:solidFill>
                <a:latin typeface="Arial"/>
                <a:ea typeface="Arial"/>
                <a:cs typeface="Arial"/>
                <a:sym typeface="Arial"/>
              </a:rPr>
              <a:t>Shared</a:t>
            </a:r>
            <a:endParaRPr b="0" i="0" sz="750" u="none" cap="none" strike="noStrike">
              <a:solidFill>
                <a:schemeClr val="dk1"/>
              </a:solidFill>
              <a:latin typeface="Calibri"/>
              <a:ea typeface="Calibri"/>
              <a:cs typeface="Calibri"/>
              <a:sym typeface="Calibri"/>
            </a:endParaRPr>
          </a:p>
        </p:txBody>
      </p:sp>
      <p:sp>
        <p:nvSpPr>
          <p:cNvPr id="226" name="Google Shape;226;g3fa15d9b7fc_0_148"/>
          <p:cNvSpPr/>
          <p:nvPr/>
        </p:nvSpPr>
        <p:spPr>
          <a:xfrm>
            <a:off x="6915748" y="3450195"/>
            <a:ext cx="731400" cy="237600"/>
          </a:xfrm>
          <a:prstGeom prst="roundRect">
            <a:avLst>
              <a:gd fmla="val 19231" name="adj"/>
            </a:avLst>
          </a:prstGeom>
          <a:solidFill>
            <a:srgbClr val="5F6B7A"/>
          </a:solidFill>
          <a:ln cap="flat" cmpd="sng" w="12700">
            <a:solidFill>
              <a:srgbClr val="5F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fa15d9b7fc_0_148"/>
          <p:cNvSpPr/>
          <p:nvPr/>
        </p:nvSpPr>
        <p:spPr>
          <a:xfrm>
            <a:off x="6915748" y="3450196"/>
            <a:ext cx="731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Record demo</a:t>
            </a:r>
            <a:endParaRPr b="0" i="0" sz="800" u="none" cap="none" strike="noStrike">
              <a:solidFill>
                <a:schemeClr val="dk1"/>
              </a:solidFill>
              <a:latin typeface="Calibri"/>
              <a:ea typeface="Calibri"/>
              <a:cs typeface="Calibri"/>
              <a:sym typeface="Calibri"/>
            </a:endParaRPr>
          </a:p>
        </p:txBody>
      </p:sp>
      <p:sp>
        <p:nvSpPr>
          <p:cNvPr id="228" name="Google Shape;228;g3fa15d9b7fc_0_148"/>
          <p:cNvSpPr/>
          <p:nvPr/>
        </p:nvSpPr>
        <p:spPr>
          <a:xfrm>
            <a:off x="7685416" y="3450170"/>
            <a:ext cx="868800" cy="237600"/>
          </a:xfrm>
          <a:prstGeom prst="roundRect">
            <a:avLst>
              <a:gd fmla="val 19231" name="adj"/>
            </a:avLst>
          </a:prstGeom>
          <a:solidFill>
            <a:srgbClr val="5F6B7A"/>
          </a:solidFill>
          <a:ln cap="flat" cmpd="sng" w="12700">
            <a:solidFill>
              <a:srgbClr val="5F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fa15d9b7fc_0_148"/>
          <p:cNvSpPr/>
          <p:nvPr/>
        </p:nvSpPr>
        <p:spPr>
          <a:xfrm>
            <a:off x="7736250" y="3450170"/>
            <a:ext cx="8031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Report + present</a:t>
            </a:r>
            <a:endParaRPr b="0" i="0" sz="800" u="none" cap="none" strike="noStrike">
              <a:solidFill>
                <a:schemeClr val="dk1"/>
              </a:solidFill>
              <a:latin typeface="Calibri"/>
              <a:ea typeface="Calibri"/>
              <a:cs typeface="Calibri"/>
              <a:sym typeface="Calibri"/>
            </a:endParaRPr>
          </a:p>
        </p:txBody>
      </p:sp>
      <p:cxnSp>
        <p:nvCxnSpPr>
          <p:cNvPr id="230" name="Google Shape;230;g3fa15d9b7fc_0_148"/>
          <p:cNvCxnSpPr/>
          <p:nvPr/>
        </p:nvCxnSpPr>
        <p:spPr>
          <a:xfrm>
            <a:off x="4048570" y="2663791"/>
            <a:ext cx="133800" cy="274200"/>
          </a:xfrm>
          <a:prstGeom prst="straightConnector1">
            <a:avLst/>
          </a:prstGeom>
          <a:noFill/>
          <a:ln cap="flat" cmpd="sng" w="19050">
            <a:solidFill>
              <a:srgbClr val="222222"/>
            </a:solidFill>
            <a:prstDash val="solid"/>
            <a:round/>
            <a:headEnd len="sm" w="sm" type="none"/>
            <a:tailEnd len="med" w="med" type="triangle"/>
          </a:ln>
        </p:spPr>
      </p:cxnSp>
      <p:sp>
        <p:nvSpPr>
          <p:cNvPr id="231" name="Google Shape;231;g3fa15d9b7fc_0_148"/>
          <p:cNvSpPr/>
          <p:nvPr/>
        </p:nvSpPr>
        <p:spPr>
          <a:xfrm>
            <a:off x="457200" y="3826202"/>
            <a:ext cx="146400" cy="109800"/>
          </a:xfrm>
          <a:prstGeom prst="roundRect">
            <a:avLst>
              <a:gd fmla="val 25000" name="adj"/>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fa15d9b7fc_0_148"/>
          <p:cNvSpPr/>
          <p:nvPr/>
        </p:nvSpPr>
        <p:spPr>
          <a:xfrm>
            <a:off x="640080" y="3771338"/>
            <a:ext cx="731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Person A</a:t>
            </a:r>
            <a:endParaRPr b="0" i="0" sz="850" u="none" cap="none" strike="noStrike">
              <a:solidFill>
                <a:schemeClr val="dk1"/>
              </a:solidFill>
              <a:latin typeface="Calibri"/>
              <a:ea typeface="Calibri"/>
              <a:cs typeface="Calibri"/>
              <a:sym typeface="Calibri"/>
            </a:endParaRPr>
          </a:p>
        </p:txBody>
      </p:sp>
      <p:sp>
        <p:nvSpPr>
          <p:cNvPr id="233" name="Google Shape;233;g3fa15d9b7fc_0_148"/>
          <p:cNvSpPr/>
          <p:nvPr/>
        </p:nvSpPr>
        <p:spPr>
          <a:xfrm>
            <a:off x="1389888" y="3826202"/>
            <a:ext cx="146400" cy="109800"/>
          </a:xfrm>
          <a:prstGeom prst="roundRect">
            <a:avLst>
              <a:gd fmla="val 25000" name="adj"/>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fa15d9b7fc_0_148"/>
          <p:cNvSpPr/>
          <p:nvPr/>
        </p:nvSpPr>
        <p:spPr>
          <a:xfrm>
            <a:off x="1572768" y="3771338"/>
            <a:ext cx="731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Person B</a:t>
            </a:r>
            <a:endParaRPr b="0" i="0" sz="850" u="none" cap="none" strike="noStrike">
              <a:solidFill>
                <a:schemeClr val="dk1"/>
              </a:solidFill>
              <a:latin typeface="Calibri"/>
              <a:ea typeface="Calibri"/>
              <a:cs typeface="Calibri"/>
              <a:sym typeface="Calibri"/>
            </a:endParaRPr>
          </a:p>
        </p:txBody>
      </p:sp>
      <p:sp>
        <p:nvSpPr>
          <p:cNvPr id="235" name="Google Shape;235;g3fa15d9b7fc_0_148"/>
          <p:cNvSpPr/>
          <p:nvPr/>
        </p:nvSpPr>
        <p:spPr>
          <a:xfrm>
            <a:off x="2322576" y="3826202"/>
            <a:ext cx="146400" cy="109800"/>
          </a:xfrm>
          <a:prstGeom prst="roundRect">
            <a:avLst>
              <a:gd fmla="val 25000" name="adj"/>
            </a:avLst>
          </a:prstGeom>
          <a:solidFill>
            <a:srgbClr val="D9822B"/>
          </a:solidFill>
          <a:ln cap="flat" cmpd="sng" w="12700">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a15d9b7fc_0_148"/>
          <p:cNvSpPr/>
          <p:nvPr/>
        </p:nvSpPr>
        <p:spPr>
          <a:xfrm>
            <a:off x="2505456" y="3771338"/>
            <a:ext cx="731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Person C</a:t>
            </a:r>
            <a:endParaRPr b="0" i="0" sz="850" u="none" cap="none" strike="noStrike">
              <a:solidFill>
                <a:schemeClr val="dk1"/>
              </a:solidFill>
              <a:latin typeface="Calibri"/>
              <a:ea typeface="Calibri"/>
              <a:cs typeface="Calibri"/>
              <a:sym typeface="Calibri"/>
            </a:endParaRPr>
          </a:p>
        </p:txBody>
      </p:sp>
      <p:sp>
        <p:nvSpPr>
          <p:cNvPr id="237" name="Google Shape;237;g3fa15d9b7fc_0_148"/>
          <p:cNvSpPr/>
          <p:nvPr/>
        </p:nvSpPr>
        <p:spPr>
          <a:xfrm>
            <a:off x="3255264" y="3826202"/>
            <a:ext cx="146400" cy="109800"/>
          </a:xfrm>
          <a:prstGeom prst="roundRect">
            <a:avLst>
              <a:gd fmla="val 25000" name="adj"/>
            </a:avLst>
          </a:prstGeom>
          <a:solidFill>
            <a:srgbClr val="5F6B7A"/>
          </a:solidFill>
          <a:ln cap="flat" cmpd="sng" w="12700">
            <a:solidFill>
              <a:srgbClr val="5F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fa15d9b7fc_0_148"/>
          <p:cNvSpPr/>
          <p:nvPr/>
        </p:nvSpPr>
        <p:spPr>
          <a:xfrm>
            <a:off x="3438144" y="3771338"/>
            <a:ext cx="731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All three</a:t>
            </a:r>
            <a:endParaRPr b="0" i="0" sz="850" u="none" cap="none" strike="noStrike">
              <a:solidFill>
                <a:schemeClr val="dk1"/>
              </a:solidFill>
              <a:latin typeface="Calibri"/>
              <a:ea typeface="Calibri"/>
              <a:cs typeface="Calibri"/>
              <a:sym typeface="Calibri"/>
            </a:endParaRPr>
          </a:p>
        </p:txBody>
      </p:sp>
      <p:sp>
        <p:nvSpPr>
          <p:cNvPr id="239" name="Google Shape;239;g3fa15d9b7fc_0_148"/>
          <p:cNvSpPr/>
          <p:nvPr/>
        </p:nvSpPr>
        <p:spPr>
          <a:xfrm>
            <a:off x="4187952" y="3826202"/>
            <a:ext cx="109800" cy="109800"/>
          </a:xfrm>
          <a:prstGeom prst="diamond">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fa15d9b7fc_0_148"/>
          <p:cNvSpPr/>
          <p:nvPr/>
        </p:nvSpPr>
        <p:spPr>
          <a:xfrm>
            <a:off x="4361688" y="3771338"/>
            <a:ext cx="658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Milestone</a:t>
            </a:r>
            <a:endParaRPr b="0" i="0" sz="850" u="none" cap="none" strike="noStrike">
              <a:solidFill>
                <a:schemeClr val="dk1"/>
              </a:solidFill>
              <a:latin typeface="Calibri"/>
              <a:ea typeface="Calibri"/>
              <a:cs typeface="Calibri"/>
              <a:sym typeface="Calibri"/>
            </a:endParaRPr>
          </a:p>
        </p:txBody>
      </p:sp>
      <p:sp>
        <p:nvSpPr>
          <p:cNvPr id="241" name="Google Shape;241;g3fa15d9b7fc_0_148"/>
          <p:cNvSpPr/>
          <p:nvPr/>
        </p:nvSpPr>
        <p:spPr>
          <a:xfrm>
            <a:off x="5093208" y="3826202"/>
            <a:ext cx="109800" cy="109800"/>
          </a:xfrm>
          <a:prstGeom prst="ellipse">
            <a:avLst/>
          </a:prstGeom>
          <a:solidFill>
            <a:srgbClr val="FFFFFF"/>
          </a:solidFill>
          <a:ln cap="flat" cmpd="sng" w="15875">
            <a:solidFill>
              <a:srgbClr val="D98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fa15d9b7fc_0_148"/>
          <p:cNvSpPr/>
          <p:nvPr/>
        </p:nvSpPr>
        <p:spPr>
          <a:xfrm>
            <a:off x="5266944" y="3771338"/>
            <a:ext cx="868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Class review</a:t>
            </a:r>
            <a:endParaRPr b="0" i="0" sz="850" u="none" cap="none" strike="noStrike">
              <a:solidFill>
                <a:schemeClr val="dk1"/>
              </a:solidFill>
              <a:latin typeface="Calibri"/>
              <a:ea typeface="Calibri"/>
              <a:cs typeface="Calibri"/>
              <a:sym typeface="Calibri"/>
            </a:endParaRPr>
          </a:p>
        </p:txBody>
      </p:sp>
      <p:cxnSp>
        <p:nvCxnSpPr>
          <p:cNvPr id="243" name="Google Shape;243;g3fa15d9b7fc_0_148"/>
          <p:cNvCxnSpPr/>
          <p:nvPr/>
        </p:nvCxnSpPr>
        <p:spPr>
          <a:xfrm>
            <a:off x="6245352" y="3881066"/>
            <a:ext cx="219600" cy="0"/>
          </a:xfrm>
          <a:prstGeom prst="straightConnector1">
            <a:avLst/>
          </a:prstGeom>
          <a:noFill/>
          <a:ln cap="flat" cmpd="sng" w="19050">
            <a:solidFill>
              <a:srgbClr val="222222"/>
            </a:solidFill>
            <a:prstDash val="solid"/>
            <a:round/>
            <a:headEnd len="sm" w="sm" type="none"/>
            <a:tailEnd len="med" w="med" type="triangle"/>
          </a:ln>
        </p:spPr>
      </p:cxnSp>
      <p:sp>
        <p:nvSpPr>
          <p:cNvPr id="244" name="Google Shape;244;g3fa15d9b7fc_0_148"/>
          <p:cNvSpPr/>
          <p:nvPr/>
        </p:nvSpPr>
        <p:spPr>
          <a:xfrm>
            <a:off x="6537960" y="3771338"/>
            <a:ext cx="1051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50"/>
              <a:buFont typeface="Arial"/>
              <a:buNone/>
            </a:pPr>
            <a:r>
              <a:rPr b="0" i="0" lang="en-US" sz="850" u="none" cap="none" strike="noStrike">
                <a:solidFill>
                  <a:srgbClr val="222222"/>
                </a:solidFill>
                <a:latin typeface="Arial"/>
                <a:ea typeface="Arial"/>
                <a:cs typeface="Arial"/>
                <a:sym typeface="Arial"/>
              </a:rPr>
              <a:t>Must finish first</a:t>
            </a:r>
            <a:endParaRPr b="0" i="0" sz="850" u="none" cap="none" strike="noStrike">
              <a:solidFill>
                <a:schemeClr val="dk1"/>
              </a:solidFill>
              <a:latin typeface="Calibri"/>
              <a:ea typeface="Calibri"/>
              <a:cs typeface="Calibri"/>
              <a:sym typeface="Calibri"/>
            </a:endParaRPr>
          </a:p>
        </p:txBody>
      </p:sp>
      <p:sp>
        <p:nvSpPr>
          <p:cNvPr id="245" name="Google Shape;245;g3fa15d9b7fc_0_148"/>
          <p:cNvSpPr/>
          <p:nvPr/>
        </p:nvSpPr>
        <p:spPr>
          <a:xfrm>
            <a:off x="457200" y="4078224"/>
            <a:ext cx="8229600" cy="512100"/>
          </a:xfrm>
          <a:prstGeom prst="roundRect">
            <a:avLst>
              <a:gd fmla="val 10714" name="adj"/>
            </a:avLst>
          </a:prstGeom>
          <a:solidFill>
            <a:srgbClr val="E6F4F4"/>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fa15d9b7fc_0_148"/>
          <p:cNvSpPr/>
          <p:nvPr/>
        </p:nvSpPr>
        <p:spPr>
          <a:xfrm>
            <a:off x="566928" y="4114800"/>
            <a:ext cx="8010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950"/>
              <a:buFont typeface="Arial"/>
              <a:buNone/>
            </a:pPr>
            <a:r>
              <a:rPr b="1" i="0" lang="en-US" sz="950" u="none" cap="none" strike="noStrike">
                <a:solidFill>
                  <a:srgbClr val="1F3A5F"/>
                </a:solidFill>
                <a:latin typeface="Arial"/>
                <a:ea typeface="Arial"/>
                <a:cs typeface="Arial"/>
                <a:sym typeface="Arial"/>
              </a:rPr>
              <a:t>We report progress every two weeks. </a:t>
            </a:r>
            <a:r>
              <a:rPr b="0" i="0" lang="en-US" sz="950" u="none" cap="none" strike="noStrike">
                <a:solidFill>
                  <a:srgbClr val="222222"/>
                </a:solidFill>
                <a:latin typeface="Arial"/>
                <a:ea typeface="Arial"/>
                <a:cs typeface="Arial"/>
                <a:sym typeface="Arial"/>
              </a:rPr>
              <a:t>Each circle is a class presentation, and each one follows a milestone by a few days, so we are always showing work that is finished rather than work from that morning. The arrow marks the one hand-off: Person B's 3D model must work before Person C can measure its accuracy.</a:t>
            </a:r>
            <a:endParaRPr b="0" i="0" sz="950" u="none" cap="none" strike="noStrike">
              <a:solidFill>
                <a:schemeClr val="dk1"/>
              </a:solidFill>
              <a:latin typeface="Calibri"/>
              <a:ea typeface="Calibri"/>
              <a:cs typeface="Calibri"/>
              <a:sym typeface="Calibri"/>
            </a:endParaRPr>
          </a:p>
        </p:txBody>
      </p:sp>
      <p:sp>
        <p:nvSpPr>
          <p:cNvPr id="247" name="Google Shape;247;g3fa15d9b7fc_0_148"/>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
        <p:nvSpPr>
          <p:cNvPr id="248" name="Google Shape;248;g3fa15d9b7fc_0_148"/>
          <p:cNvSpPr txBox="1"/>
          <p:nvPr/>
        </p:nvSpPr>
        <p:spPr>
          <a:xfrm>
            <a:off x="7451225" y="4699900"/>
            <a:ext cx="916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                                                                                                                                                                     </a:t>
            </a:r>
            <a:endParaRPr sz="1100">
              <a:solidFill>
                <a:schemeClr val="dk1"/>
              </a:solidFill>
              <a:latin typeface="Calibri"/>
              <a:ea typeface="Calibri"/>
              <a:cs typeface="Calibri"/>
              <a:sym typeface="Calibri"/>
            </a:endParaRPr>
          </a:p>
        </p:txBody>
      </p:sp>
      <p:sp>
        <p:nvSpPr>
          <p:cNvPr id="249" name="Google Shape;249;g3fa15d9b7fc_0_148"/>
          <p:cNvSpPr txBox="1"/>
          <p:nvPr/>
        </p:nvSpPr>
        <p:spPr>
          <a:xfrm>
            <a:off x="7383675" y="4749403"/>
            <a:ext cx="1122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5F6B7A"/>
                </a:solidFill>
              </a:rPr>
              <a:t>Yashi                                                                                                                                                                       </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fa15d9b7fc_0_236"/>
          <p:cNvSpPr/>
          <p:nvPr/>
        </p:nvSpPr>
        <p:spPr>
          <a:xfrm>
            <a:off x="457200" y="237744"/>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600"/>
              <a:buFont typeface="Arial"/>
              <a:buNone/>
            </a:pPr>
            <a:r>
              <a:rPr b="1" i="0" lang="en-US" sz="2600" u="none" cap="none" strike="noStrike">
                <a:solidFill>
                  <a:srgbClr val="1F3A5F"/>
                </a:solidFill>
                <a:latin typeface="Arial"/>
                <a:ea typeface="Arial"/>
                <a:cs typeface="Arial"/>
                <a:sym typeface="Arial"/>
              </a:rPr>
              <a:t>References</a:t>
            </a:r>
            <a:endParaRPr b="0" i="0" sz="2600" u="none" cap="none" strike="noStrike">
              <a:solidFill>
                <a:schemeClr val="dk1"/>
              </a:solidFill>
              <a:latin typeface="Calibri"/>
              <a:ea typeface="Calibri"/>
              <a:cs typeface="Calibri"/>
              <a:sym typeface="Calibri"/>
            </a:endParaRPr>
          </a:p>
        </p:txBody>
      </p:sp>
      <p:sp>
        <p:nvSpPr>
          <p:cNvPr id="256" name="Google Shape;256;g3fa15d9b7fc_0_236"/>
          <p:cNvSpPr/>
          <p:nvPr/>
        </p:nvSpPr>
        <p:spPr>
          <a:xfrm>
            <a:off x="457200" y="786384"/>
            <a:ext cx="822900" cy="45600"/>
          </a:xfrm>
          <a:prstGeom prst="rect">
            <a:avLst/>
          </a:prstGeom>
          <a:solidFill>
            <a:srgbClr val="0F8B8D"/>
          </a:solidFill>
          <a:ln cap="flat" cmpd="sng" w="12700">
            <a:solidFill>
              <a:srgbClr val="0F8B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fa15d9b7fc_0_236"/>
          <p:cNvSpPr/>
          <p:nvPr/>
        </p:nvSpPr>
        <p:spPr>
          <a:xfrm>
            <a:off x="1417320" y="694944"/>
            <a:ext cx="7269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100"/>
              <a:buFont typeface="Arial"/>
              <a:buNone/>
            </a:pPr>
            <a:r>
              <a:rPr b="0" i="0" lang="en-US" sz="1100" u="none" cap="none" strike="noStrike">
                <a:solidFill>
                  <a:srgbClr val="5F6B7A"/>
                </a:solidFill>
                <a:latin typeface="Arial"/>
                <a:ea typeface="Arial"/>
                <a:cs typeface="Arial"/>
                <a:sym typeface="Arial"/>
              </a:rPr>
              <a:t>Models, libraries and standards the project builds on</a:t>
            </a:r>
            <a:endParaRPr b="0" i="0" sz="1100" u="none" cap="none" strike="noStrike">
              <a:solidFill>
                <a:schemeClr val="dk1"/>
              </a:solidFill>
              <a:latin typeface="Calibri"/>
              <a:ea typeface="Calibri"/>
              <a:cs typeface="Calibri"/>
              <a:sym typeface="Calibri"/>
            </a:endParaRPr>
          </a:p>
        </p:txBody>
      </p:sp>
      <p:sp>
        <p:nvSpPr>
          <p:cNvPr id="258" name="Google Shape;258;g3fa15d9b7fc_0_236"/>
          <p:cNvSpPr/>
          <p:nvPr/>
        </p:nvSpPr>
        <p:spPr>
          <a:xfrm>
            <a:off x="457200" y="1051560"/>
            <a:ext cx="4023300" cy="361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1. Wang, J., Chen, M., Karaev, N., Vedaldi, A., Rupprecht, C., Novotny, D. "VGGT: Visual Geometry Grounded Transformer." CVPR 2025. arXiv:2503.11651</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2. Leroy, V., Cabon, Y., Revaud, J. "Grounding Image Matching in 3D with MASt3R." ECCV 2024. arXiv:2406.09756</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3. Wang, S., Leroy, V., Cabon, Y., Chidlovskii, B., Revaud, J. "DUSt3R: Geometric 3D Vision Made Easy." CVPR 2024. arXiv:2312.14132</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4. Schönberger, J. L., Frahm, J.-M. "Structure-from-Motion Revisited." CVPR 2016. (COLMAP)</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5. Zhou, Q.-Y., Park, J., Koltun, V. "Open3D: A Modern Library for 3D Data Processing." arXiv:1801.09847, 2018</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6. Garrido-Jurado, S., Muñoz-Salinas, R., Madrid-Cuevas, F. J., Marín-Jiménez, M. J. "Automatic generation and detection of highly reliable fiducial markers under occlusion." Pattern Recognition 47(6), 2014. (ArUco / ChArUco)</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7. Curless, B., Levoy, M. "A Volumetric Method for Building Complex Models from Range Images." SIGGRAPH 1996. (TSDF fusion)</a:t>
            </a:r>
            <a:endParaRPr b="0" i="0" sz="900" u="none" cap="none" strike="noStrike">
              <a:solidFill>
                <a:schemeClr val="dk1"/>
              </a:solidFill>
              <a:latin typeface="Calibri"/>
              <a:ea typeface="Calibri"/>
              <a:cs typeface="Calibri"/>
              <a:sym typeface="Calibri"/>
            </a:endParaRPr>
          </a:p>
        </p:txBody>
      </p:sp>
      <p:sp>
        <p:nvSpPr>
          <p:cNvPr id="259" name="Google Shape;259;g3fa15d9b7fc_0_236"/>
          <p:cNvSpPr/>
          <p:nvPr/>
        </p:nvSpPr>
        <p:spPr>
          <a:xfrm>
            <a:off x="4663440" y="1051560"/>
            <a:ext cx="4023300" cy="361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8. Kazhdan, M., Bolitho, M., Hoppe, H. "Poisson Surface Reconstruction." Symposium on Geometry Processing, 2006</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9. Rusu, R. B., Blodow, N., Beetz, M. "Fast Point Feature Histograms (FPFH) for 3D Registration." ICRA 2009</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10. Ravi, N., et al. "SAM 2: Segment Anything in Images and Videos." arXiv:2408.00714, 2024</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11. Bai, S., et al. "Qwen2.5-VL Technical Report." arXiv:2502.13923, 2025</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12. ISO/IEC 7810:2019. Identification cards — Physical characteristics. (credit-card reference dimensions)</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22222"/>
              </a:buClr>
              <a:buSzPts val="900"/>
              <a:buFont typeface="Arial"/>
              <a:buNone/>
            </a:pPr>
            <a:r>
              <a:rPr b="0" i="0" lang="en-US" sz="900" u="none" cap="none" strike="noStrike">
                <a:solidFill>
                  <a:srgbClr val="222222"/>
                </a:solidFill>
                <a:latin typeface="Arial"/>
                <a:ea typeface="Arial"/>
                <a:cs typeface="Arial"/>
                <a:sym typeface="Arial"/>
              </a:rPr>
              <a:t>13. Tools and services: OpenCV (opencv.org), three.js (threejs.org), FastAPI (fastapi.tiangolo.com), trimesh (trimesh.org), Manifold (github.com/elalish/manifold), RunPod (runpod.io), Google Gemini API (ai.google.dev)</a:t>
            </a:r>
            <a:endParaRPr b="0" i="0" sz="900" u="none" cap="none" strike="noStrike">
              <a:solidFill>
                <a:schemeClr val="dk1"/>
              </a:solidFill>
              <a:latin typeface="Calibri"/>
              <a:ea typeface="Calibri"/>
              <a:cs typeface="Calibri"/>
              <a:sym typeface="Calibri"/>
            </a:endParaRPr>
          </a:p>
        </p:txBody>
      </p:sp>
      <p:sp>
        <p:nvSpPr>
          <p:cNvPr id="260" name="Google Shape;260;g3fa15d9b7fc_0_236"/>
          <p:cNvSpPr txBox="1"/>
          <p:nvPr>
            <p:ph idx="4294967295" type="sldNum"/>
          </p:nvPr>
        </p:nvSpPr>
        <p:spPr>
          <a:xfrm>
            <a:off x="8229600" y="4773168"/>
            <a:ext cx="4572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F6B7A"/>
                </a:solidFill>
                <a:latin typeface="Arial"/>
                <a:ea typeface="Arial"/>
                <a:cs typeface="Arial"/>
                <a:sym typeface="Arial"/>
              </a:rPr>
              <a:t>‹#›</a:t>
            </a:fld>
            <a:endParaRPr b="0" i="0" sz="900" u="none" cap="none" strike="noStrike">
              <a:solidFill>
                <a:srgbClr val="5F6B7A"/>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2026-09-03T06:45:18Z</dcterms:created>
  <dc:creator>ProofShape team</dc:creator>
</cp:coreProperties>
</file>