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6697A"/>
          </a:solidFill>
          <a:ln/>
        </p:spPr>
      </p:sp>
      <p:sp>
        <p:nvSpPr>
          <p:cNvPr id="3" name="Text 1"/>
          <p:cNvSpPr/>
          <p:nvPr/>
        </p:nvSpPr>
        <p:spPr>
          <a:xfrm>
            <a:off x="1005840" y="1828800"/>
            <a:ext cx="10058400" cy="914400"/>
          </a:xfrm>
          <a:prstGeom prst="rect">
            <a:avLst/>
          </a:prstGeom>
          <a:noFill/>
          <a:ln/>
        </p:spPr>
        <p:txBody>
          <a:bodyPr wrap="square" rtlCol="0" anchor="ctr"/>
          <a:lstStyle/>
          <a:p>
            <a:pPr indent="0" marL="0">
              <a:buNone/>
            </a:pPr>
            <a:r>
              <a:rPr lang="en-US" sz="5200" b="1" dirty="0">
                <a:solidFill>
                  <a:srgbClr val="1B1B1F"/>
                </a:solidFill>
                <a:latin typeface="Helvetica" pitchFamily="34" charset="0"/>
                <a:ea typeface="Helvetica" pitchFamily="34" charset="-122"/>
                <a:cs typeface="Helvetica" pitchFamily="34" charset="-120"/>
              </a:rPr>
              <a:t>ProofShape</a:t>
            </a:r>
            <a:endParaRPr lang="en-US" sz="5200" dirty="0"/>
          </a:p>
        </p:txBody>
      </p:sp>
      <p:sp>
        <p:nvSpPr>
          <p:cNvPr id="4" name="Text 2"/>
          <p:cNvSpPr/>
          <p:nvPr/>
        </p:nvSpPr>
        <p:spPr>
          <a:xfrm>
            <a:off x="1005840" y="2743200"/>
            <a:ext cx="9692640" cy="457200"/>
          </a:xfrm>
          <a:prstGeom prst="rect">
            <a:avLst/>
          </a:prstGeom>
          <a:noFill/>
          <a:ln/>
        </p:spPr>
        <p:txBody>
          <a:bodyPr wrap="square" rtlCol="0" anchor="ctr"/>
          <a:lstStyle/>
          <a:p>
            <a:pPr indent="0" marL="0">
              <a:buNone/>
            </a:pPr>
            <a:r>
              <a:rPr lang="en-US" sz="1700" dirty="0">
                <a:solidFill>
                  <a:srgbClr val="6B7280"/>
                </a:solidFill>
                <a:latin typeface="Helvetica" pitchFamily="34" charset="0"/>
                <a:ea typeface="Helvetica" pitchFamily="34" charset="-122"/>
                <a:cs typeface="Helvetica" pitchFamily="34" charset="-120"/>
              </a:rPr>
              <a:t>Turning a smartphone into a coarse 3D inspection tool for manufactured parts</a:t>
            </a:r>
            <a:endParaRPr lang="en-US" sz="1700" dirty="0"/>
          </a:p>
        </p:txBody>
      </p:sp>
      <p:sp>
        <p:nvSpPr>
          <p:cNvPr id="5" name="Shape 3"/>
          <p:cNvSpPr/>
          <p:nvPr/>
        </p:nvSpPr>
        <p:spPr>
          <a:xfrm>
            <a:off x="1005840" y="3401568"/>
            <a:ext cx="1371600" cy="41148"/>
          </a:xfrm>
          <a:prstGeom prst="rect">
            <a:avLst/>
          </a:prstGeom>
          <a:solidFill>
            <a:srgbClr val="16697A"/>
          </a:solidFill>
          <a:ln/>
        </p:spPr>
      </p:sp>
      <p:sp>
        <p:nvSpPr>
          <p:cNvPr id="6" name="Text 4"/>
          <p:cNvSpPr/>
          <p:nvPr/>
        </p:nvSpPr>
        <p:spPr>
          <a:xfrm>
            <a:off x="1005840" y="3657600"/>
            <a:ext cx="9692640" cy="365760"/>
          </a:xfrm>
          <a:prstGeom prst="rect">
            <a:avLst/>
          </a:prstGeom>
          <a:noFill/>
          <a:ln/>
        </p:spPr>
        <p:txBody>
          <a:bodyPr wrap="square" rtlCol="0" anchor="ctr"/>
          <a:lstStyle/>
          <a:p>
            <a:pPr indent="0" marL="0">
              <a:buNone/>
            </a:pPr>
            <a:r>
              <a:rPr lang="en-US" sz="1900" b="1" dirty="0">
                <a:solidFill>
                  <a:srgbClr val="16697A"/>
                </a:solidFill>
                <a:latin typeface="Helvetica" pitchFamily="34" charset="0"/>
                <a:ea typeface="Helvetica" pitchFamily="34" charset="-122"/>
                <a:cs typeface="Helvetica" pitchFamily="34" charset="-120"/>
              </a:rPr>
              <a:t>Biweekly Progress Review · 18 September 2026</a:t>
            </a:r>
            <a:endParaRPr lang="en-US" sz="1900" dirty="0"/>
          </a:p>
        </p:txBody>
      </p:sp>
      <p:sp>
        <p:nvSpPr>
          <p:cNvPr id="7" name="Text 5"/>
          <p:cNvSpPr/>
          <p:nvPr/>
        </p:nvSpPr>
        <p:spPr>
          <a:xfrm>
            <a:off x="1005840" y="4114800"/>
            <a:ext cx="9692640" cy="320040"/>
          </a:xfrm>
          <a:prstGeom prst="rect">
            <a:avLst/>
          </a:prstGeom>
          <a:noFill/>
          <a:ln/>
        </p:spPr>
        <p:txBody>
          <a:bodyPr wrap="square" rtlCol="0" anchor="ctr"/>
          <a:lstStyle/>
          <a:p>
            <a:pPr indent="0" marL="0">
              <a:buNone/>
            </a:pPr>
            <a:r>
              <a:rPr lang="en-US" sz="1400" dirty="0">
                <a:solidFill>
                  <a:srgbClr val="6B7280"/>
                </a:solidFill>
                <a:latin typeface="Helvetica" pitchFamily="34" charset="0"/>
                <a:ea typeface="Helvetica" pitchFamily="34" charset="-122"/>
                <a:cs typeface="Helvetica" pitchFamily="34" charset="-120"/>
              </a:rPr>
              <a:t>CS595 Capstone · San Francisco Bay University · Fall 2026</a:t>
            </a:r>
            <a:endParaRPr lang="en-US" sz="1400" dirty="0"/>
          </a:p>
        </p:txBody>
      </p:sp>
      <p:sp>
        <p:nvSpPr>
          <p:cNvPr id="8" name="Text 6"/>
          <p:cNvSpPr/>
          <p:nvPr/>
        </p:nvSpPr>
        <p:spPr>
          <a:xfrm>
            <a:off x="1005840" y="4892040"/>
            <a:ext cx="10058400" cy="320040"/>
          </a:xfrm>
          <a:prstGeom prst="rect">
            <a:avLst/>
          </a:prstGeom>
          <a:noFill/>
          <a:ln/>
        </p:spPr>
        <p:txBody>
          <a:bodyPr wrap="square" rtlCol="0" anchor="ctr"/>
          <a:lstStyle/>
          <a:p>
            <a:pPr indent="0" marL="0">
              <a:buNone/>
            </a:pPr>
            <a:r>
              <a:rPr lang="en-US" sz="1300" dirty="0">
                <a:solidFill>
                  <a:srgbClr val="1B1B1F"/>
                </a:solidFill>
                <a:latin typeface="Helvetica" pitchFamily="34" charset="0"/>
                <a:ea typeface="Helvetica" pitchFamily="34" charset="-122"/>
                <a:cs typeface="Helvetica" pitchFamily="34" charset="-120"/>
              </a:rPr>
              <a:t>@TabeenRaoof  ·  @dalwalyk  ·  @mbj1994          github.com/proofshape/proofshape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OUR STANDING TEMPLATE</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Every review answers the same four questions</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Text 3"/>
          <p:cNvSpPr/>
          <p:nvPr/>
        </p:nvSpPr>
        <p:spPr>
          <a:xfrm>
            <a:off x="566928" y="1481328"/>
            <a:ext cx="11055096" cy="457200"/>
          </a:xfrm>
          <a:prstGeom prst="rect">
            <a:avLst/>
          </a:prstGeom>
          <a:noFill/>
          <a:ln/>
        </p:spPr>
        <p:txBody>
          <a:bodyPr wrap="square" rtlCol="0" anchor="ctr"/>
          <a:lstStyle/>
          <a:p>
            <a:pPr indent="0" marL="0">
              <a:buNone/>
            </a:pPr>
            <a:r>
              <a:rPr lang="en-US" sz="1350" i="1" dirty="0">
                <a:solidFill>
                  <a:srgbClr val="6B7280"/>
                </a:solidFill>
                <a:latin typeface="Helvetica" pitchFamily="34" charset="0"/>
                <a:ea typeface="Helvetica" pitchFamily="34" charset="-122"/>
                <a:cs typeface="Helvetica" pitchFamily="34" charset="-120"/>
              </a:rPr>
              <a:t>Fixed template, so preparing a review is assembly rather than invention — that is what keeps seven reviews at ~18 person-hours instead of eating the schedule reserve.</a:t>
            </a:r>
            <a:endParaRPr lang="en-US" sz="1350" dirty="0"/>
          </a:p>
        </p:txBody>
      </p:sp>
      <p:sp>
        <p:nvSpPr>
          <p:cNvPr id="6" name="Shape 4"/>
          <p:cNvSpPr/>
          <p:nvPr/>
        </p:nvSpPr>
        <p:spPr>
          <a:xfrm>
            <a:off x="566928" y="2148840"/>
            <a:ext cx="11055096" cy="749808"/>
          </a:xfrm>
          <a:prstGeom prst="roundRect">
            <a:avLst>
              <a:gd name="adj" fmla="val 6098"/>
            </a:avLst>
          </a:prstGeom>
          <a:solidFill>
            <a:srgbClr val="F1F5F7"/>
          </a:solidFill>
          <a:ln w="12700">
            <a:solidFill>
              <a:srgbClr val="F1F5F7"/>
            </a:solidFill>
            <a:prstDash val="solid"/>
          </a:ln>
        </p:spPr>
      </p:sp>
      <p:sp>
        <p:nvSpPr>
          <p:cNvPr id="7" name="Text 5"/>
          <p:cNvSpPr/>
          <p:nvPr/>
        </p:nvSpPr>
        <p:spPr>
          <a:xfrm>
            <a:off x="731520" y="2267712"/>
            <a:ext cx="502920" cy="512064"/>
          </a:xfrm>
          <a:prstGeom prst="rect">
            <a:avLst/>
          </a:prstGeom>
          <a:noFill/>
          <a:ln/>
        </p:spPr>
        <p:txBody>
          <a:bodyPr wrap="square" rtlCol="0" anchor="ctr"/>
          <a:lstStyle/>
          <a:p>
            <a:pPr algn="ctr" indent="0" marL="0">
              <a:buNone/>
            </a:pPr>
            <a:r>
              <a:rPr lang="en-US" sz="2600" b="1" dirty="0">
                <a:solidFill>
                  <a:srgbClr val="16697A"/>
                </a:solidFill>
                <a:latin typeface="Helvetica" pitchFamily="34" charset="0"/>
                <a:ea typeface="Helvetica" pitchFamily="34" charset="-122"/>
                <a:cs typeface="Helvetica" pitchFamily="34" charset="-120"/>
              </a:rPr>
              <a:t>1</a:t>
            </a:r>
            <a:endParaRPr lang="en-US" sz="2600" dirty="0"/>
          </a:p>
        </p:txBody>
      </p:sp>
      <p:sp>
        <p:nvSpPr>
          <p:cNvPr id="8" name="Text 6"/>
          <p:cNvSpPr/>
          <p:nvPr/>
        </p:nvSpPr>
        <p:spPr>
          <a:xfrm>
            <a:off x="1344168" y="2331720"/>
            <a:ext cx="7498080" cy="384048"/>
          </a:xfrm>
          <a:prstGeom prst="rect">
            <a:avLst/>
          </a:prstGeom>
          <a:noFill/>
          <a:ln/>
        </p:spPr>
        <p:txBody>
          <a:bodyPr wrap="square" rtlCol="0" anchor="ctr"/>
          <a:lstStyle/>
          <a:p>
            <a:pPr indent="0" marL="0">
              <a:buNone/>
            </a:pPr>
            <a:r>
              <a:rPr lang="en-US" sz="1900" b="1" dirty="0">
                <a:solidFill>
                  <a:srgbClr val="1B1B1F"/>
                </a:solidFill>
                <a:latin typeface="Helvetica" pitchFamily="34" charset="0"/>
                <a:ea typeface="Helvetica" pitchFamily="34" charset="-122"/>
                <a:cs typeface="Helvetica" pitchFamily="34" charset="-120"/>
              </a:rPr>
              <a:t>What we said we would do last time</a:t>
            </a:r>
            <a:endParaRPr lang="en-US" sz="1900" dirty="0"/>
          </a:p>
        </p:txBody>
      </p:sp>
      <p:sp>
        <p:nvSpPr>
          <p:cNvPr id="9" name="Text 7"/>
          <p:cNvSpPr/>
          <p:nvPr/>
        </p:nvSpPr>
        <p:spPr>
          <a:xfrm>
            <a:off x="9610344" y="2368296"/>
            <a:ext cx="1828800" cy="329184"/>
          </a:xfrm>
          <a:prstGeom prst="rect">
            <a:avLst/>
          </a:prstGeom>
          <a:noFill/>
          <a:ln/>
        </p:spPr>
        <p:txBody>
          <a:bodyPr wrap="square" rtlCol="0" anchor="ctr"/>
          <a:lstStyle/>
          <a:p>
            <a:pPr algn="r" indent="0" marL="0">
              <a:buNone/>
            </a:pPr>
            <a:r>
              <a:rPr lang="en-US" sz="1250" dirty="0">
                <a:solidFill>
                  <a:srgbClr val="6B7280"/>
                </a:solidFill>
                <a:latin typeface="Helvetica" pitchFamily="34" charset="0"/>
                <a:ea typeface="Helvetica" pitchFamily="34" charset="-122"/>
                <a:cs typeface="Helvetica" pitchFamily="34" charset="-120"/>
              </a:rPr>
              <a:t>slide 6</a:t>
            </a:r>
            <a:endParaRPr lang="en-US" sz="1250" dirty="0"/>
          </a:p>
        </p:txBody>
      </p:sp>
      <p:sp>
        <p:nvSpPr>
          <p:cNvPr id="10" name="Shape 8"/>
          <p:cNvSpPr/>
          <p:nvPr/>
        </p:nvSpPr>
        <p:spPr>
          <a:xfrm>
            <a:off x="566928" y="3044952"/>
            <a:ext cx="11055096" cy="749808"/>
          </a:xfrm>
          <a:prstGeom prst="roundRect">
            <a:avLst>
              <a:gd name="adj" fmla="val 6098"/>
            </a:avLst>
          </a:prstGeom>
          <a:solidFill>
            <a:srgbClr val="F1F5F7"/>
          </a:solidFill>
          <a:ln w="12700">
            <a:solidFill>
              <a:srgbClr val="F1F5F7"/>
            </a:solidFill>
            <a:prstDash val="solid"/>
          </a:ln>
        </p:spPr>
      </p:sp>
      <p:sp>
        <p:nvSpPr>
          <p:cNvPr id="11" name="Text 9"/>
          <p:cNvSpPr/>
          <p:nvPr/>
        </p:nvSpPr>
        <p:spPr>
          <a:xfrm>
            <a:off x="731520" y="3163824"/>
            <a:ext cx="502920" cy="512064"/>
          </a:xfrm>
          <a:prstGeom prst="rect">
            <a:avLst/>
          </a:prstGeom>
          <a:noFill/>
          <a:ln/>
        </p:spPr>
        <p:txBody>
          <a:bodyPr wrap="square" rtlCol="0" anchor="ctr"/>
          <a:lstStyle/>
          <a:p>
            <a:pPr algn="ctr" indent="0" marL="0">
              <a:buNone/>
            </a:pPr>
            <a:r>
              <a:rPr lang="en-US" sz="2600" b="1" dirty="0">
                <a:solidFill>
                  <a:srgbClr val="16697A"/>
                </a:solidFill>
                <a:latin typeface="Helvetica" pitchFamily="34" charset="0"/>
                <a:ea typeface="Helvetica" pitchFamily="34" charset="-122"/>
                <a:cs typeface="Helvetica" pitchFamily="34" charset="-120"/>
              </a:rPr>
              <a:t>2</a:t>
            </a:r>
            <a:endParaRPr lang="en-US" sz="2600" dirty="0"/>
          </a:p>
        </p:txBody>
      </p:sp>
      <p:sp>
        <p:nvSpPr>
          <p:cNvPr id="12" name="Text 10"/>
          <p:cNvSpPr/>
          <p:nvPr/>
        </p:nvSpPr>
        <p:spPr>
          <a:xfrm>
            <a:off x="1344168" y="3227832"/>
            <a:ext cx="7498080" cy="384048"/>
          </a:xfrm>
          <a:prstGeom prst="rect">
            <a:avLst/>
          </a:prstGeom>
          <a:noFill/>
          <a:ln/>
        </p:spPr>
        <p:txBody>
          <a:bodyPr wrap="square" rtlCol="0" anchor="ctr"/>
          <a:lstStyle/>
          <a:p>
            <a:pPr indent="0" marL="0">
              <a:buNone/>
            </a:pPr>
            <a:r>
              <a:rPr lang="en-US" sz="1900" b="1" dirty="0">
                <a:solidFill>
                  <a:srgbClr val="1B1B1F"/>
                </a:solidFill>
                <a:latin typeface="Helvetica" pitchFamily="34" charset="0"/>
                <a:ea typeface="Helvetica" pitchFamily="34" charset="-122"/>
                <a:cs typeface="Helvetica" pitchFamily="34" charset="-120"/>
              </a:rPr>
              <a:t>What works now</a:t>
            </a:r>
            <a:endParaRPr lang="en-US" sz="1900" dirty="0"/>
          </a:p>
        </p:txBody>
      </p:sp>
      <p:sp>
        <p:nvSpPr>
          <p:cNvPr id="13" name="Text 11"/>
          <p:cNvSpPr/>
          <p:nvPr/>
        </p:nvSpPr>
        <p:spPr>
          <a:xfrm>
            <a:off x="9610344" y="3264408"/>
            <a:ext cx="1828800" cy="329184"/>
          </a:xfrm>
          <a:prstGeom prst="rect">
            <a:avLst/>
          </a:prstGeom>
          <a:noFill/>
          <a:ln/>
        </p:spPr>
        <p:txBody>
          <a:bodyPr wrap="square" rtlCol="0" anchor="ctr"/>
          <a:lstStyle/>
          <a:p>
            <a:pPr algn="r" indent="0" marL="0">
              <a:buNone/>
            </a:pPr>
            <a:r>
              <a:rPr lang="en-US" sz="1250" dirty="0">
                <a:solidFill>
                  <a:srgbClr val="6B7280"/>
                </a:solidFill>
                <a:latin typeface="Helvetica" pitchFamily="34" charset="0"/>
                <a:ea typeface="Helvetica" pitchFamily="34" charset="-122"/>
                <a:cs typeface="Helvetica" pitchFamily="34" charset="-120"/>
              </a:rPr>
              <a:t>slides 7–10</a:t>
            </a:r>
            <a:endParaRPr lang="en-US" sz="1250" dirty="0"/>
          </a:p>
        </p:txBody>
      </p:sp>
      <p:sp>
        <p:nvSpPr>
          <p:cNvPr id="14" name="Shape 12"/>
          <p:cNvSpPr/>
          <p:nvPr/>
        </p:nvSpPr>
        <p:spPr>
          <a:xfrm>
            <a:off x="566928" y="3941064"/>
            <a:ext cx="11055096" cy="749808"/>
          </a:xfrm>
          <a:prstGeom prst="roundRect">
            <a:avLst>
              <a:gd name="adj" fmla="val 6098"/>
            </a:avLst>
          </a:prstGeom>
          <a:solidFill>
            <a:srgbClr val="F1F5F7"/>
          </a:solidFill>
          <a:ln w="12700">
            <a:solidFill>
              <a:srgbClr val="F1F5F7"/>
            </a:solidFill>
            <a:prstDash val="solid"/>
          </a:ln>
        </p:spPr>
      </p:sp>
      <p:sp>
        <p:nvSpPr>
          <p:cNvPr id="15" name="Text 13"/>
          <p:cNvSpPr/>
          <p:nvPr/>
        </p:nvSpPr>
        <p:spPr>
          <a:xfrm>
            <a:off x="731520" y="4059936"/>
            <a:ext cx="502920" cy="512064"/>
          </a:xfrm>
          <a:prstGeom prst="rect">
            <a:avLst/>
          </a:prstGeom>
          <a:noFill/>
          <a:ln/>
        </p:spPr>
        <p:txBody>
          <a:bodyPr wrap="square" rtlCol="0" anchor="ctr"/>
          <a:lstStyle/>
          <a:p>
            <a:pPr algn="ctr" indent="0" marL="0">
              <a:buNone/>
            </a:pPr>
            <a:r>
              <a:rPr lang="en-US" sz="2600" b="1" dirty="0">
                <a:solidFill>
                  <a:srgbClr val="16697A"/>
                </a:solidFill>
                <a:latin typeface="Helvetica" pitchFamily="34" charset="0"/>
                <a:ea typeface="Helvetica" pitchFamily="34" charset="-122"/>
                <a:cs typeface="Helvetica" pitchFamily="34" charset="-120"/>
              </a:rPr>
              <a:t>3</a:t>
            </a:r>
            <a:endParaRPr lang="en-US" sz="2600" dirty="0"/>
          </a:p>
        </p:txBody>
      </p:sp>
      <p:sp>
        <p:nvSpPr>
          <p:cNvPr id="16" name="Text 14"/>
          <p:cNvSpPr/>
          <p:nvPr/>
        </p:nvSpPr>
        <p:spPr>
          <a:xfrm>
            <a:off x="1344168" y="4123944"/>
            <a:ext cx="7498080" cy="384048"/>
          </a:xfrm>
          <a:prstGeom prst="rect">
            <a:avLst/>
          </a:prstGeom>
          <a:noFill/>
          <a:ln/>
        </p:spPr>
        <p:txBody>
          <a:bodyPr wrap="square" rtlCol="0" anchor="ctr"/>
          <a:lstStyle/>
          <a:p>
            <a:pPr indent="0" marL="0">
              <a:buNone/>
            </a:pPr>
            <a:r>
              <a:rPr lang="en-US" sz="1900" b="1" dirty="0">
                <a:solidFill>
                  <a:srgbClr val="1B1B1F"/>
                </a:solidFill>
                <a:latin typeface="Helvetica" pitchFamily="34" charset="0"/>
                <a:ea typeface="Helvetica" pitchFamily="34" charset="-122"/>
                <a:cs typeface="Helvetica" pitchFamily="34" charset="-120"/>
              </a:rPr>
              <a:t>What slipped, and why</a:t>
            </a:r>
            <a:endParaRPr lang="en-US" sz="1900" dirty="0"/>
          </a:p>
        </p:txBody>
      </p:sp>
      <p:sp>
        <p:nvSpPr>
          <p:cNvPr id="17" name="Text 15"/>
          <p:cNvSpPr/>
          <p:nvPr/>
        </p:nvSpPr>
        <p:spPr>
          <a:xfrm>
            <a:off x="9610344" y="4160520"/>
            <a:ext cx="1828800" cy="329184"/>
          </a:xfrm>
          <a:prstGeom prst="rect">
            <a:avLst/>
          </a:prstGeom>
          <a:noFill/>
          <a:ln/>
        </p:spPr>
        <p:txBody>
          <a:bodyPr wrap="square" rtlCol="0" anchor="ctr"/>
          <a:lstStyle/>
          <a:p>
            <a:pPr algn="r" indent="0" marL="0">
              <a:buNone/>
            </a:pPr>
            <a:r>
              <a:rPr lang="en-US" sz="1250" dirty="0">
                <a:solidFill>
                  <a:srgbClr val="6B7280"/>
                </a:solidFill>
                <a:latin typeface="Helvetica" pitchFamily="34" charset="0"/>
                <a:ea typeface="Helvetica" pitchFamily="34" charset="-122"/>
                <a:cs typeface="Helvetica" pitchFamily="34" charset="-120"/>
              </a:rPr>
              <a:t>slide 13</a:t>
            </a:r>
            <a:endParaRPr lang="en-US" sz="1250" dirty="0"/>
          </a:p>
        </p:txBody>
      </p:sp>
      <p:sp>
        <p:nvSpPr>
          <p:cNvPr id="18" name="Shape 16"/>
          <p:cNvSpPr/>
          <p:nvPr/>
        </p:nvSpPr>
        <p:spPr>
          <a:xfrm>
            <a:off x="566928" y="4837176"/>
            <a:ext cx="11055096" cy="749808"/>
          </a:xfrm>
          <a:prstGeom prst="roundRect">
            <a:avLst>
              <a:gd name="adj" fmla="val 6098"/>
            </a:avLst>
          </a:prstGeom>
          <a:solidFill>
            <a:srgbClr val="F1F5F7"/>
          </a:solidFill>
          <a:ln w="12700">
            <a:solidFill>
              <a:srgbClr val="F1F5F7"/>
            </a:solidFill>
            <a:prstDash val="solid"/>
          </a:ln>
        </p:spPr>
      </p:sp>
      <p:sp>
        <p:nvSpPr>
          <p:cNvPr id="19" name="Text 17"/>
          <p:cNvSpPr/>
          <p:nvPr/>
        </p:nvSpPr>
        <p:spPr>
          <a:xfrm>
            <a:off x="731520" y="4956048"/>
            <a:ext cx="502920" cy="512064"/>
          </a:xfrm>
          <a:prstGeom prst="rect">
            <a:avLst/>
          </a:prstGeom>
          <a:noFill/>
          <a:ln/>
        </p:spPr>
        <p:txBody>
          <a:bodyPr wrap="square" rtlCol="0" anchor="ctr"/>
          <a:lstStyle/>
          <a:p>
            <a:pPr algn="ctr" indent="0" marL="0">
              <a:buNone/>
            </a:pPr>
            <a:r>
              <a:rPr lang="en-US" sz="2600" b="1" dirty="0">
                <a:solidFill>
                  <a:srgbClr val="16697A"/>
                </a:solidFill>
                <a:latin typeface="Helvetica" pitchFamily="34" charset="0"/>
                <a:ea typeface="Helvetica" pitchFamily="34" charset="-122"/>
                <a:cs typeface="Helvetica" pitchFamily="34" charset="-120"/>
              </a:rPr>
              <a:t>4</a:t>
            </a:r>
            <a:endParaRPr lang="en-US" sz="2600" dirty="0"/>
          </a:p>
        </p:txBody>
      </p:sp>
      <p:sp>
        <p:nvSpPr>
          <p:cNvPr id="20" name="Text 18"/>
          <p:cNvSpPr/>
          <p:nvPr/>
        </p:nvSpPr>
        <p:spPr>
          <a:xfrm>
            <a:off x="1344168" y="5020056"/>
            <a:ext cx="7498080" cy="384048"/>
          </a:xfrm>
          <a:prstGeom prst="rect">
            <a:avLst/>
          </a:prstGeom>
          <a:noFill/>
          <a:ln/>
        </p:spPr>
        <p:txBody>
          <a:bodyPr wrap="square" rtlCol="0" anchor="ctr"/>
          <a:lstStyle/>
          <a:p>
            <a:pPr indent="0" marL="0">
              <a:buNone/>
            </a:pPr>
            <a:r>
              <a:rPr lang="en-US" sz="1900" b="1" dirty="0">
                <a:solidFill>
                  <a:srgbClr val="1B1B1F"/>
                </a:solidFill>
                <a:latin typeface="Helvetica" pitchFamily="34" charset="0"/>
                <a:ea typeface="Helvetica" pitchFamily="34" charset="-122"/>
                <a:cs typeface="Helvetica" pitchFamily="34" charset="-120"/>
              </a:rPr>
              <a:t>What we will have by the next review</a:t>
            </a:r>
            <a:endParaRPr lang="en-US" sz="1900" dirty="0"/>
          </a:p>
        </p:txBody>
      </p:sp>
      <p:sp>
        <p:nvSpPr>
          <p:cNvPr id="21" name="Text 19"/>
          <p:cNvSpPr/>
          <p:nvPr/>
        </p:nvSpPr>
        <p:spPr>
          <a:xfrm>
            <a:off x="9610344" y="5056632"/>
            <a:ext cx="1828800" cy="329184"/>
          </a:xfrm>
          <a:prstGeom prst="rect">
            <a:avLst/>
          </a:prstGeom>
          <a:noFill/>
          <a:ln/>
        </p:spPr>
        <p:txBody>
          <a:bodyPr wrap="square" rtlCol="0" anchor="ctr"/>
          <a:lstStyle/>
          <a:p>
            <a:pPr algn="r" indent="0" marL="0">
              <a:buNone/>
            </a:pPr>
            <a:r>
              <a:rPr lang="en-US" sz="1250" dirty="0">
                <a:solidFill>
                  <a:srgbClr val="6B7280"/>
                </a:solidFill>
                <a:latin typeface="Helvetica" pitchFamily="34" charset="0"/>
                <a:ea typeface="Helvetica" pitchFamily="34" charset="-122"/>
                <a:cs typeface="Helvetica" pitchFamily="34" charset="-120"/>
              </a:rPr>
              <a:t>slide 14</a:t>
            </a:r>
            <a:endParaRPr lang="en-US" sz="1250" dirty="0"/>
          </a:p>
        </p:txBody>
      </p:sp>
      <p:sp>
        <p:nvSpPr>
          <p:cNvPr id="22" name="Text 20"/>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23" name="Text 21"/>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HOW WE PLANNED IT · 1 OF 3</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We planned the work as stories, not as a to-do list</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Text 3"/>
          <p:cNvSpPr/>
          <p:nvPr/>
        </p:nvSpPr>
        <p:spPr>
          <a:xfrm>
            <a:off x="566928" y="1572768"/>
            <a:ext cx="5806440" cy="4206240"/>
          </a:xfrm>
          <a:prstGeom prst="rect">
            <a:avLst/>
          </a:prstGeom>
          <a:noFill/>
          <a:ln/>
        </p:spPr>
        <p:txBody>
          <a:bodyPr wrap="square" rtlCol="0" anchor="ctr"/>
          <a:lstStyle/>
          <a:p>
            <a:pPr marL="342900" indent="-342900">
              <a:lnSpc>
                <a:spcPct val="135000"/>
              </a:lnSpc>
              <a:buSzPct val="100000"/>
              <a:buChar char="•"/>
            </a:pPr>
            <a:r>
              <a:rPr lang="en-US" sz="1400" b="1" dirty="0">
                <a:solidFill>
                  <a:srgbClr val="1B1B1F"/>
                </a:solidFill>
                <a:latin typeface="Helvetica" pitchFamily="34" charset="0"/>
                <a:ea typeface="Helvetica" pitchFamily="34" charset="-122"/>
                <a:cs typeface="Helvetica" pitchFamily="34" charset="-120"/>
              </a:rPr>
              <a:t>One story = one pull request = one or two work sessions.</a:t>
            </a:r>
            <a:endParaRPr lang="en-US" sz="1400" dirty="0"/>
          </a:p>
          <a:p>
            <a:pPr lvl="1" marL="508000" indent="-254000">
              <a:lnSpc>
                <a:spcPct val="135000"/>
              </a:lnSpc>
              <a:buSzPct val="100000"/>
              <a:buChar char="▪"/>
            </a:pPr>
            <a:r>
              <a:rPr lang="en-US" sz="1400" dirty="0">
                <a:solidFill>
                  <a:srgbClr val="1B1B1F"/>
                </a:solidFill>
                <a:latin typeface="Helvetica" pitchFamily="34" charset="0"/>
                <a:ea typeface="Helvetica" pitchFamily="34" charset="-122"/>
                <a:cs typeface="Helvetica" pitchFamily="34" charset="-120"/>
              </a:rPr>
              <a:t>If it grows past that, it gets split — review quality collapses on large diffs.</a:t>
            </a:r>
            <a:endParaRPr lang="en-US" sz="1400" dirty="0"/>
          </a:p>
          <a:p>
            <a:pPr marL="342900" indent="-342900">
              <a:lnSpc>
                <a:spcPct val="135000"/>
              </a:lnSpc>
              <a:buSzPct val="100000"/>
              <a:buChar char="•"/>
            </a:pPr>
            <a:r>
              <a:rPr lang="en-US" sz="1400" b="1" dirty="0">
                <a:solidFill>
                  <a:srgbClr val="1B1B1F"/>
                </a:solidFill>
                <a:latin typeface="Helvetica" pitchFamily="34" charset="0"/>
                <a:ea typeface="Helvetica" pitchFamily="34" charset="-122"/>
                <a:cs typeface="Helvetica" pitchFamily="34" charset="-120"/>
              </a:rPr>
              <a:t>22 stories written out in full.</a:t>
            </a:r>
            <a:endParaRPr lang="en-US" sz="1400" dirty="0"/>
          </a:p>
          <a:p>
            <a:pPr lvl="1" marL="508000" indent="-254000">
              <a:lnSpc>
                <a:spcPct val="135000"/>
              </a:lnSpc>
              <a:buSzPct val="100000"/>
              <a:buChar char="▪"/>
            </a:pPr>
            <a:r>
              <a:rPr lang="en-US" sz="1400" dirty="0">
                <a:solidFill>
                  <a:srgbClr val="1B1B1F"/>
                </a:solidFill>
                <a:latin typeface="Helvetica" pitchFamily="34" charset="0"/>
                <a:ea typeface="Helvetica" pitchFamily="34" charset="-122"/>
                <a:cs typeface="Helvetica" pitchFamily="34" charset="-120"/>
              </a:rPr>
              <a:t>7 foundations, 15 reconstruction engine. Later phases are titles only, elaborated one sprint ahead — most detail written in September would be wrong by November.</a:t>
            </a:r>
            <a:endParaRPr lang="en-US" sz="1400" dirty="0"/>
          </a:p>
          <a:p>
            <a:pPr marL="342900" indent="-342900">
              <a:lnSpc>
                <a:spcPct val="135000"/>
              </a:lnSpc>
              <a:buSzPct val="100000"/>
              <a:buChar char="•"/>
            </a:pPr>
            <a:r>
              <a:rPr lang="en-US" sz="1400" b="1" dirty="0">
                <a:solidFill>
                  <a:srgbClr val="1B1B1F"/>
                </a:solidFill>
                <a:latin typeface="Helvetica" pitchFamily="34" charset="0"/>
                <a:ea typeface="Helvetica" pitchFamily="34" charset="-122"/>
                <a:cs typeface="Helvetica" pitchFamily="34" charset="-120"/>
              </a:rPr>
              <a:t>The ID says where the work lives, not its priority.</a:t>
            </a:r>
            <a:endParaRPr lang="en-US" sz="1400" dirty="0"/>
          </a:p>
          <a:p>
            <a:pPr lvl="1" marL="508000" indent="-254000">
              <a:lnSpc>
                <a:spcPct val="135000"/>
              </a:lnSpc>
              <a:buSzPct val="100000"/>
              <a:buChar char="▪"/>
            </a:pPr>
            <a:r>
              <a:rPr lang="en-US" sz="1400" dirty="0">
                <a:solidFill>
                  <a:srgbClr val="1B1B1F"/>
                </a:solidFill>
                <a:latin typeface="Helvetica" pitchFamily="34" charset="0"/>
                <a:ea typeface="Helvetica" pitchFamily="34" charset="-122"/>
                <a:cs typeface="Helvetica" pitchFamily="34" charset="-120"/>
              </a:rPr>
              <a:t>F foundations · R reconstruction · C capture · I inspection · A generative AI. R-04 is not "step 4" — the Depends-on line is the only ordering that matters.</a:t>
            </a:r>
            <a:endParaRPr lang="en-US" sz="1400" dirty="0"/>
          </a:p>
          <a:p>
            <a:pPr marL="342900" indent="-342900">
              <a:lnSpc>
                <a:spcPct val="135000"/>
              </a:lnSpc>
              <a:buSzPct val="100000"/>
              <a:buChar char="•"/>
            </a:pPr>
            <a:r>
              <a:rPr lang="en-US" sz="1400" b="1" dirty="0">
                <a:solidFill>
                  <a:srgbClr val="1B1B1F"/>
                </a:solidFill>
                <a:latin typeface="Helvetica" pitchFamily="34" charset="0"/>
                <a:ea typeface="Helvetica" pitchFamily="34" charset="-122"/>
                <a:cs typeface="Helvetica" pitchFamily="34" charset="-120"/>
              </a:rPr>
              <a:t>Every story carries a state, and a script keeps them honest.</a:t>
            </a:r>
            <a:endParaRPr lang="en-US" sz="1400" dirty="0"/>
          </a:p>
          <a:p>
            <a:pPr lvl="1" marL="508000" indent="-254000">
              <a:lnSpc>
                <a:spcPct val="135000"/>
              </a:lnSpc>
              <a:buSzPct val="100000"/>
              <a:buChar char="▪"/>
            </a:pPr>
            <a:r>
              <a:rPr lang="en-US" sz="1400" dirty="0">
                <a:solidFill>
                  <a:srgbClr val="1B1B1F"/>
                </a:solidFill>
                <a:latin typeface="Helvetica" pitchFamily="34" charset="0"/>
                <a:ea typeface="Helvetica" pitchFamily="34" charset="-122"/>
                <a:cs typeface="Helvetica" pitchFamily="34" charset="-120"/>
              </a:rPr>
              <a:t>Blocked → Ready → Claimed → In review → Done.</a:t>
            </a:r>
            <a:endParaRPr lang="en-US" sz="1400" dirty="0"/>
          </a:p>
        </p:txBody>
      </p:sp>
      <p:sp>
        <p:nvSpPr>
          <p:cNvPr id="6" name="Shape 4"/>
          <p:cNvSpPr/>
          <p:nvPr/>
        </p:nvSpPr>
        <p:spPr>
          <a:xfrm>
            <a:off x="6688836" y="1595628"/>
            <a:ext cx="4965192" cy="3200400"/>
          </a:xfrm>
          <a:prstGeom prst="rect">
            <a:avLst/>
          </a:prstGeom>
          <a:solidFill>
            <a:srgbClr val="E6ECF0"/>
          </a:solidFill>
          <a:ln w="9525">
            <a:solidFill>
              <a:srgbClr val="D3DCE3"/>
            </a:solidFill>
            <a:prstDash val="solid"/>
          </a:ln>
        </p:spPr>
      </p:sp>
      <p:pic>
        <p:nvPicPr>
          <p:cNvPr id="7" name="Image 0" descr="/Users/tabeenraoof/Desktop/SFBU/semester04/CS595/ProofShape/submissions/assets/2026-09-18/story-file-anatomy.jpg">    </p:cNvPr>
          <p:cNvPicPr>
            <a:picLocks noChangeAspect="1"/>
          </p:cNvPicPr>
          <p:nvPr/>
        </p:nvPicPr>
        <p:blipFill>
          <a:blip r:embed="rId1"/>
          <a:stretch>
            <a:fillRect/>
          </a:stretch>
        </p:blipFill>
        <p:spPr>
          <a:xfrm>
            <a:off x="6720840" y="1627632"/>
            <a:ext cx="4901184" cy="3136392"/>
          </a:xfrm>
          <a:prstGeom prst="rect">
            <a:avLst/>
          </a:prstGeom>
        </p:spPr>
      </p:pic>
      <p:sp>
        <p:nvSpPr>
          <p:cNvPr id="8" name="Text 5"/>
          <p:cNvSpPr/>
          <p:nvPr/>
        </p:nvSpPr>
        <p:spPr>
          <a:xfrm>
            <a:off x="6688836" y="4846320"/>
            <a:ext cx="4965192"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Every story is a file with the same shape: dependencies, state, owner, testable acceptance criteria, working notes, and a completion record that takes real hours — not the estimate copied across.</a:t>
            </a:r>
            <a:endParaRPr lang="en-US" sz="1050" dirty="0"/>
          </a:p>
        </p:txBody>
      </p:sp>
      <p:sp>
        <p:nvSpPr>
          <p:cNvPr id="9" name="Text 6"/>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10" name="Text 7"/>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HOW WE PLANNED IT · 2 OF 3</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Nothing reaches main except through a reviewed pull request</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Text 3"/>
          <p:cNvSpPr/>
          <p:nvPr/>
        </p:nvSpPr>
        <p:spPr>
          <a:xfrm>
            <a:off x="566928" y="1463040"/>
            <a:ext cx="11055096" cy="365760"/>
          </a:xfrm>
          <a:prstGeom prst="rect">
            <a:avLst/>
          </a:prstGeom>
          <a:noFill/>
          <a:ln/>
        </p:spPr>
        <p:txBody>
          <a:bodyPr wrap="square" rtlCol="0" anchor="ctr"/>
          <a:lstStyle/>
          <a:p>
            <a:pPr indent="0" marL="0">
              <a:buNone/>
            </a:pPr>
            <a:r>
              <a:rPr lang="en-US" sz="1350" i="1" dirty="0">
                <a:solidFill>
                  <a:srgbClr val="6B7280"/>
                </a:solidFill>
                <a:latin typeface="Helvetica" pitchFamily="34" charset="0"/>
                <a:ea typeface="Helvetica" pitchFamily="34" charset="-122"/>
                <a:cs typeface="Helvetica" pitchFamily="34" charset="-120"/>
              </a:rPr>
              <a:t>Eight branch-protection rules on main — and we proved each one by trying to break it, not by trusting the checkbox.</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938528"/>
          <a:ext cx="11055096" cy="914400"/>
        </p:xfrm>
        <a:graphic>
          <a:graphicData uri="http://schemas.openxmlformats.org/drawingml/2006/table">
            <a:tbl>
              <a:tblPr/>
              <a:tblGrid>
                <a:gridCol w="3108960"/>
                <a:gridCol w="7946136"/>
              </a:tblGrid>
              <a:tr h="329184">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Gate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What it enforces</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Pull request required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No direct pushes to main — proven: a direct push was rejected (GH006)</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1 approving review</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Proven: a merge without approval was refused by policy</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Stale approvals dismissed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New commits invalidate an existing approval</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Status checks required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ruff + TypeScript must pass before merge is possible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Branch up to date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No merging against a stale main</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Force push / deletion blocked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History cannot be rewritten</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6697A"/>
                          </a:solidFill>
                          <a:latin typeface="Helvetica" pitchFamily="34" charset="0"/>
                          <a:ea typeface="Helvetica" pitchFamily="34" charset="-122"/>
                          <a:cs typeface="Helvetica" pitchFamily="34" charset="-120"/>
                        </a:rPr>
                        <a:t>Admins cannot bypass</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1B1B1F"/>
                          </a:solidFill>
                          <a:latin typeface="Helvetica" pitchFamily="34" charset="0"/>
                          <a:ea typeface="Helvetica" pitchFamily="34" charset="-122"/>
                          <a:cs typeface="Helvetica" pitchFamily="34" charset="-120"/>
                        </a:rPr>
                        <a:t>Applies to the repository owner too — nobody has an override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Conversation resolution</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Review threads must be resolved, not ignored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230368"/>
            <a:ext cx="11055096" cy="365760"/>
          </a:xfrm>
          <a:prstGeom prst="rect">
            <a:avLst/>
          </a:prstGeom>
          <a:noFill/>
          <a:ln/>
        </p:spPr>
        <p:txBody>
          <a:bodyPr wrap="square" rtlCol="0" anchor="ctr"/>
          <a:lstStyle/>
          <a:p>
            <a:pPr indent="0" marL="0">
              <a:buNone/>
            </a:pPr>
            <a:r>
              <a:rPr lang="en-US" sz="1300" dirty="0">
                <a:solidFill>
                  <a:srgbClr val="1B1B1F"/>
                </a:solidFill>
                <a:latin typeface="Helvetica" pitchFamily="34" charset="0"/>
                <a:ea typeface="Helvetica" pitchFamily="34" charset="-122"/>
                <a:cs typeface="Helvetica" pitchFamily="34" charset="-120"/>
              </a:rPr>
              <a:t>Author cannot approve their own PR — a GitHub rule, not a policy choice. The reviewer's job ends at approval; the author merges.</a:t>
            </a:r>
            <a:endParaRPr lang="en-US" sz="1300" dirty="0"/>
          </a:p>
        </p:txBody>
      </p:sp>
      <p:sp>
        <p:nvSpPr>
          <p:cNvPr id="8" name="Text 5"/>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9" name="Text 6"/>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HOW WE PLANNED IT · 3 OF 3</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Decisions are recorded with their reasoning, and rules are automated</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566928" y="1536192"/>
            <a:ext cx="2468880" cy="1207008"/>
          </a:xfrm>
          <a:prstGeom prst="roundRect">
            <a:avLst>
              <a:gd name="adj" fmla="val 4545"/>
            </a:avLst>
          </a:prstGeom>
          <a:solidFill>
            <a:srgbClr val="F1F5F7"/>
          </a:solidFill>
          <a:ln w="12700">
            <a:solidFill>
              <a:srgbClr val="F1F5F7"/>
            </a:solidFill>
            <a:prstDash val="solid"/>
          </a:ln>
        </p:spPr>
      </p:sp>
      <p:sp>
        <p:nvSpPr>
          <p:cNvPr id="6" name="Text 4"/>
          <p:cNvSpPr/>
          <p:nvPr/>
        </p:nvSpPr>
        <p:spPr>
          <a:xfrm>
            <a:off x="566928" y="1645920"/>
            <a:ext cx="2468880" cy="603504"/>
          </a:xfrm>
          <a:prstGeom prst="rect">
            <a:avLst/>
          </a:prstGeom>
          <a:noFill/>
          <a:ln/>
        </p:spPr>
        <p:txBody>
          <a:bodyPr wrap="square" rtlCol="0" anchor="ctr"/>
          <a:lstStyle/>
          <a:p>
            <a:pPr algn="ctr" indent="0" marL="0">
              <a:buNone/>
            </a:pPr>
            <a:r>
              <a:rPr lang="en-US" sz="3400" b="1" dirty="0">
                <a:solidFill>
                  <a:srgbClr val="16697A"/>
                </a:solidFill>
                <a:latin typeface="Helvetica" pitchFamily="34" charset="0"/>
                <a:ea typeface="Helvetica" pitchFamily="34" charset="-122"/>
                <a:cs typeface="Helvetica" pitchFamily="34" charset="-120"/>
              </a:rPr>
              <a:t>32</a:t>
            </a:r>
            <a:endParaRPr lang="en-US" sz="3400" dirty="0"/>
          </a:p>
        </p:txBody>
      </p:sp>
      <p:sp>
        <p:nvSpPr>
          <p:cNvPr id="7" name="Text 5"/>
          <p:cNvSpPr/>
          <p:nvPr/>
        </p:nvSpPr>
        <p:spPr>
          <a:xfrm>
            <a:off x="658368" y="2249424"/>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decisions logged</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with the why, not just the what</a:t>
            </a:r>
            <a:endParaRPr lang="en-US" sz="1150" dirty="0"/>
          </a:p>
        </p:txBody>
      </p:sp>
      <p:sp>
        <p:nvSpPr>
          <p:cNvPr id="8" name="Shape 6"/>
          <p:cNvSpPr/>
          <p:nvPr/>
        </p:nvSpPr>
        <p:spPr>
          <a:xfrm>
            <a:off x="3264408" y="1536192"/>
            <a:ext cx="2468880" cy="1207008"/>
          </a:xfrm>
          <a:prstGeom prst="roundRect">
            <a:avLst>
              <a:gd name="adj" fmla="val 4545"/>
            </a:avLst>
          </a:prstGeom>
          <a:solidFill>
            <a:srgbClr val="F1F5F7"/>
          </a:solidFill>
          <a:ln w="12700">
            <a:solidFill>
              <a:srgbClr val="F1F5F7"/>
            </a:solidFill>
            <a:prstDash val="solid"/>
          </a:ln>
        </p:spPr>
      </p:sp>
      <p:sp>
        <p:nvSpPr>
          <p:cNvPr id="9" name="Text 7"/>
          <p:cNvSpPr/>
          <p:nvPr/>
        </p:nvSpPr>
        <p:spPr>
          <a:xfrm>
            <a:off x="3264408" y="1645920"/>
            <a:ext cx="2468880" cy="603504"/>
          </a:xfrm>
          <a:prstGeom prst="rect">
            <a:avLst/>
          </a:prstGeom>
          <a:noFill/>
          <a:ln/>
        </p:spPr>
        <p:txBody>
          <a:bodyPr wrap="square" rtlCol="0" anchor="ctr"/>
          <a:lstStyle/>
          <a:p>
            <a:pPr algn="ctr" indent="0" marL="0">
              <a:buNone/>
            </a:pPr>
            <a:r>
              <a:rPr lang="en-US" sz="3400" b="1" dirty="0">
                <a:solidFill>
                  <a:srgbClr val="15803D"/>
                </a:solidFill>
                <a:latin typeface="Helvetica" pitchFamily="34" charset="0"/>
                <a:ea typeface="Helvetica" pitchFamily="34" charset="-122"/>
                <a:cs typeface="Helvetica" pitchFamily="34" charset="-120"/>
              </a:rPr>
              <a:t>13</a:t>
            </a:r>
            <a:endParaRPr lang="en-US" sz="3400" dirty="0"/>
          </a:p>
        </p:txBody>
      </p:sp>
      <p:sp>
        <p:nvSpPr>
          <p:cNvPr id="10" name="Text 8"/>
          <p:cNvSpPr/>
          <p:nvPr/>
        </p:nvSpPr>
        <p:spPr>
          <a:xfrm>
            <a:off x="3355848" y="2249424"/>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automated tests</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run on every pull request</a:t>
            </a:r>
            <a:endParaRPr lang="en-US" sz="1150" dirty="0"/>
          </a:p>
        </p:txBody>
      </p:sp>
      <p:sp>
        <p:nvSpPr>
          <p:cNvPr id="11" name="Shape 9"/>
          <p:cNvSpPr/>
          <p:nvPr/>
        </p:nvSpPr>
        <p:spPr>
          <a:xfrm>
            <a:off x="5961888" y="1536192"/>
            <a:ext cx="2468880" cy="1207008"/>
          </a:xfrm>
          <a:prstGeom prst="roundRect">
            <a:avLst>
              <a:gd name="adj" fmla="val 4545"/>
            </a:avLst>
          </a:prstGeom>
          <a:solidFill>
            <a:srgbClr val="F1F5F7"/>
          </a:solidFill>
          <a:ln w="12700">
            <a:solidFill>
              <a:srgbClr val="F1F5F7"/>
            </a:solidFill>
            <a:prstDash val="solid"/>
          </a:ln>
        </p:spPr>
      </p:sp>
      <p:sp>
        <p:nvSpPr>
          <p:cNvPr id="12" name="Text 10"/>
          <p:cNvSpPr/>
          <p:nvPr/>
        </p:nvSpPr>
        <p:spPr>
          <a:xfrm>
            <a:off x="5961888" y="1645920"/>
            <a:ext cx="2468880" cy="603504"/>
          </a:xfrm>
          <a:prstGeom prst="rect">
            <a:avLst/>
          </a:prstGeom>
          <a:noFill/>
          <a:ln/>
        </p:spPr>
        <p:txBody>
          <a:bodyPr wrap="square" rtlCol="0" anchor="ctr"/>
          <a:lstStyle/>
          <a:p>
            <a:pPr algn="ctr" indent="0" marL="0">
              <a:buNone/>
            </a:pPr>
            <a:r>
              <a:rPr lang="en-US" sz="3400" b="1" dirty="0">
                <a:solidFill>
                  <a:srgbClr val="15803D"/>
                </a:solidFill>
                <a:latin typeface="Helvetica" pitchFamily="34" charset="0"/>
                <a:ea typeface="Helvetica" pitchFamily="34" charset="-122"/>
                <a:cs typeface="Helvetica" pitchFamily="34" charset="-120"/>
              </a:rPr>
              <a:t>2</a:t>
            </a:r>
            <a:endParaRPr lang="en-US" sz="3400" dirty="0"/>
          </a:p>
        </p:txBody>
      </p:sp>
      <p:sp>
        <p:nvSpPr>
          <p:cNvPr id="13" name="Text 11"/>
          <p:cNvSpPr/>
          <p:nvPr/>
        </p:nvSpPr>
        <p:spPr>
          <a:xfrm>
            <a:off x="6053328" y="2249424"/>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required CI checks</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ruff · TypeScript</a:t>
            </a:r>
            <a:endParaRPr lang="en-US" sz="1150" dirty="0"/>
          </a:p>
        </p:txBody>
      </p:sp>
      <p:sp>
        <p:nvSpPr>
          <p:cNvPr id="14" name="Shape 12"/>
          <p:cNvSpPr/>
          <p:nvPr/>
        </p:nvSpPr>
        <p:spPr>
          <a:xfrm>
            <a:off x="8659368" y="1536192"/>
            <a:ext cx="2468880" cy="1207008"/>
          </a:xfrm>
          <a:prstGeom prst="roundRect">
            <a:avLst>
              <a:gd name="adj" fmla="val 4545"/>
            </a:avLst>
          </a:prstGeom>
          <a:solidFill>
            <a:srgbClr val="F1F5F7"/>
          </a:solidFill>
          <a:ln w="12700">
            <a:solidFill>
              <a:srgbClr val="F1F5F7"/>
            </a:solidFill>
            <a:prstDash val="solid"/>
          </a:ln>
        </p:spPr>
      </p:sp>
      <p:sp>
        <p:nvSpPr>
          <p:cNvPr id="15" name="Text 13"/>
          <p:cNvSpPr/>
          <p:nvPr/>
        </p:nvSpPr>
        <p:spPr>
          <a:xfrm>
            <a:off x="8659368" y="1645920"/>
            <a:ext cx="2468880" cy="603504"/>
          </a:xfrm>
          <a:prstGeom prst="rect">
            <a:avLst/>
          </a:prstGeom>
          <a:noFill/>
          <a:ln/>
        </p:spPr>
        <p:txBody>
          <a:bodyPr wrap="square" rtlCol="0" anchor="ctr"/>
          <a:lstStyle/>
          <a:p>
            <a:pPr algn="ctr" indent="0" marL="0">
              <a:buNone/>
            </a:pPr>
            <a:r>
              <a:rPr lang="en-US" sz="3400" b="1" dirty="0">
                <a:solidFill>
                  <a:srgbClr val="489FB5"/>
                </a:solidFill>
                <a:latin typeface="Helvetica" pitchFamily="34" charset="0"/>
                <a:ea typeface="Helvetica" pitchFamily="34" charset="-122"/>
                <a:cs typeface="Helvetica" pitchFamily="34" charset="-120"/>
              </a:rPr>
              <a:t>0</a:t>
            </a:r>
            <a:endParaRPr lang="en-US" sz="3400" dirty="0"/>
          </a:p>
        </p:txBody>
      </p:sp>
      <p:sp>
        <p:nvSpPr>
          <p:cNvPr id="16" name="Text 14"/>
          <p:cNvSpPr/>
          <p:nvPr/>
        </p:nvSpPr>
        <p:spPr>
          <a:xfrm>
            <a:off x="8750808" y="2249424"/>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rules that rely</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on remembering</a:t>
            </a:r>
            <a:endParaRPr lang="en-US" sz="1150" dirty="0"/>
          </a:p>
        </p:txBody>
      </p:sp>
      <p:sp>
        <p:nvSpPr>
          <p:cNvPr id="17" name="Text 15"/>
          <p:cNvSpPr/>
          <p:nvPr/>
        </p:nvSpPr>
        <p:spPr>
          <a:xfrm>
            <a:off x="566928" y="2962656"/>
            <a:ext cx="5806440" cy="2926080"/>
          </a:xfrm>
          <a:prstGeom prst="rect">
            <a:avLst/>
          </a:prstGeom>
          <a:noFill/>
          <a:ln/>
        </p:spPr>
        <p:txBody>
          <a:bodyPr wrap="square" rtlCol="0" anchor="ctr"/>
          <a:lstStyle/>
          <a:p>
            <a:pPr marL="342900" indent="-342900">
              <a:lnSpc>
                <a:spcPct val="135000"/>
              </a:lnSpc>
              <a:buSzPct val="100000"/>
              <a:buChar char="•"/>
            </a:pPr>
            <a:r>
              <a:rPr lang="en-US" sz="1350" b="1" dirty="0">
                <a:solidFill>
                  <a:srgbClr val="1B1B1F"/>
                </a:solidFill>
                <a:latin typeface="Helvetica" pitchFamily="34" charset="0"/>
                <a:ea typeface="Helvetica" pitchFamily="34" charset="-122"/>
                <a:cs typeface="Helvetica" pitchFamily="34" charset="-120"/>
              </a:rPr>
              <a:t>A decision without its reasoning gets reversed by whoever forgets it.</a:t>
            </a:r>
            <a:endParaRPr lang="en-US" sz="1350" dirty="0"/>
          </a:p>
          <a:p>
            <a:pPr lvl="1" marL="508000" indent="-254000">
              <a:lnSpc>
                <a:spcPct val="135000"/>
              </a:lnSpc>
              <a:buSzPct val="100000"/>
              <a:buChar char="▪"/>
            </a:pPr>
            <a:r>
              <a:rPr lang="en-US" sz="1350" dirty="0">
                <a:solidFill>
                  <a:srgbClr val="1B1B1F"/>
                </a:solidFill>
                <a:latin typeface="Helvetica" pitchFamily="34" charset="0"/>
                <a:ea typeface="Helvetica" pitchFamily="34" charset="-122"/>
                <a:cs typeface="Helvetica" pitchFamily="34" charset="-120"/>
              </a:rPr>
              <a:t>D-005, the hard rule: geometry the camera did not see can never pass or fail a part — only trigger a Rescan. Enforced in the data format, with a test that fails the build if a report violates it.</a:t>
            </a:r>
            <a:endParaRPr lang="en-US" sz="1350" dirty="0"/>
          </a:p>
          <a:p>
            <a:pPr marL="342900" indent="-342900">
              <a:lnSpc>
                <a:spcPct val="135000"/>
              </a:lnSpc>
              <a:buSzPct val="100000"/>
              <a:buChar char="•"/>
            </a:pPr>
            <a:r>
              <a:rPr lang="en-US" sz="1350" b="1" dirty="0">
                <a:solidFill>
                  <a:srgbClr val="1B1B1F"/>
                </a:solidFill>
                <a:latin typeface="Helvetica" pitchFamily="34" charset="0"/>
                <a:ea typeface="Helvetica" pitchFamily="34" charset="-122"/>
                <a:cs typeface="Helvetica" pitchFamily="34" charset="-120"/>
              </a:rPr>
              <a:t>Where a rule could be a script, it is a script.</a:t>
            </a:r>
            <a:endParaRPr lang="en-US" sz="1350" dirty="0"/>
          </a:p>
          <a:p>
            <a:pPr lvl="1" marL="508000" indent="-254000">
              <a:lnSpc>
                <a:spcPct val="135000"/>
              </a:lnSpc>
              <a:buSzPct val="100000"/>
              <a:buChar char="▪"/>
            </a:pPr>
            <a:r>
              <a:rPr lang="en-US" sz="1350" dirty="0">
                <a:solidFill>
                  <a:srgbClr val="1B1B1F"/>
                </a:solidFill>
                <a:latin typeface="Helvetica" pitchFamily="34" charset="0"/>
                <a:ea typeface="Helvetica" pitchFamily="34" charset="-122"/>
                <a:cs typeface="Helvetica" pitchFamily="34" charset="-120"/>
              </a:rPr>
              <a:t>A checklist raises the odds a person does the right thing; it does not verify they did.</a:t>
            </a:r>
            <a:endParaRPr lang="en-US" sz="1350" dirty="0"/>
          </a:p>
          <a:p>
            <a:pPr marL="342900" indent="-342900">
              <a:lnSpc>
                <a:spcPct val="135000"/>
              </a:lnSpc>
              <a:buSzPct val="100000"/>
              <a:buChar char="•"/>
            </a:pPr>
            <a:r>
              <a:rPr lang="en-US" sz="1350" b="1" dirty="0">
                <a:solidFill>
                  <a:srgbClr val="1B1B1F"/>
                </a:solidFill>
                <a:latin typeface="Helvetica" pitchFamily="34" charset="0"/>
                <a:ea typeface="Helvetica" pitchFamily="34" charset="-122"/>
                <a:cs typeface="Helvetica" pitchFamily="34" charset="-120"/>
              </a:rPr>
              <a:t>Tests are written during implementation — a joint obligation.</a:t>
            </a:r>
            <a:endParaRPr lang="en-US" sz="1350" dirty="0"/>
          </a:p>
          <a:p>
            <a:pPr lvl="1" marL="508000" indent="-254000">
              <a:lnSpc>
                <a:spcPct val="135000"/>
              </a:lnSpc>
              <a:buSzPct val="100000"/>
              <a:buChar char="▪"/>
            </a:pPr>
            <a:r>
              <a:rPr lang="en-US" sz="1350" dirty="0">
                <a:solidFill>
                  <a:srgbClr val="1B1B1F"/>
                </a:solidFill>
                <a:latin typeface="Helvetica" pitchFamily="34" charset="0"/>
                <a:ea typeface="Helvetica" pitchFamily="34" charset="-122"/>
                <a:cs typeface="Helvetica" pitchFamily="34" charset="-120"/>
              </a:rPr>
              <a:t>Engineer and AI assistant both. Never deferred to a follow-up story.</a:t>
            </a:r>
            <a:endParaRPr lang="en-US" sz="1350" dirty="0"/>
          </a:p>
        </p:txBody>
      </p:sp>
      <p:sp>
        <p:nvSpPr>
          <p:cNvPr id="18" name="Shape 16"/>
          <p:cNvSpPr/>
          <p:nvPr/>
        </p:nvSpPr>
        <p:spPr>
          <a:xfrm>
            <a:off x="6688836" y="2985516"/>
            <a:ext cx="4965192" cy="2313432"/>
          </a:xfrm>
          <a:prstGeom prst="rect">
            <a:avLst/>
          </a:prstGeom>
          <a:solidFill>
            <a:srgbClr val="E6ECF0"/>
          </a:solidFill>
          <a:ln w="9525">
            <a:solidFill>
              <a:srgbClr val="D3DCE3"/>
            </a:solidFill>
            <a:prstDash val="solid"/>
          </a:ln>
        </p:spPr>
      </p:sp>
      <p:pic>
        <p:nvPicPr>
          <p:cNvPr id="19" name="Image 0" descr="/Users/tabeenraoof/Desktop/SFBU/semester04/CS595/ProofShape/submissions/assets/2026-09-18/dod-checklist.jpg">    </p:cNvPr>
          <p:cNvPicPr>
            <a:picLocks noChangeAspect="1"/>
          </p:cNvPicPr>
          <p:nvPr/>
        </p:nvPicPr>
        <p:blipFill>
          <a:blip r:embed="rId1"/>
          <a:stretch>
            <a:fillRect/>
          </a:stretch>
        </p:blipFill>
        <p:spPr>
          <a:xfrm>
            <a:off x="6720840" y="3017520"/>
            <a:ext cx="4901184" cy="2249424"/>
          </a:xfrm>
          <a:prstGeom prst="rect">
            <a:avLst/>
          </a:prstGeom>
        </p:spPr>
      </p:pic>
      <p:sp>
        <p:nvSpPr>
          <p:cNvPr id="20" name="Text 17"/>
          <p:cNvSpPr/>
          <p:nvPr/>
        </p:nvSpPr>
        <p:spPr>
          <a:xfrm>
            <a:off x="6688836" y="5349240"/>
            <a:ext cx="4965192"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The definition-of-done checklist on a live pull request — unticked boxes are the point. This one is held open because D-031 requires both other members to approve a change to the file that rule itself governs.</a:t>
            </a:r>
            <a:endParaRPr lang="en-US" sz="1050" dirty="0"/>
          </a:p>
        </p:txBody>
      </p:sp>
      <p:sp>
        <p:nvSpPr>
          <p:cNvPr id="21" name="Text 18"/>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22" name="Text 19"/>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1</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What we said we would do</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Text 3"/>
          <p:cNvSpPr/>
          <p:nvPr/>
        </p:nvSpPr>
        <p:spPr>
          <a:xfrm>
            <a:off x="566928" y="1600200"/>
            <a:ext cx="11055096" cy="4206240"/>
          </a:xfrm>
          <a:prstGeom prst="rect">
            <a:avLst/>
          </a:prstGeom>
          <a:noFill/>
          <a:ln/>
        </p:spPr>
        <p:txBody>
          <a:bodyPr wrap="square" rtlCol="0" anchor="ctr"/>
          <a:lstStyle/>
          <a:p>
            <a:pPr marL="342900" indent="-342900">
              <a:lnSpc>
                <a:spcPct val="135000"/>
              </a:lnSpc>
              <a:buSzPct val="100000"/>
              <a:buChar char="•"/>
            </a:pPr>
            <a:r>
              <a:rPr lang="en-US" sz="1600" b="1" dirty="0">
                <a:solidFill>
                  <a:srgbClr val="1B1B1F"/>
                </a:solidFill>
                <a:latin typeface="Helvetica" pitchFamily="34" charset="0"/>
                <a:ea typeface="Helvetica" pitchFamily="34" charset="-122"/>
                <a:cs typeface="Helvetica" pitchFamily="34" charset="-120"/>
              </a:rPr>
              <a:t>From the proposal, presented 5 September:</a:t>
            </a:r>
            <a:endParaRPr lang="en-US" sz="1600" dirty="0"/>
          </a:p>
          <a:p>
            <a:pPr lvl="1" marL="508000" indent="-254000">
              <a:lnSpc>
                <a:spcPct val="135000"/>
              </a:lnSpc>
              <a:buSzPct val="100000"/>
              <a:buChar char="▪"/>
            </a:pPr>
            <a:r>
              <a:rPr lang="en-US" sz="1600" dirty="0">
                <a:solidFill>
                  <a:srgbClr val="1B1B1F"/>
                </a:solidFill>
                <a:latin typeface="Helvetica" pitchFamily="34" charset="0"/>
                <a:ea typeface="Helvetica" pitchFamily="34" charset="-122"/>
                <a:cs typeface="Helvetica" pitchFamily="34" charset="-120"/>
              </a:rPr>
              <a:t>Tier 1 — photos in, metric 3D model out. Never cut.</a:t>
            </a:r>
            <a:endParaRPr lang="en-US" sz="1600" dirty="0"/>
          </a:p>
          <a:p>
            <a:pPr lvl="1" marL="508000" indent="-254000">
              <a:lnSpc>
                <a:spcPct val="135000"/>
              </a:lnSpc>
              <a:buSzPct val="100000"/>
              <a:buChar char="▪"/>
            </a:pPr>
            <a:r>
              <a:rPr lang="en-US" sz="1600" dirty="0">
                <a:solidFill>
                  <a:srgbClr val="1B1B1F"/>
                </a:solidFill>
                <a:latin typeface="Helvetica" pitchFamily="34" charset="0"/>
                <a:ea typeface="Helvetica" pitchFamily="34" charset="-122"/>
                <a:cs typeface="Helvetica" pitchFamily="34" charset="-120"/>
              </a:rPr>
              <a:t>Tier 2 — CAD alignment, deviation heatmap, Pass / Fail / Rescan / Unverifiable verdict.</a:t>
            </a:r>
            <a:endParaRPr lang="en-US" sz="1600" dirty="0"/>
          </a:p>
          <a:p>
            <a:pPr lvl="1" marL="508000" indent="-254000">
              <a:lnSpc>
                <a:spcPct val="135000"/>
              </a:lnSpc>
              <a:buSzPct val="100000"/>
              <a:buChar char="▪"/>
            </a:pPr>
            <a:r>
              <a:rPr lang="en-US" sz="1600" dirty="0">
                <a:solidFill>
                  <a:srgbClr val="1B1B1F"/>
                </a:solidFill>
                <a:latin typeface="Helvetica" pitchFamily="34" charset="0"/>
                <a:ea typeface="Helvetica" pitchFamily="34" charset="-122"/>
                <a:cs typeface="Helvetica" pitchFamily="34" charset="-120"/>
              </a:rPr>
              <a:t>Tier 3 — stretch. Generative-AI components are never cut, regardless of tier.</a:t>
            </a:r>
            <a:endParaRPr lang="en-US" sz="1600" dirty="0"/>
          </a:p>
          <a:p>
            <a:pPr marL="342900" indent="-342900">
              <a:lnSpc>
                <a:spcPct val="135000"/>
              </a:lnSpc>
              <a:buSzPct val="100000"/>
              <a:buChar char="•"/>
            </a:pPr>
            <a:r>
              <a:rPr lang="en-US" sz="1600" b="1" dirty="0">
                <a:solidFill>
                  <a:srgbClr val="1B1B1F"/>
                </a:solidFill>
                <a:latin typeface="Helvetica" pitchFamily="34" charset="0"/>
                <a:ea typeface="Helvetica" pitchFamily="34" charset="-122"/>
                <a:cs typeface="Helvetica" pitchFamily="34" charset="-120"/>
              </a:rPr>
              <a:t>Three people × ~9 h/week × ~13 weeks ≈ 349 person-hours.</a:t>
            </a:r>
            <a:endParaRPr lang="en-US" sz="1600" dirty="0"/>
          </a:p>
          <a:p>
            <a:pPr lvl="1" marL="508000" indent="-254000">
              <a:lnSpc>
                <a:spcPct val="135000"/>
              </a:lnSpc>
              <a:buSzPct val="100000"/>
              <a:buChar char="▪"/>
            </a:pPr>
            <a:r>
              <a:rPr lang="en-US" sz="1600" dirty="0">
                <a:solidFill>
                  <a:srgbClr val="1B1B1F"/>
                </a:solidFill>
                <a:latin typeface="Helvetica" pitchFamily="34" charset="0"/>
                <a:ea typeface="Helvetica" pitchFamily="34" charset="-122"/>
                <a:cs typeface="Helvetica" pitchFamily="34" charset="-120"/>
              </a:rPr>
              <a:t>Nine sprints, gates M0–M8, seven graded reviews.</a:t>
            </a:r>
            <a:endParaRPr lang="en-US" sz="1600" dirty="0"/>
          </a:p>
          <a:p>
            <a:pPr marL="342900" indent="-342900">
              <a:lnSpc>
                <a:spcPct val="135000"/>
              </a:lnSpc>
              <a:buSzPct val="100000"/>
              <a:buChar char="•"/>
            </a:pPr>
            <a:r>
              <a:rPr lang="en-US" sz="1600" b="1" dirty="0">
                <a:solidFill>
                  <a:srgbClr val="1B1B1F"/>
                </a:solidFill>
                <a:latin typeface="Helvetica" pitchFamily="34" charset="0"/>
                <a:ea typeface="Helvetica" pitchFamily="34" charset="-122"/>
                <a:cs typeface="Helvetica" pitchFamily="34" charset="-120"/>
              </a:rPr>
              <a:t>For this first stretch specifically: stand up the repository, freeze the interface, get CI running, provision the GPU, and shoot the golden capture set.</a:t>
            </a:r>
            <a:endParaRPr lang="en-US" sz="1600" dirty="0"/>
          </a:p>
        </p:txBody>
      </p:sp>
      <p:sp>
        <p:nvSpPr>
          <p:cNvPr id="6" name="Text 4"/>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7" name="Text 5"/>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2 · THE NUMBERS</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What works now</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566928" y="1554480"/>
            <a:ext cx="2468880" cy="1207008"/>
          </a:xfrm>
          <a:prstGeom prst="roundRect">
            <a:avLst>
              <a:gd name="adj" fmla="val 4545"/>
            </a:avLst>
          </a:prstGeom>
          <a:solidFill>
            <a:srgbClr val="F1F5F7"/>
          </a:solidFill>
          <a:ln w="12700">
            <a:solidFill>
              <a:srgbClr val="F1F5F7"/>
            </a:solidFill>
            <a:prstDash val="solid"/>
          </a:ln>
        </p:spPr>
      </p:sp>
      <p:sp>
        <p:nvSpPr>
          <p:cNvPr id="6" name="Text 4"/>
          <p:cNvSpPr/>
          <p:nvPr/>
        </p:nvSpPr>
        <p:spPr>
          <a:xfrm>
            <a:off x="566928" y="1664208"/>
            <a:ext cx="2468880" cy="603504"/>
          </a:xfrm>
          <a:prstGeom prst="rect">
            <a:avLst/>
          </a:prstGeom>
          <a:noFill/>
          <a:ln/>
        </p:spPr>
        <p:txBody>
          <a:bodyPr wrap="square" rtlCol="0" anchor="ctr"/>
          <a:lstStyle/>
          <a:p>
            <a:pPr algn="ctr" indent="0" marL="0">
              <a:buNone/>
            </a:pPr>
            <a:r>
              <a:rPr lang="en-US" sz="3400" b="1" dirty="0">
                <a:solidFill>
                  <a:srgbClr val="15803D"/>
                </a:solidFill>
                <a:latin typeface="Helvetica" pitchFamily="34" charset="0"/>
                <a:ea typeface="Helvetica" pitchFamily="34" charset="-122"/>
                <a:cs typeface="Helvetica" pitchFamily="34" charset="-120"/>
              </a:rPr>
              <a:t>4 / 7</a:t>
            </a:r>
            <a:endParaRPr lang="en-US" sz="3400" dirty="0"/>
          </a:p>
        </p:txBody>
      </p:sp>
      <p:sp>
        <p:nvSpPr>
          <p:cNvPr id="7" name="Text 5"/>
          <p:cNvSpPr/>
          <p:nvPr/>
        </p:nvSpPr>
        <p:spPr>
          <a:xfrm>
            <a:off x="658368" y="2267712"/>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foundation stories Done</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merged, reviewed, tested</a:t>
            </a:r>
            <a:endParaRPr lang="en-US" sz="1150" dirty="0"/>
          </a:p>
        </p:txBody>
      </p:sp>
      <p:sp>
        <p:nvSpPr>
          <p:cNvPr id="8" name="Shape 6"/>
          <p:cNvSpPr/>
          <p:nvPr/>
        </p:nvSpPr>
        <p:spPr>
          <a:xfrm>
            <a:off x="3264408" y="1554480"/>
            <a:ext cx="2468880" cy="1207008"/>
          </a:xfrm>
          <a:prstGeom prst="roundRect">
            <a:avLst>
              <a:gd name="adj" fmla="val 4545"/>
            </a:avLst>
          </a:prstGeom>
          <a:solidFill>
            <a:srgbClr val="F1F5F7"/>
          </a:solidFill>
          <a:ln w="12700">
            <a:solidFill>
              <a:srgbClr val="F1F5F7"/>
            </a:solidFill>
            <a:prstDash val="solid"/>
          </a:ln>
        </p:spPr>
      </p:sp>
      <p:sp>
        <p:nvSpPr>
          <p:cNvPr id="9" name="Text 7"/>
          <p:cNvSpPr/>
          <p:nvPr/>
        </p:nvSpPr>
        <p:spPr>
          <a:xfrm>
            <a:off x="3264408" y="1664208"/>
            <a:ext cx="2468880" cy="603504"/>
          </a:xfrm>
          <a:prstGeom prst="rect">
            <a:avLst/>
          </a:prstGeom>
          <a:noFill/>
          <a:ln/>
        </p:spPr>
        <p:txBody>
          <a:bodyPr wrap="square" rtlCol="0" anchor="ctr"/>
          <a:lstStyle/>
          <a:p>
            <a:pPr algn="ctr" indent="0" marL="0">
              <a:buNone/>
            </a:pPr>
            <a:r>
              <a:rPr lang="en-US" sz="3400" b="1" dirty="0">
                <a:solidFill>
                  <a:srgbClr val="16697A"/>
                </a:solidFill>
                <a:latin typeface="Helvetica" pitchFamily="34" charset="0"/>
                <a:ea typeface="Helvetica" pitchFamily="34" charset="-122"/>
                <a:cs typeface="Helvetica" pitchFamily="34" charset="-120"/>
              </a:rPr>
              <a:t>19</a:t>
            </a:r>
            <a:endParaRPr lang="en-US" sz="3400" dirty="0"/>
          </a:p>
        </p:txBody>
      </p:sp>
      <p:sp>
        <p:nvSpPr>
          <p:cNvPr id="10" name="Text 8"/>
          <p:cNvSpPr/>
          <p:nvPr/>
        </p:nvSpPr>
        <p:spPr>
          <a:xfrm>
            <a:off x="3355848" y="2267712"/>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pull requests opened</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15 merged · 2 closed · 2 open</a:t>
            </a:r>
            <a:endParaRPr lang="en-US" sz="1150" dirty="0"/>
          </a:p>
        </p:txBody>
      </p:sp>
      <p:sp>
        <p:nvSpPr>
          <p:cNvPr id="11" name="Shape 9"/>
          <p:cNvSpPr/>
          <p:nvPr/>
        </p:nvSpPr>
        <p:spPr>
          <a:xfrm>
            <a:off x="5961888" y="1554480"/>
            <a:ext cx="2468880" cy="1207008"/>
          </a:xfrm>
          <a:prstGeom prst="roundRect">
            <a:avLst>
              <a:gd name="adj" fmla="val 4545"/>
            </a:avLst>
          </a:prstGeom>
          <a:solidFill>
            <a:srgbClr val="F1F5F7"/>
          </a:solidFill>
          <a:ln w="12700">
            <a:solidFill>
              <a:srgbClr val="F1F5F7"/>
            </a:solidFill>
            <a:prstDash val="solid"/>
          </a:ln>
        </p:spPr>
      </p:sp>
      <p:sp>
        <p:nvSpPr>
          <p:cNvPr id="12" name="Text 10"/>
          <p:cNvSpPr/>
          <p:nvPr/>
        </p:nvSpPr>
        <p:spPr>
          <a:xfrm>
            <a:off x="5961888" y="1664208"/>
            <a:ext cx="2468880" cy="603504"/>
          </a:xfrm>
          <a:prstGeom prst="rect">
            <a:avLst/>
          </a:prstGeom>
          <a:noFill/>
          <a:ln/>
        </p:spPr>
        <p:txBody>
          <a:bodyPr wrap="square" rtlCol="0" anchor="ctr"/>
          <a:lstStyle/>
          <a:p>
            <a:pPr algn="ctr" indent="0" marL="0">
              <a:buNone/>
            </a:pPr>
            <a:r>
              <a:rPr lang="en-US" sz="3400" b="1" dirty="0">
                <a:solidFill>
                  <a:srgbClr val="489FB5"/>
                </a:solidFill>
                <a:latin typeface="Helvetica" pitchFamily="34" charset="0"/>
                <a:ea typeface="Helvetica" pitchFamily="34" charset="-122"/>
                <a:cs typeface="Helvetica" pitchFamily="34" charset="-120"/>
              </a:rPr>
              <a:t>2</a:t>
            </a:r>
            <a:endParaRPr lang="en-US" sz="3400" dirty="0"/>
          </a:p>
        </p:txBody>
      </p:sp>
      <p:sp>
        <p:nvSpPr>
          <p:cNvPr id="13" name="Text 11"/>
          <p:cNvSpPr/>
          <p:nvPr/>
        </p:nvSpPr>
        <p:spPr>
          <a:xfrm>
            <a:off x="6053328" y="2267712"/>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stories in flight</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GPU pod · golden capture</a:t>
            </a:r>
            <a:endParaRPr lang="en-US" sz="1150" dirty="0"/>
          </a:p>
        </p:txBody>
      </p:sp>
      <p:sp>
        <p:nvSpPr>
          <p:cNvPr id="14" name="Shape 12"/>
          <p:cNvSpPr/>
          <p:nvPr/>
        </p:nvSpPr>
        <p:spPr>
          <a:xfrm>
            <a:off x="8659368" y="1554480"/>
            <a:ext cx="2468880" cy="1207008"/>
          </a:xfrm>
          <a:prstGeom prst="roundRect">
            <a:avLst>
              <a:gd name="adj" fmla="val 4545"/>
            </a:avLst>
          </a:prstGeom>
          <a:solidFill>
            <a:srgbClr val="F1F5F7"/>
          </a:solidFill>
          <a:ln w="12700">
            <a:solidFill>
              <a:srgbClr val="F1F5F7"/>
            </a:solidFill>
            <a:prstDash val="solid"/>
          </a:ln>
        </p:spPr>
      </p:sp>
      <p:sp>
        <p:nvSpPr>
          <p:cNvPr id="15" name="Text 13"/>
          <p:cNvSpPr/>
          <p:nvPr/>
        </p:nvSpPr>
        <p:spPr>
          <a:xfrm>
            <a:off x="8659368" y="1664208"/>
            <a:ext cx="2468880" cy="603504"/>
          </a:xfrm>
          <a:prstGeom prst="rect">
            <a:avLst/>
          </a:prstGeom>
          <a:noFill/>
          <a:ln/>
        </p:spPr>
        <p:txBody>
          <a:bodyPr wrap="square" rtlCol="0" anchor="ctr"/>
          <a:lstStyle/>
          <a:p>
            <a:pPr algn="ctr" indent="0" marL="0">
              <a:buNone/>
            </a:pPr>
            <a:r>
              <a:rPr lang="en-US" sz="3400" b="1" dirty="0">
                <a:solidFill>
                  <a:srgbClr val="15803D"/>
                </a:solidFill>
                <a:latin typeface="Helvetica" pitchFamily="34" charset="0"/>
                <a:ea typeface="Helvetica" pitchFamily="34" charset="-122"/>
                <a:cs typeface="Helvetica" pitchFamily="34" charset="-120"/>
              </a:rPr>
              <a:t>13</a:t>
            </a:r>
            <a:endParaRPr lang="en-US" sz="3400" dirty="0"/>
          </a:p>
        </p:txBody>
      </p:sp>
      <p:sp>
        <p:nvSpPr>
          <p:cNvPr id="16" name="Text 14"/>
          <p:cNvSpPr/>
          <p:nvPr/>
        </p:nvSpPr>
        <p:spPr>
          <a:xfrm>
            <a:off x="8750808" y="2267712"/>
            <a:ext cx="2286000" cy="402336"/>
          </a:xfrm>
          <a:prstGeom prst="rect">
            <a:avLst/>
          </a:prstGeom>
          <a:noFill/>
          <a:ln/>
        </p:spPr>
        <p:txBody>
          <a:bodyPr wrap="square" rtlCol="0" anchor="ctr"/>
          <a:lstStyle/>
          <a:p>
            <a:pPr algn="ctr" indent="0" marL="0">
              <a:buNone/>
            </a:pPr>
            <a:r>
              <a:rPr lang="en-US" sz="1150" dirty="0">
                <a:solidFill>
                  <a:srgbClr val="6B7280"/>
                </a:solidFill>
                <a:latin typeface="Helvetica" pitchFamily="34" charset="0"/>
                <a:ea typeface="Helvetica" pitchFamily="34" charset="-122"/>
                <a:cs typeface="Helvetica" pitchFamily="34" charset="-120"/>
              </a:rPr>
              <a:t>tests green</a:t>
            </a:r>
            <a:endParaRPr lang="en-US" sz="1150" dirty="0"/>
          </a:p>
          <a:p>
            <a:pPr algn="ctr" indent="0" marL="0">
              <a:buNone/>
            </a:pPr>
            <a:r>
              <a:rPr lang="en-US" sz="1150" dirty="0">
                <a:solidFill>
                  <a:srgbClr val="6B7280"/>
                </a:solidFill>
                <a:latin typeface="Helvetica" pitchFamily="34" charset="0"/>
                <a:ea typeface="Helvetica" pitchFamily="34" charset="-122"/>
                <a:cs typeface="Helvetica" pitchFamily="34" charset="-120"/>
              </a:rPr>
              <a:t>on every PR</a:t>
            </a:r>
            <a:endParaRPr lang="en-US" sz="1150" dirty="0"/>
          </a:p>
        </p:txBody>
      </p:sp>
      <p:sp>
        <p:nvSpPr>
          <p:cNvPr id="17" name="Text 15"/>
          <p:cNvSpPr/>
          <p:nvPr/>
        </p:nvSpPr>
        <p:spPr>
          <a:xfrm>
            <a:off x="566928" y="3017520"/>
            <a:ext cx="5486400" cy="329184"/>
          </a:xfrm>
          <a:prstGeom prst="rect">
            <a:avLst/>
          </a:prstGeom>
          <a:noFill/>
          <a:ln/>
        </p:spPr>
        <p:txBody>
          <a:bodyPr wrap="square" rtlCol="0" anchor="ctr"/>
          <a:lstStyle/>
          <a:p>
            <a:pPr indent="0" marL="0">
              <a:buNone/>
            </a:pPr>
            <a:r>
              <a:rPr lang="en-US" sz="1700" b="1" dirty="0">
                <a:solidFill>
                  <a:srgbClr val="16697A"/>
                </a:solidFill>
                <a:latin typeface="Helvetica" pitchFamily="34" charset="0"/>
                <a:ea typeface="Helvetica" pitchFamily="34" charset="-122"/>
                <a:cs typeface="Helvetica" pitchFamily="34" charset="-120"/>
              </a:rPr>
              <a:t>Demonstrable today</a:t>
            </a:r>
            <a:endParaRPr lang="en-US" sz="1700" dirty="0"/>
          </a:p>
        </p:txBody>
      </p:sp>
      <p:sp>
        <p:nvSpPr>
          <p:cNvPr id="18" name="Text 16"/>
          <p:cNvSpPr/>
          <p:nvPr/>
        </p:nvSpPr>
        <p:spPr>
          <a:xfrm>
            <a:off x="566928" y="3438144"/>
            <a:ext cx="11055096" cy="2194560"/>
          </a:xfrm>
          <a:prstGeom prst="rect">
            <a:avLst/>
          </a:prstGeom>
          <a:noFill/>
          <a:ln/>
        </p:spPr>
        <p:txBody>
          <a:bodyPr wrap="square" rtlCol="0" anchor="ctr"/>
          <a:lstStyle/>
          <a:p>
            <a:pPr marL="342900" indent="-342900">
              <a:lnSpc>
                <a:spcPct val="135000"/>
              </a:lnSpc>
              <a:buSzPct val="100000"/>
              <a:buChar char="•"/>
            </a:pPr>
            <a:r>
              <a:rPr lang="en-US" sz="1450" dirty="0">
                <a:solidFill>
                  <a:srgbClr val="1B1B1F"/>
                </a:solidFill>
                <a:latin typeface="Helvetica" pitchFamily="34" charset="0"/>
                <a:ea typeface="Helvetica" pitchFamily="34" charset="-122"/>
                <a:cs typeface="Helvetica" pitchFamily="34" charset="-120"/>
              </a:rPr>
              <a:t>The public repository, with all eight protection gates proven by trying to break them.</a:t>
            </a:r>
            <a:endParaRPr lang="en-US" sz="1450" dirty="0"/>
          </a:p>
          <a:p>
            <a:pPr marL="342900" indent="-342900">
              <a:lnSpc>
                <a:spcPct val="135000"/>
              </a:lnSpc>
              <a:buSzPct val="100000"/>
              <a:buChar char="•"/>
            </a:pPr>
            <a:r>
              <a:rPr lang="en-US" sz="1450" dirty="0">
                <a:solidFill>
                  <a:srgbClr val="1B1B1F"/>
                </a:solidFill>
                <a:latin typeface="Helvetica" pitchFamily="34" charset="0"/>
                <a:ea typeface="Helvetica" pitchFamily="34" charset="-122"/>
                <a:cs typeface="Helvetica" pitchFamily="34" charset="-120"/>
              </a:rPr>
              <a:t>CI running on every pull request — a lint failure now blocks a merge.</a:t>
            </a:r>
            <a:endParaRPr lang="en-US" sz="1450" dirty="0"/>
          </a:p>
          <a:p>
            <a:pPr marL="342900" indent="-342900">
              <a:lnSpc>
                <a:spcPct val="135000"/>
              </a:lnSpc>
              <a:buSzPct val="100000"/>
              <a:buChar char="•"/>
            </a:pPr>
            <a:r>
              <a:rPr lang="en-US" sz="1450" dirty="0">
                <a:solidFill>
                  <a:srgbClr val="1B1B1F"/>
                </a:solidFill>
                <a:latin typeface="Helvetica" pitchFamily="34" charset="0"/>
                <a:ea typeface="Helvetica" pitchFamily="34" charset="-122"/>
                <a:cs typeface="Helvetica" pitchFamily="34" charset="-120"/>
              </a:rPr>
              <a:t>The frozen interface contract, with 13 tests, including one that enforces the hard rule.</a:t>
            </a:r>
            <a:endParaRPr lang="en-US" sz="1450" dirty="0"/>
          </a:p>
          <a:p>
            <a:pPr marL="342900" indent="-342900">
              <a:lnSpc>
                <a:spcPct val="135000"/>
              </a:lnSpc>
              <a:buSzPct val="100000"/>
              <a:buChar char="•"/>
            </a:pPr>
            <a:r>
              <a:rPr lang="en-US" sz="1450" dirty="0">
                <a:solidFill>
                  <a:srgbClr val="1B1B1F"/>
                </a:solidFill>
                <a:latin typeface="Helvetica" pitchFamily="34" charset="0"/>
                <a:ea typeface="Helvetica" pitchFamily="34" charset="-122"/>
                <a:cs typeface="Helvetica" pitchFamily="34" charset="-120"/>
              </a:rPr>
              <a:t>The printed ChArUco reference board, verified at 100% scale with calipers.</a:t>
            </a:r>
            <a:endParaRPr lang="en-US" sz="1450" dirty="0"/>
          </a:p>
          <a:p>
            <a:pPr marL="342900" indent="-342900">
              <a:lnSpc>
                <a:spcPct val="135000"/>
              </a:lnSpc>
              <a:buSzPct val="100000"/>
              <a:buChar char="•"/>
            </a:pPr>
            <a:r>
              <a:rPr lang="en-US" sz="1450" dirty="0">
                <a:solidFill>
                  <a:srgbClr val="1B1B1F"/>
                </a:solidFill>
                <a:latin typeface="Helvetica" pitchFamily="34" charset="0"/>
                <a:ea typeface="Helvetica" pitchFamily="34" charset="-122"/>
                <a:cs typeface="Helvetica" pitchFamily="34" charset="-120"/>
              </a:rPr>
              <a:t>Three golden-capture sessions shot: two objects, two lighting conditions, 79 frames.</a:t>
            </a:r>
            <a:endParaRPr lang="en-US" sz="1450" dirty="0"/>
          </a:p>
        </p:txBody>
      </p:sp>
      <p:sp>
        <p:nvSpPr>
          <p:cNvPr id="19" name="Text 17"/>
          <p:cNvSpPr/>
          <p:nvPr/>
        </p:nvSpPr>
        <p:spPr>
          <a:xfrm>
            <a:off x="566928" y="5742432"/>
            <a:ext cx="11055096" cy="365760"/>
          </a:xfrm>
          <a:prstGeom prst="rect">
            <a:avLst/>
          </a:prstGeom>
          <a:noFill/>
          <a:ln/>
        </p:spPr>
        <p:txBody>
          <a:bodyPr wrap="square" rtlCol="0" anchor="ctr"/>
          <a:lstStyle/>
          <a:p>
            <a:pPr indent="0" marL="0">
              <a:buNone/>
            </a:pPr>
            <a:r>
              <a:rPr lang="en-US" sz="1350" b="1" dirty="0">
                <a:solidFill>
                  <a:srgbClr val="B45309"/>
                </a:solidFill>
                <a:latin typeface="Helvetica" pitchFamily="34" charset="0"/>
                <a:ea typeface="Helvetica" pitchFamily="34" charset="-122"/>
                <a:cs typeface="Helvetica" pitchFamily="34" charset="-120"/>
              </a:rPr>
              <a:t>No runnable reconstruction pipeline yet — that is honest, and it is what the next two weeks are for.</a:t>
            </a:r>
            <a:endParaRPr lang="en-US" sz="1350" dirty="0"/>
          </a:p>
        </p:txBody>
      </p:sp>
      <p:sp>
        <p:nvSpPr>
          <p:cNvPr id="20" name="Text 18"/>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21" name="Text 19"/>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2 · EVIDENCE, NOT CLAIMS</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The parts that are real today</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534924" y="1595628"/>
            <a:ext cx="5550408" cy="2852928"/>
          </a:xfrm>
          <a:prstGeom prst="rect">
            <a:avLst/>
          </a:prstGeom>
          <a:solidFill>
            <a:srgbClr val="E6ECF0"/>
          </a:solidFill>
          <a:ln w="9525">
            <a:solidFill>
              <a:srgbClr val="D3DCE3"/>
            </a:solidFill>
            <a:prstDash val="solid"/>
          </a:ln>
        </p:spPr>
      </p:sp>
      <p:pic>
        <p:nvPicPr>
          <p:cNvPr id="6" name="Image 0" descr="/Users/tabeenraoof/Desktop/SFBU/semester04/CS595/ProofShape/submissions/assets/2026-09-18/gpu-smoke-test-pass.jpg">    </p:cNvPr>
          <p:cNvPicPr>
            <a:picLocks noChangeAspect="1"/>
          </p:cNvPicPr>
          <p:nvPr/>
        </p:nvPicPr>
        <p:blipFill>
          <a:blip r:embed="rId1"/>
          <a:stretch>
            <a:fillRect/>
          </a:stretch>
        </p:blipFill>
        <p:spPr>
          <a:xfrm>
            <a:off x="566928" y="1627632"/>
            <a:ext cx="5486400" cy="2788920"/>
          </a:xfrm>
          <a:prstGeom prst="rect">
            <a:avLst/>
          </a:prstGeom>
        </p:spPr>
      </p:pic>
      <p:sp>
        <p:nvSpPr>
          <p:cNvPr id="7" name="Text 4"/>
          <p:cNvSpPr/>
          <p:nvPr/>
        </p:nvSpPr>
        <p:spPr>
          <a:xfrm>
            <a:off x="534924" y="4498848"/>
            <a:ext cx="5550408"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GPU workspace running the shared smoke test: Tesla T4, PyTorch 2.8.0+cu128, CUDA available, GPU CHECK: PASS.</a:t>
            </a:r>
            <a:endParaRPr lang="en-US" sz="1050" dirty="0"/>
          </a:p>
        </p:txBody>
      </p:sp>
      <p:sp>
        <p:nvSpPr>
          <p:cNvPr id="8" name="Shape 5"/>
          <p:cNvSpPr/>
          <p:nvPr/>
        </p:nvSpPr>
        <p:spPr>
          <a:xfrm>
            <a:off x="6368796" y="1595628"/>
            <a:ext cx="5285232" cy="2852928"/>
          </a:xfrm>
          <a:prstGeom prst="rect">
            <a:avLst/>
          </a:prstGeom>
          <a:solidFill>
            <a:srgbClr val="E6ECF0"/>
          </a:solidFill>
          <a:ln w="9525">
            <a:solidFill>
              <a:srgbClr val="D3DCE3"/>
            </a:solidFill>
            <a:prstDash val="solid"/>
          </a:ln>
        </p:spPr>
      </p:sp>
      <p:pic>
        <p:nvPicPr>
          <p:cNvPr id="9" name="Image 1" descr="/Users/tabeenraoof/Desktop/SFBU/semester04/CS595/ProofShape/submissions/assets/2026-09-18/golden-capture-lock.jpg">    </p:cNvPr>
          <p:cNvPicPr>
            <a:picLocks noChangeAspect="1"/>
          </p:cNvPicPr>
          <p:nvPr/>
        </p:nvPicPr>
        <p:blipFill>
          <a:blip r:embed="rId2"/>
          <a:stretch>
            <a:fillRect/>
          </a:stretch>
        </p:blipFill>
        <p:spPr>
          <a:xfrm>
            <a:off x="6400800" y="1627632"/>
            <a:ext cx="5221224" cy="2788920"/>
          </a:xfrm>
          <a:prstGeom prst="rect">
            <a:avLst/>
          </a:prstGeom>
        </p:spPr>
      </p:pic>
      <p:sp>
        <p:nvSpPr>
          <p:cNvPr id="10" name="Text 6"/>
          <p:cNvSpPr/>
          <p:nvPr/>
        </p:nvSpPr>
        <p:spPr>
          <a:xfrm>
            <a:off x="6368796" y="4498848"/>
            <a:ext cx="5285232"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Golden capture in progress — printed ChArUco board verified at 100% scale with calipers, part centred, whole sheet in frame.</a:t>
            </a:r>
            <a:endParaRPr lang="en-US" sz="1050" dirty="0"/>
          </a:p>
        </p:txBody>
      </p:sp>
      <p:sp>
        <p:nvSpPr>
          <p:cNvPr id="11" name="Text 7"/>
          <p:cNvSpPr/>
          <p:nvPr/>
        </p:nvSpPr>
        <p:spPr>
          <a:xfrm>
            <a:off x="566928" y="4956048"/>
            <a:ext cx="5486400" cy="292608"/>
          </a:xfrm>
          <a:prstGeom prst="rect">
            <a:avLst/>
          </a:prstGeom>
          <a:noFill/>
          <a:ln/>
        </p:spPr>
        <p:txBody>
          <a:bodyPr wrap="square" rtlCol="0" anchor="ctr"/>
          <a:lstStyle/>
          <a:p>
            <a:pPr indent="0" marL="0">
              <a:buNone/>
            </a:pPr>
            <a:r>
              <a:rPr lang="en-US" sz="1500" b="1" dirty="0">
                <a:solidFill>
                  <a:srgbClr val="B45309"/>
                </a:solidFill>
                <a:latin typeface="Helvetica" pitchFamily="34" charset="0"/>
                <a:ea typeface="Helvetica" pitchFamily="34" charset="-122"/>
                <a:cs typeface="Helvetica" pitchFamily="34" charset="-120"/>
              </a:rPr>
              <a:t>Both are honestly incomplete</a:t>
            </a:r>
            <a:endParaRPr lang="en-US" sz="1500" dirty="0"/>
          </a:p>
        </p:txBody>
      </p:sp>
      <p:sp>
        <p:nvSpPr>
          <p:cNvPr id="12" name="Text 8"/>
          <p:cNvSpPr/>
          <p:nvPr/>
        </p:nvSpPr>
        <p:spPr>
          <a:xfrm>
            <a:off x="566928" y="5248656"/>
            <a:ext cx="11055096" cy="1143000"/>
          </a:xfrm>
          <a:prstGeom prst="rect">
            <a:avLst/>
          </a:prstGeom>
          <a:noFill/>
          <a:ln/>
        </p:spPr>
        <p:txBody>
          <a:bodyPr wrap="square" rtlCol="0" anchor="ctr"/>
          <a:lstStyle/>
          <a:p>
            <a:pPr marL="342900" indent="-342900">
              <a:lnSpc>
                <a:spcPct val="135000"/>
              </a:lnSpc>
              <a:buSzPct val="100000"/>
              <a:buChar char="•"/>
            </a:pPr>
            <a:r>
              <a:rPr lang="en-US" sz="1200" dirty="0">
                <a:solidFill>
                  <a:srgbClr val="1B1B1F"/>
                </a:solidFill>
                <a:latin typeface="Helvetica" pitchFamily="34" charset="0"/>
                <a:ea typeface="Helvetica" pitchFamily="34" charset="-122"/>
                <a:cs typeface="Helvetica" pitchFamily="34" charset="-120"/>
              </a:rPr>
              <a:t>F-05 — GPU access is proven for one member, not three. RunPod needed a payment method for the network volume, so Lightning AI was evaluated as a no-upfront-cost alternative. Which platform we standardise on is an open team decision, and the story stays Claimed until all three can connect and re-provisioning has been rehearsed.</a:t>
            </a:r>
            <a:endParaRPr lang="en-US" sz="1200" dirty="0"/>
          </a:p>
          <a:p>
            <a:pPr marL="342900" indent="-342900">
              <a:lnSpc>
                <a:spcPct val="135000"/>
              </a:lnSpc>
              <a:buSzPct val="100000"/>
              <a:buChar char="•"/>
            </a:pPr>
            <a:r>
              <a:rPr lang="en-US" sz="1200" dirty="0">
                <a:solidFill>
                  <a:srgbClr val="1B1B1F"/>
                </a:solidFill>
                <a:latin typeface="Helvetica" pitchFamily="34" charset="0"/>
                <a:ea typeface="Helvetica" pitchFamily="34" charset="-122"/>
                <a:cs typeface="Helvetica" pitchFamily="34" charset="-120"/>
              </a:rPr>
              <a:t>F-06 — two of three objects shot, 79 frames, both lighting conditions done for the lock. Still needed: a third object and a CAD model for at least one of them.</a:t>
            </a:r>
            <a:endParaRPr lang="en-US" sz="1200" dirty="0"/>
          </a:p>
        </p:txBody>
      </p:sp>
      <p:sp>
        <p:nvSpPr>
          <p:cNvPr id="13" name="Text 9"/>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14" name="Text 10"/>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2 · THE DETAIL</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Foundations, story by story</a:t>
            </a:r>
            <a:endParaRPr lang="en-US" sz="3000" dirty="0"/>
          </a:p>
        </p:txBody>
      </p:sp>
      <p:sp>
        <p:nvSpPr>
          <p:cNvPr id="4" name="Shape 2"/>
          <p:cNvSpPr/>
          <p:nvPr/>
        </p:nvSpPr>
        <p:spPr>
          <a:xfrm>
            <a:off x="566928" y="1188720"/>
            <a:ext cx="1371600" cy="41148"/>
          </a:xfrm>
          <a:prstGeom prst="rect">
            <a:avLst/>
          </a:prstGeom>
          <a:solidFill>
            <a:srgbClr val="16697A"/>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55096" cy="914400"/>
        </p:xfrm>
        <a:graphic>
          <a:graphicData uri="http://schemas.openxmlformats.org/drawingml/2006/table">
            <a:tbl>
              <a:tblPr/>
              <a:tblGrid>
                <a:gridCol w="868680"/>
                <a:gridCol w="4572000"/>
                <a:gridCol w="1143000"/>
                <a:gridCol w="1691640"/>
                <a:gridCol w="1325880"/>
                <a:gridCol w="1453896"/>
              </a:tblGrid>
              <a:tr h="384048">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Story</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What it delivered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State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Owner</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PR</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Actual / est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F-01</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Public repo, 8 protection rules, proven</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15803D"/>
                          </a:solidFill>
                          <a:latin typeface="Helvetica" pitchFamily="34" charset="0"/>
                          <a:ea typeface="Helvetica" pitchFamily="34" charset="-122"/>
                          <a:cs typeface="Helvetica" pitchFamily="34" charset="-120"/>
                        </a:rPr>
                        <a:t>Done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@TabeenRaoof</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#1</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 / 2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F-02</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Repo skeleton, module boundaries, packaging</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15803D"/>
                          </a:solidFill>
                          <a:latin typeface="Helvetica" pitchFamily="34" charset="0"/>
                          <a:ea typeface="Helvetica" pitchFamily="34" charset="-122"/>
                          <a:cs typeface="Helvetica" pitchFamily="34" charset="-120"/>
                        </a:rPr>
                        <a:t>Done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@dalwalyk</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#6</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3 h / 3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F-03</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Interface contract v1, frozen + 6 tests</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15803D"/>
                          </a:solidFill>
                          <a:latin typeface="Helvetica" pitchFamily="34" charset="0"/>
                          <a:ea typeface="Helvetica" pitchFamily="34" charset="-122"/>
                          <a:cs typeface="Helvetica" pitchFamily="34" charset="-120"/>
                        </a:rPr>
                        <a:t>Done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@TabeenRaoof</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#13</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B45309"/>
                          </a:solidFill>
                          <a:latin typeface="Helvetica" pitchFamily="34" charset="0"/>
                          <a:ea typeface="Helvetica" pitchFamily="34" charset="-122"/>
                          <a:cs typeface="Helvetica" pitchFamily="34" charset="-120"/>
                        </a:rPr>
                        <a:t>4.5 h / 3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CI skeleton — ruff, tsc, eslint, required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15803D"/>
                          </a:solidFill>
                          <a:latin typeface="Helvetica" pitchFamily="34" charset="0"/>
                          <a:ea typeface="Helvetica" pitchFamily="34" charset="-122"/>
                          <a:cs typeface="Helvetica" pitchFamily="34" charset="-120"/>
                        </a:rPr>
                        <a:t>Done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@dalwalyk</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#11, #12</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 / 3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F-05</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GPU pod, three-way access</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489FB5"/>
                          </a:solidFill>
                          <a:latin typeface="Helvetica" pitchFamily="34" charset="0"/>
                          <a:ea typeface="Helvetica" pitchFamily="34" charset="-122"/>
                          <a:cs typeface="Helvetica" pitchFamily="34" charset="-120"/>
                        </a:rPr>
                        <a:t>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@mbj1994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in flight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 / 4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F-06</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Golden capture set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b="1" dirty="0">
                          <a:solidFill>
                            <a:srgbClr val="489FB5"/>
                          </a:solidFill>
                          <a:latin typeface="Helvetica" pitchFamily="34" charset="0"/>
                          <a:ea typeface="Helvetica" pitchFamily="34" charset="-122"/>
                          <a:cs typeface="Helvetica" pitchFamily="34" charset="-120"/>
                        </a:rPr>
                        <a:t>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@mbj1994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in flight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 / 5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F-07</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Reproducible dev environment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6B7280"/>
                          </a:solidFill>
                          <a:latin typeface="Helvetica" pitchFamily="34" charset="0"/>
                          <a:ea typeface="Helvetica" pitchFamily="34" charset="-122"/>
                          <a:cs typeface="Helvetica" pitchFamily="34" charset="-120"/>
                        </a:rPr>
                        <a:t>Blocked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 / 3 h</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5120640"/>
            <a:ext cx="11055096" cy="502920"/>
          </a:xfrm>
          <a:prstGeom prst="rect">
            <a:avLst/>
          </a:prstGeom>
          <a:noFill/>
          <a:ln/>
        </p:spPr>
        <p:txBody>
          <a:bodyPr wrap="square" rtlCol="0" anchor="ctr"/>
          <a:lstStyle/>
          <a:p>
            <a:pPr indent="0" marL="0">
              <a:buNone/>
            </a:pPr>
            <a:r>
              <a:rPr lang="en-US" sz="1300" dirty="0">
                <a:solidFill>
                  <a:srgbClr val="B45309"/>
                </a:solidFill>
                <a:latin typeface="Helvetica" pitchFamily="34" charset="0"/>
                <a:ea typeface="Helvetica" pitchFamily="34" charset="-122"/>
                <a:cs typeface="Helvetica" pitchFamily="34" charset="-120"/>
              </a:rPr>
              <a:t>Two of the four completed stories have no actual hours recorded. We have since made that a rule: the field takes a measured number or stays visibly blank — never the estimate copied across.</a:t>
            </a:r>
            <a:endParaRPr lang="en-US" sz="1300" dirty="0"/>
          </a:p>
        </p:txBody>
      </p:sp>
      <p:sp>
        <p:nvSpPr>
          <p:cNvPr id="7" name="Text 4"/>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8" name="Text 5"/>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2 · THE PROCESS WORKING</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Every change was reviewed — including the ones we got wrong</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534924" y="1540764"/>
            <a:ext cx="5550408" cy="2752344"/>
          </a:xfrm>
          <a:prstGeom prst="rect">
            <a:avLst/>
          </a:prstGeom>
          <a:solidFill>
            <a:srgbClr val="E6ECF0"/>
          </a:solidFill>
          <a:ln w="9525">
            <a:solidFill>
              <a:srgbClr val="D3DCE3"/>
            </a:solidFill>
            <a:prstDash val="solid"/>
          </a:ln>
        </p:spPr>
      </p:sp>
      <p:pic>
        <p:nvPicPr>
          <p:cNvPr id="6" name="Image 0" descr="/Users/tabeenraoof/Desktop/SFBU/semester04/CS595/ProofShape/submissions/assets/2026-09-18/peer-review-demands-tests.jpg">    </p:cNvPr>
          <p:cNvPicPr>
            <a:picLocks noChangeAspect="1"/>
          </p:cNvPicPr>
          <p:nvPr/>
        </p:nvPicPr>
        <p:blipFill>
          <a:blip r:embed="rId1"/>
          <a:stretch>
            <a:fillRect/>
          </a:stretch>
        </p:blipFill>
        <p:spPr>
          <a:xfrm>
            <a:off x="566928" y="1572768"/>
            <a:ext cx="5486400" cy="2688336"/>
          </a:xfrm>
          <a:prstGeom prst="rect">
            <a:avLst/>
          </a:prstGeom>
        </p:spPr>
      </p:pic>
      <p:sp>
        <p:nvSpPr>
          <p:cNvPr id="7" name="Text 4"/>
          <p:cNvSpPr/>
          <p:nvPr/>
        </p:nvSpPr>
        <p:spPr>
          <a:xfrm>
            <a:off x="534924" y="4343400"/>
            <a:ext cx="5550408"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A reviewer blocking a merge on our own rules: “it adds 134 lines of state-management logic without any automated tests, which violates the current definition of done in AGENTS.md” — followed by the exact test cases required.</a:t>
            </a:r>
            <a:endParaRPr lang="en-US" sz="1050" dirty="0"/>
          </a:p>
        </p:txBody>
      </p:sp>
      <p:sp>
        <p:nvSpPr>
          <p:cNvPr id="8" name="Shape 5"/>
          <p:cNvSpPr/>
          <p:nvPr/>
        </p:nvSpPr>
        <p:spPr>
          <a:xfrm>
            <a:off x="6368796" y="1540764"/>
            <a:ext cx="5285232" cy="2752344"/>
          </a:xfrm>
          <a:prstGeom prst="rect">
            <a:avLst/>
          </a:prstGeom>
          <a:solidFill>
            <a:srgbClr val="E6ECF0"/>
          </a:solidFill>
          <a:ln w="9525">
            <a:solidFill>
              <a:srgbClr val="D3DCE3"/>
            </a:solidFill>
            <a:prstDash val="solid"/>
          </a:ln>
        </p:spPr>
      </p:sp>
      <p:pic>
        <p:nvPicPr>
          <p:cNvPr id="9" name="Image 1" descr="/Users/tabeenraoof/Desktop/SFBU/semester04/CS595/ProofShape/submissions/assets/2026-09-18/pr-approval-gate.jpg">    </p:cNvPr>
          <p:cNvPicPr>
            <a:picLocks noChangeAspect="1"/>
          </p:cNvPicPr>
          <p:nvPr/>
        </p:nvPicPr>
        <p:blipFill>
          <a:blip r:embed="rId2"/>
          <a:stretch>
            <a:fillRect/>
          </a:stretch>
        </p:blipFill>
        <p:spPr>
          <a:xfrm>
            <a:off x="6400800" y="1572768"/>
            <a:ext cx="5221224" cy="2688336"/>
          </a:xfrm>
          <a:prstGeom prst="rect">
            <a:avLst/>
          </a:prstGeom>
        </p:spPr>
      </p:pic>
      <p:sp>
        <p:nvSpPr>
          <p:cNvPr id="10" name="Text 6"/>
          <p:cNvSpPr/>
          <p:nvPr/>
        </p:nvSpPr>
        <p:spPr>
          <a:xfrm>
            <a:off x="6368796" y="4343400"/>
            <a:ext cx="5285232" cy="384048"/>
          </a:xfrm>
          <a:prstGeom prst="rect">
            <a:avLst/>
          </a:prstGeom>
          <a:noFill/>
          <a:ln/>
        </p:spPr>
        <p:txBody>
          <a:bodyPr wrap="square" rtlCol="0" anchor="t"/>
          <a:lstStyle/>
          <a:p>
            <a:pPr algn="l" indent="0" marL="0">
              <a:buNone/>
            </a:pPr>
            <a:r>
              <a:rPr lang="en-US" sz="1050" dirty="0">
                <a:solidFill>
                  <a:srgbClr val="6B7280"/>
                </a:solidFill>
                <a:latin typeface="Helvetica" pitchFamily="34" charset="0"/>
                <a:ea typeface="Helvetica" pitchFamily="34" charset="-122"/>
                <a:cs typeface="Helvetica" pitchFamily="34" charset="-120"/>
              </a:rPr>
              <a:t>The gate itself: “At least 1 approving review is required to merge this pull request.” It applies to the repository owner too — nobody has an override.</a:t>
            </a:r>
            <a:endParaRPr lang="en-US" sz="1050" dirty="0"/>
          </a:p>
        </p:txBody>
      </p:sp>
      <p:sp>
        <p:nvSpPr>
          <p:cNvPr id="11" name="Text 7"/>
          <p:cNvSpPr/>
          <p:nvPr/>
        </p:nvSpPr>
        <p:spPr>
          <a:xfrm>
            <a:off x="566928" y="5029200"/>
            <a:ext cx="11055096" cy="1188720"/>
          </a:xfrm>
          <a:prstGeom prst="rect">
            <a:avLst/>
          </a:prstGeom>
          <a:noFill/>
          <a:ln/>
        </p:spPr>
        <p:txBody>
          <a:bodyPr wrap="square" rtlCol="0" anchor="ctr"/>
          <a:lstStyle/>
          <a:p>
            <a:pPr marL="342900" indent="-342900">
              <a:lnSpc>
                <a:spcPct val="135000"/>
              </a:lnSpc>
              <a:buSzPct val="100000"/>
              <a:buChar char="•"/>
            </a:pPr>
            <a:r>
              <a:rPr lang="en-US" sz="1250" dirty="0">
                <a:solidFill>
                  <a:srgbClr val="1B1B1F"/>
                </a:solidFill>
                <a:latin typeface="Helvetica" pitchFamily="34" charset="0"/>
                <a:ea typeface="Helvetica" pitchFamily="34" charset="-122"/>
                <a:cs typeface="Helvetica" pitchFamily="34" charset="-120"/>
              </a:rPr>
              <a:t>Review also caught two defects that looked clean: a merge that silently duplicated a story's status block, and a second that silently dropped an entire decision entry. Both reported as mergeable by GitHub; both found by reading the merge, not trusting it.</a:t>
            </a:r>
            <a:endParaRPr lang="en-US" sz="1250" dirty="0"/>
          </a:p>
          <a:p>
            <a:pPr marL="342900" indent="-342900">
              <a:lnSpc>
                <a:spcPct val="135000"/>
              </a:lnSpc>
              <a:buSzPct val="100000"/>
              <a:buChar char="•"/>
            </a:pPr>
            <a:r>
              <a:rPr lang="en-US" sz="1250" dirty="0">
                <a:solidFill>
                  <a:srgbClr val="16697A"/>
                </a:solidFill>
                <a:latin typeface="Helvetica" pitchFamily="34" charset="0"/>
                <a:ea typeface="Helvetica" pitchFamily="34" charset="-122"/>
                <a:cs typeface="Helvetica" pitchFamily="34" charset="-120"/>
              </a:rPr>
              <a:t>Two pull requests were closed rather than merged — one redundant, one based on a misreading of our own approval rule. That disagreement was settled by quoting the rule, not by seniority.</a:t>
            </a:r>
            <a:endParaRPr lang="en-US" sz="1250" dirty="0"/>
          </a:p>
        </p:txBody>
      </p:sp>
      <p:sp>
        <p:nvSpPr>
          <p:cNvPr id="12" name="Text 8"/>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13" name="Text 9"/>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THE MAIN CHANGE SINCE THE PROPOSAL</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Change of plan: three lanes became one shared front</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566928" y="1572768"/>
            <a:ext cx="5257800" cy="2743200"/>
          </a:xfrm>
          <a:prstGeom prst="roundRect">
            <a:avLst>
              <a:gd name="adj" fmla="val 1667"/>
            </a:avLst>
          </a:prstGeom>
          <a:solidFill>
            <a:srgbClr val="FDF2F2"/>
          </a:solidFill>
          <a:ln w="12700">
            <a:solidFill>
              <a:srgbClr val="F5D0D0"/>
            </a:solidFill>
            <a:prstDash val="solid"/>
          </a:ln>
        </p:spPr>
      </p:sp>
      <p:sp>
        <p:nvSpPr>
          <p:cNvPr id="6" name="Text 4"/>
          <p:cNvSpPr/>
          <p:nvPr/>
        </p:nvSpPr>
        <p:spPr>
          <a:xfrm>
            <a:off x="768096" y="1700784"/>
            <a:ext cx="4846320" cy="310896"/>
          </a:xfrm>
          <a:prstGeom prst="rect">
            <a:avLst/>
          </a:prstGeom>
          <a:noFill/>
          <a:ln/>
        </p:spPr>
        <p:txBody>
          <a:bodyPr wrap="square" rtlCol="0" anchor="ctr"/>
          <a:lstStyle/>
          <a:p>
            <a:pPr indent="0" marL="0">
              <a:buNone/>
            </a:pPr>
            <a:r>
              <a:rPr lang="en-US" sz="1300" b="1" spc="100" kern="0" dirty="0">
                <a:solidFill>
                  <a:srgbClr val="B91C1C"/>
                </a:solidFill>
                <a:latin typeface="Helvetica" pitchFamily="34" charset="0"/>
                <a:ea typeface="Helvetica" pitchFamily="34" charset="-122"/>
                <a:cs typeface="Helvetica" pitchFamily="34" charset="-120"/>
              </a:rPr>
              <a:t>BEFORE — as proposed</a:t>
            </a:r>
            <a:endParaRPr lang="en-US" sz="1300" dirty="0"/>
          </a:p>
        </p:txBody>
      </p:sp>
      <p:sp>
        <p:nvSpPr>
          <p:cNvPr id="7" name="Shape 5"/>
          <p:cNvSpPr/>
          <p:nvPr/>
        </p:nvSpPr>
        <p:spPr>
          <a:xfrm>
            <a:off x="768096" y="2103120"/>
            <a:ext cx="4846320" cy="566928"/>
          </a:xfrm>
          <a:prstGeom prst="rect">
            <a:avLst/>
          </a:prstGeom>
          <a:solidFill>
            <a:srgbClr val="FFFFFF"/>
          </a:solidFill>
          <a:ln w="12700">
            <a:solidFill>
              <a:srgbClr val="F0DADA"/>
            </a:solidFill>
            <a:prstDash val="solid"/>
          </a:ln>
        </p:spPr>
      </p:sp>
      <p:sp>
        <p:nvSpPr>
          <p:cNvPr id="8" name="Text 6"/>
          <p:cNvSpPr/>
          <p:nvPr/>
        </p:nvSpPr>
        <p:spPr>
          <a:xfrm>
            <a:off x="914400" y="2157984"/>
            <a:ext cx="329184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Lane 1 — Capture front end</a:t>
            </a:r>
            <a:endParaRPr lang="en-US" sz="1300" dirty="0"/>
          </a:p>
        </p:txBody>
      </p:sp>
      <p:sp>
        <p:nvSpPr>
          <p:cNvPr id="9" name="Text 7"/>
          <p:cNvSpPr/>
          <p:nvPr/>
        </p:nvSpPr>
        <p:spPr>
          <a:xfrm>
            <a:off x="914400" y="2395728"/>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one owner · 97 h</a:t>
            </a:r>
            <a:endParaRPr lang="en-US" sz="1100" dirty="0"/>
          </a:p>
        </p:txBody>
      </p:sp>
      <p:sp>
        <p:nvSpPr>
          <p:cNvPr id="10" name="Shape 8"/>
          <p:cNvSpPr/>
          <p:nvPr/>
        </p:nvSpPr>
        <p:spPr>
          <a:xfrm>
            <a:off x="768096" y="2761488"/>
            <a:ext cx="4846320" cy="566928"/>
          </a:xfrm>
          <a:prstGeom prst="rect">
            <a:avLst/>
          </a:prstGeom>
          <a:solidFill>
            <a:srgbClr val="FFFFFF"/>
          </a:solidFill>
          <a:ln w="12700">
            <a:solidFill>
              <a:srgbClr val="F0DADA"/>
            </a:solidFill>
            <a:prstDash val="solid"/>
          </a:ln>
        </p:spPr>
      </p:sp>
      <p:sp>
        <p:nvSpPr>
          <p:cNvPr id="11" name="Text 9"/>
          <p:cNvSpPr/>
          <p:nvPr/>
        </p:nvSpPr>
        <p:spPr>
          <a:xfrm>
            <a:off x="914400" y="2816352"/>
            <a:ext cx="329184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Lane 2 — Reconstruction backend</a:t>
            </a:r>
            <a:endParaRPr lang="en-US" sz="1300" dirty="0"/>
          </a:p>
        </p:txBody>
      </p:sp>
      <p:sp>
        <p:nvSpPr>
          <p:cNvPr id="12" name="Text 10"/>
          <p:cNvSpPr/>
          <p:nvPr/>
        </p:nvSpPr>
        <p:spPr>
          <a:xfrm>
            <a:off x="914400" y="3054096"/>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one owner · 97 h</a:t>
            </a:r>
            <a:endParaRPr lang="en-US" sz="1100" dirty="0"/>
          </a:p>
        </p:txBody>
      </p:sp>
      <p:sp>
        <p:nvSpPr>
          <p:cNvPr id="13" name="Shape 11"/>
          <p:cNvSpPr/>
          <p:nvPr/>
        </p:nvSpPr>
        <p:spPr>
          <a:xfrm>
            <a:off x="768096" y="3419856"/>
            <a:ext cx="4846320" cy="566928"/>
          </a:xfrm>
          <a:prstGeom prst="rect">
            <a:avLst/>
          </a:prstGeom>
          <a:solidFill>
            <a:srgbClr val="FFFFFF"/>
          </a:solidFill>
          <a:ln w="12700">
            <a:solidFill>
              <a:srgbClr val="F0DADA"/>
            </a:solidFill>
            <a:prstDash val="solid"/>
          </a:ln>
        </p:spPr>
      </p:sp>
      <p:sp>
        <p:nvSpPr>
          <p:cNvPr id="14" name="Text 12"/>
          <p:cNvSpPr/>
          <p:nvPr/>
        </p:nvSpPr>
        <p:spPr>
          <a:xfrm>
            <a:off x="914400" y="3474720"/>
            <a:ext cx="329184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Lane 3 — Inspection and truth</a:t>
            </a:r>
            <a:endParaRPr lang="en-US" sz="1300" dirty="0"/>
          </a:p>
        </p:txBody>
      </p:sp>
      <p:sp>
        <p:nvSpPr>
          <p:cNvPr id="15" name="Text 13"/>
          <p:cNvSpPr/>
          <p:nvPr/>
        </p:nvSpPr>
        <p:spPr>
          <a:xfrm>
            <a:off x="914400" y="3712464"/>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one owner · 97 h</a:t>
            </a:r>
            <a:endParaRPr lang="en-US" sz="1100" dirty="0"/>
          </a:p>
        </p:txBody>
      </p:sp>
      <p:sp>
        <p:nvSpPr>
          <p:cNvPr id="16" name="Text 14"/>
          <p:cNvSpPr/>
          <p:nvPr/>
        </p:nvSpPr>
        <p:spPr>
          <a:xfrm>
            <a:off x="768096" y="4078224"/>
            <a:ext cx="4846320" cy="274320"/>
          </a:xfrm>
          <a:prstGeom prst="rect">
            <a:avLst/>
          </a:prstGeom>
          <a:noFill/>
          <a:ln/>
        </p:spPr>
        <p:txBody>
          <a:bodyPr wrap="square" rtlCol="0" anchor="ctr"/>
          <a:lstStyle/>
          <a:p>
            <a:pPr indent="0" marL="0">
              <a:buNone/>
            </a:pPr>
            <a:r>
              <a:rPr lang="en-US" sz="1150" i="1" dirty="0">
                <a:solidFill>
                  <a:srgbClr val="6B7280"/>
                </a:solidFill>
                <a:latin typeface="Helvetica" pitchFamily="34" charset="0"/>
                <a:ea typeface="Helvetica" pitchFamily="34" charset="-122"/>
                <a:cs typeface="Helvetica" pitchFamily="34" charset="-120"/>
              </a:rPr>
              <a:t>Three people building three different things in parallel from day one.</a:t>
            </a:r>
            <a:endParaRPr lang="en-US" sz="1150" dirty="0"/>
          </a:p>
        </p:txBody>
      </p:sp>
      <p:sp>
        <p:nvSpPr>
          <p:cNvPr id="17" name="Text 15"/>
          <p:cNvSpPr/>
          <p:nvPr/>
        </p:nvSpPr>
        <p:spPr>
          <a:xfrm>
            <a:off x="5897880" y="2651760"/>
            <a:ext cx="548640" cy="548640"/>
          </a:xfrm>
          <a:prstGeom prst="rect">
            <a:avLst/>
          </a:prstGeom>
          <a:noFill/>
          <a:ln/>
        </p:spPr>
        <p:txBody>
          <a:bodyPr wrap="square" rtlCol="0" anchor="ctr"/>
          <a:lstStyle/>
          <a:p>
            <a:pPr algn="ctr" indent="0" marL="0">
              <a:buNone/>
            </a:pPr>
            <a:r>
              <a:rPr lang="en-US" sz="3400" b="1" dirty="0">
                <a:solidFill>
                  <a:srgbClr val="16697A"/>
                </a:solidFill>
                <a:latin typeface="Helvetica" pitchFamily="34" charset="0"/>
                <a:ea typeface="Helvetica" pitchFamily="34" charset="-122"/>
                <a:cs typeface="Helvetica" pitchFamily="34" charset="-120"/>
              </a:rPr>
              <a:t>→</a:t>
            </a:r>
            <a:endParaRPr lang="en-US" sz="3400" dirty="0"/>
          </a:p>
        </p:txBody>
      </p:sp>
      <p:sp>
        <p:nvSpPr>
          <p:cNvPr id="18" name="Shape 16"/>
          <p:cNvSpPr/>
          <p:nvPr/>
        </p:nvSpPr>
        <p:spPr>
          <a:xfrm>
            <a:off x="6446520" y="1572768"/>
            <a:ext cx="5175504" cy="2743200"/>
          </a:xfrm>
          <a:prstGeom prst="roundRect">
            <a:avLst>
              <a:gd name="adj" fmla="val 1667"/>
            </a:avLst>
          </a:prstGeom>
          <a:solidFill>
            <a:srgbClr val="EFF7F8"/>
          </a:solidFill>
          <a:ln w="12700">
            <a:solidFill>
              <a:srgbClr val="BFDCE2"/>
            </a:solidFill>
            <a:prstDash val="solid"/>
          </a:ln>
        </p:spPr>
      </p:sp>
      <p:sp>
        <p:nvSpPr>
          <p:cNvPr id="19" name="Text 17"/>
          <p:cNvSpPr/>
          <p:nvPr/>
        </p:nvSpPr>
        <p:spPr>
          <a:xfrm>
            <a:off x="6647688" y="1700784"/>
            <a:ext cx="4754880" cy="310896"/>
          </a:xfrm>
          <a:prstGeom prst="rect">
            <a:avLst/>
          </a:prstGeom>
          <a:noFill/>
          <a:ln/>
        </p:spPr>
        <p:txBody>
          <a:bodyPr wrap="square" rtlCol="0" anchor="ctr"/>
          <a:lstStyle/>
          <a:p>
            <a:pPr indent="0" marL="0">
              <a:buNone/>
            </a:pPr>
            <a:r>
              <a:rPr lang="en-US" sz="1300" b="1" spc="100" kern="0" dirty="0">
                <a:solidFill>
                  <a:srgbClr val="16697A"/>
                </a:solidFill>
                <a:latin typeface="Helvetica" pitchFamily="34" charset="0"/>
                <a:ea typeface="Helvetica" pitchFamily="34" charset="-122"/>
                <a:cs typeface="Helvetica" pitchFamily="34" charset="-120"/>
              </a:rPr>
              <a:t>NOW — as we are actually working</a:t>
            </a:r>
            <a:endParaRPr lang="en-US" sz="1300" dirty="0"/>
          </a:p>
        </p:txBody>
      </p:sp>
      <p:sp>
        <p:nvSpPr>
          <p:cNvPr id="20" name="Shape 18"/>
          <p:cNvSpPr/>
          <p:nvPr/>
        </p:nvSpPr>
        <p:spPr>
          <a:xfrm>
            <a:off x="6647688" y="2103120"/>
            <a:ext cx="4773168" cy="566928"/>
          </a:xfrm>
          <a:prstGeom prst="rect">
            <a:avLst/>
          </a:prstGeom>
          <a:solidFill>
            <a:srgbClr val="FFFFFF"/>
          </a:solidFill>
          <a:ln w="12700">
            <a:solidFill>
              <a:srgbClr val="CFE4E9"/>
            </a:solidFill>
            <a:prstDash val="solid"/>
          </a:ln>
        </p:spPr>
      </p:sp>
      <p:sp>
        <p:nvSpPr>
          <p:cNvPr id="21" name="Text 19"/>
          <p:cNvSpPr/>
          <p:nvPr/>
        </p:nvSpPr>
        <p:spPr>
          <a:xfrm>
            <a:off x="6793992" y="2157984"/>
            <a:ext cx="365760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Stage 1 — Foundations</a:t>
            </a:r>
            <a:endParaRPr lang="en-US" sz="1300" dirty="0"/>
          </a:p>
        </p:txBody>
      </p:sp>
      <p:sp>
        <p:nvSpPr>
          <p:cNvPr id="22" name="Text 20"/>
          <p:cNvSpPr/>
          <p:nvPr/>
        </p:nvSpPr>
        <p:spPr>
          <a:xfrm>
            <a:off x="6793992" y="2395728"/>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all three · repo, contract, CI, pod, fixtures</a:t>
            </a:r>
            <a:endParaRPr lang="en-US" sz="1100" dirty="0"/>
          </a:p>
        </p:txBody>
      </p:sp>
      <p:sp>
        <p:nvSpPr>
          <p:cNvPr id="23" name="Shape 21"/>
          <p:cNvSpPr/>
          <p:nvPr/>
        </p:nvSpPr>
        <p:spPr>
          <a:xfrm>
            <a:off x="6647688" y="2761488"/>
            <a:ext cx="4773168" cy="566928"/>
          </a:xfrm>
          <a:prstGeom prst="rect">
            <a:avLst/>
          </a:prstGeom>
          <a:solidFill>
            <a:srgbClr val="FFFFFF"/>
          </a:solidFill>
          <a:ln w="12700">
            <a:solidFill>
              <a:srgbClr val="CFE4E9"/>
            </a:solidFill>
            <a:prstDash val="solid"/>
          </a:ln>
        </p:spPr>
      </p:sp>
      <p:sp>
        <p:nvSpPr>
          <p:cNvPr id="24" name="Text 22"/>
          <p:cNvSpPr/>
          <p:nvPr/>
        </p:nvSpPr>
        <p:spPr>
          <a:xfrm>
            <a:off x="6793992" y="2816352"/>
            <a:ext cx="365760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Stage 2 — Reconstruction engine</a:t>
            </a:r>
            <a:endParaRPr lang="en-US" sz="1300" dirty="0"/>
          </a:p>
        </p:txBody>
      </p:sp>
      <p:sp>
        <p:nvSpPr>
          <p:cNvPr id="25" name="Text 23"/>
          <p:cNvSpPr/>
          <p:nvPr/>
        </p:nvSpPr>
        <p:spPr>
          <a:xfrm>
            <a:off x="6793992" y="3054096"/>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all three · the hardest risk, retired first</a:t>
            </a:r>
            <a:endParaRPr lang="en-US" sz="1100" dirty="0"/>
          </a:p>
        </p:txBody>
      </p:sp>
      <p:sp>
        <p:nvSpPr>
          <p:cNvPr id="26" name="Shape 24"/>
          <p:cNvSpPr/>
          <p:nvPr/>
        </p:nvSpPr>
        <p:spPr>
          <a:xfrm>
            <a:off x="6647688" y="3419856"/>
            <a:ext cx="4773168" cy="566928"/>
          </a:xfrm>
          <a:prstGeom prst="rect">
            <a:avLst/>
          </a:prstGeom>
          <a:solidFill>
            <a:srgbClr val="FFFFFF"/>
          </a:solidFill>
          <a:ln w="12700">
            <a:solidFill>
              <a:srgbClr val="CFE4E9"/>
            </a:solidFill>
            <a:prstDash val="solid"/>
          </a:ln>
        </p:spPr>
      </p:sp>
      <p:sp>
        <p:nvSpPr>
          <p:cNvPr id="27" name="Text 25"/>
          <p:cNvSpPr/>
          <p:nvPr/>
        </p:nvSpPr>
        <p:spPr>
          <a:xfrm>
            <a:off x="6793992" y="3474720"/>
            <a:ext cx="3657600" cy="274320"/>
          </a:xfrm>
          <a:prstGeom prst="rect">
            <a:avLst/>
          </a:prstGeom>
          <a:noFill/>
          <a:ln/>
        </p:spPr>
        <p:txBody>
          <a:bodyPr wrap="square" rtlCol="0" anchor="ctr"/>
          <a:lstStyle/>
          <a:p>
            <a:pPr indent="0" marL="0">
              <a:buNone/>
            </a:pPr>
            <a:r>
              <a:rPr lang="en-US" sz="1300" b="1" dirty="0">
                <a:solidFill>
                  <a:srgbClr val="1B1B1F"/>
                </a:solidFill>
                <a:latin typeface="Helvetica" pitchFamily="34" charset="0"/>
                <a:ea typeface="Helvetica" pitchFamily="34" charset="-122"/>
                <a:cs typeface="Helvetica" pitchFamily="34" charset="-120"/>
              </a:rPr>
              <a:t>Stage 3 — Capture · Inspection · AI</a:t>
            </a:r>
            <a:endParaRPr lang="en-US" sz="1300" dirty="0"/>
          </a:p>
        </p:txBody>
      </p:sp>
      <p:sp>
        <p:nvSpPr>
          <p:cNvPr id="28" name="Text 26"/>
          <p:cNvSpPr/>
          <p:nvPr/>
        </p:nvSpPr>
        <p:spPr>
          <a:xfrm>
            <a:off x="6793992" y="3712464"/>
            <a:ext cx="4480560" cy="237744"/>
          </a:xfrm>
          <a:prstGeom prst="rect">
            <a:avLst/>
          </a:prstGeom>
          <a:noFill/>
          <a:ln/>
        </p:spPr>
        <p:txBody>
          <a:bodyPr wrap="square" rtlCol="0" anchor="ctr"/>
          <a:lstStyle/>
          <a:p>
            <a:pPr indent="0" marL="0">
              <a:buNone/>
            </a:pPr>
            <a:r>
              <a:rPr lang="en-US" sz="1100" dirty="0">
                <a:solidFill>
                  <a:srgbClr val="6B7280"/>
                </a:solidFill>
                <a:latin typeface="Helvetica" pitchFamily="34" charset="0"/>
                <a:ea typeface="Helvetica" pitchFamily="34" charset="-122"/>
                <a:cs typeface="Helvetica" pitchFamily="34" charset="-120"/>
              </a:rPr>
              <a:t>built against something that already works</a:t>
            </a:r>
            <a:endParaRPr lang="en-US" sz="1100" dirty="0"/>
          </a:p>
        </p:txBody>
      </p:sp>
      <p:sp>
        <p:nvSpPr>
          <p:cNvPr id="29" name="Text 27"/>
          <p:cNvSpPr/>
          <p:nvPr/>
        </p:nvSpPr>
        <p:spPr>
          <a:xfrm>
            <a:off x="6647688" y="4078224"/>
            <a:ext cx="4754880" cy="274320"/>
          </a:xfrm>
          <a:prstGeom prst="rect">
            <a:avLst/>
          </a:prstGeom>
          <a:noFill/>
          <a:ln/>
        </p:spPr>
        <p:txBody>
          <a:bodyPr wrap="square" rtlCol="0" anchor="ctr"/>
          <a:lstStyle/>
          <a:p>
            <a:pPr indent="0" marL="0">
              <a:buNone/>
            </a:pPr>
            <a:r>
              <a:rPr lang="en-US" sz="1150" i="1" dirty="0">
                <a:solidFill>
                  <a:srgbClr val="6B7280"/>
                </a:solidFill>
                <a:latin typeface="Helvetica" pitchFamily="34" charset="0"/>
                <a:ea typeface="Helvetica" pitchFamily="34" charset="-122"/>
                <a:cs typeface="Helvetica" pitchFamily="34" charset="-120"/>
              </a:rPr>
              <a:t>Lanes are now places in the repository, not people.</a:t>
            </a:r>
            <a:endParaRPr lang="en-US" sz="1150" dirty="0"/>
          </a:p>
        </p:txBody>
      </p:sp>
      <p:sp>
        <p:nvSpPr>
          <p:cNvPr id="30" name="Text 28"/>
          <p:cNvSpPr/>
          <p:nvPr/>
        </p:nvSpPr>
        <p:spPr>
          <a:xfrm>
            <a:off x="566928" y="4517136"/>
            <a:ext cx="5486400" cy="310896"/>
          </a:xfrm>
          <a:prstGeom prst="rect">
            <a:avLst/>
          </a:prstGeom>
          <a:noFill/>
          <a:ln/>
        </p:spPr>
        <p:txBody>
          <a:bodyPr wrap="square" rtlCol="0" anchor="ctr"/>
          <a:lstStyle/>
          <a:p>
            <a:pPr indent="0" marL="0">
              <a:buNone/>
            </a:pPr>
            <a:r>
              <a:rPr lang="en-US" sz="1500" b="1" dirty="0">
                <a:solidFill>
                  <a:srgbClr val="16697A"/>
                </a:solidFill>
                <a:latin typeface="Helvetica" pitchFamily="34" charset="0"/>
                <a:ea typeface="Helvetica" pitchFamily="34" charset="-122"/>
                <a:cs typeface="Helvetica" pitchFamily="34" charset="-120"/>
              </a:rPr>
              <a:t>Why we changed it</a:t>
            </a:r>
            <a:endParaRPr lang="en-US" sz="1500" dirty="0"/>
          </a:p>
        </p:txBody>
      </p:sp>
      <p:sp>
        <p:nvSpPr>
          <p:cNvPr id="31" name="Text 29"/>
          <p:cNvSpPr/>
          <p:nvPr/>
        </p:nvSpPr>
        <p:spPr>
          <a:xfrm>
            <a:off x="566928" y="4846320"/>
            <a:ext cx="11055096" cy="1371600"/>
          </a:xfrm>
          <a:prstGeom prst="rect">
            <a:avLst/>
          </a:prstGeom>
          <a:noFill/>
          <a:ln/>
        </p:spPr>
        <p:txBody>
          <a:bodyPr wrap="square" rtlCol="0" anchor="ctr"/>
          <a:lstStyle/>
          <a:p>
            <a:pPr marL="342900" indent="-3429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Total hours do not set the finish date — the serial chain does. About 42 of the 93 engine hours can only run one story after another, so that chain advances at one person's pace no matter how many people are free. Adding people to it changes nothing.</a:t>
            </a:r>
            <a:endParaRPr lang="en-US" sz="1300" dirty="0"/>
          </a:p>
          <a:p>
            <a:pPr marL="342900" indent="-3429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The reconstruction engine is the hardest risk in the project. Retiring it first means everything downstream is built against something real instead of a guess.</a:t>
            </a:r>
            <a:endParaRPr lang="en-US" sz="1300" dirty="0"/>
          </a:p>
        </p:txBody>
      </p:sp>
      <p:sp>
        <p:nvSpPr>
          <p:cNvPr id="32" name="Text 30"/>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33" name="Text 31"/>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THE SAME MILESTONES, A DIFFERENT SHAPE OF WORK</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Re-planned timeline</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Shape 3"/>
          <p:cNvSpPr/>
          <p:nvPr/>
        </p:nvSpPr>
        <p:spPr>
          <a:xfrm>
            <a:off x="2898648" y="1591056"/>
            <a:ext cx="0" cy="3479292"/>
          </a:xfrm>
          <a:prstGeom prst="line">
            <a:avLst/>
          </a:prstGeom>
          <a:noFill/>
          <a:ln w="9525">
            <a:solidFill>
              <a:srgbClr val="E3E9ED"/>
            </a:solidFill>
            <a:prstDash val="solid"/>
          </a:ln>
        </p:spPr>
      </p:sp>
      <p:sp>
        <p:nvSpPr>
          <p:cNvPr id="6" name="Text 4"/>
          <p:cNvSpPr/>
          <p:nvPr/>
        </p:nvSpPr>
        <p:spPr>
          <a:xfrm>
            <a:off x="2926080" y="1371600"/>
            <a:ext cx="731520" cy="219456"/>
          </a:xfrm>
          <a:prstGeom prst="rect">
            <a:avLst/>
          </a:prstGeom>
          <a:noFill/>
          <a:ln/>
        </p:spPr>
        <p:txBody>
          <a:bodyPr wrap="square" rtlCol="0" anchor="ctr"/>
          <a:lstStyle/>
          <a:p>
            <a:pPr indent="0" marL="0">
              <a:buNone/>
            </a:pPr>
            <a:r>
              <a:rPr lang="en-US" sz="1050" dirty="0">
                <a:solidFill>
                  <a:srgbClr val="6B7280"/>
                </a:solidFill>
                <a:latin typeface="Helvetica" pitchFamily="34" charset="0"/>
                <a:ea typeface="Helvetica" pitchFamily="34" charset="-122"/>
                <a:cs typeface="Helvetica" pitchFamily="34" charset="-120"/>
              </a:rPr>
              <a:t>Sep</a:t>
            </a:r>
            <a:endParaRPr lang="en-US" sz="1050" dirty="0"/>
          </a:p>
        </p:txBody>
      </p:sp>
      <p:sp>
        <p:nvSpPr>
          <p:cNvPr id="7" name="Shape 5"/>
          <p:cNvSpPr/>
          <p:nvPr/>
        </p:nvSpPr>
        <p:spPr>
          <a:xfrm>
            <a:off x="5166705" y="1591056"/>
            <a:ext cx="0" cy="3479292"/>
          </a:xfrm>
          <a:prstGeom prst="line">
            <a:avLst/>
          </a:prstGeom>
          <a:noFill/>
          <a:ln w="9525">
            <a:solidFill>
              <a:srgbClr val="E3E9ED"/>
            </a:solidFill>
            <a:prstDash val="solid"/>
          </a:ln>
        </p:spPr>
      </p:sp>
      <p:sp>
        <p:nvSpPr>
          <p:cNvPr id="8" name="Text 6"/>
          <p:cNvSpPr/>
          <p:nvPr/>
        </p:nvSpPr>
        <p:spPr>
          <a:xfrm>
            <a:off x="5194137" y="1371600"/>
            <a:ext cx="731520" cy="219456"/>
          </a:xfrm>
          <a:prstGeom prst="rect">
            <a:avLst/>
          </a:prstGeom>
          <a:noFill/>
          <a:ln/>
        </p:spPr>
        <p:txBody>
          <a:bodyPr wrap="square" rtlCol="0" anchor="ctr"/>
          <a:lstStyle/>
          <a:p>
            <a:pPr indent="0" marL="0">
              <a:buNone/>
            </a:pPr>
            <a:r>
              <a:rPr lang="en-US" sz="1050" dirty="0">
                <a:solidFill>
                  <a:srgbClr val="6B7280"/>
                </a:solidFill>
                <a:latin typeface="Helvetica" pitchFamily="34" charset="0"/>
                <a:ea typeface="Helvetica" pitchFamily="34" charset="-122"/>
                <a:cs typeface="Helvetica" pitchFamily="34" charset="-120"/>
              </a:rPr>
              <a:t>Oct</a:t>
            </a:r>
            <a:endParaRPr lang="en-US" sz="1050" dirty="0"/>
          </a:p>
        </p:txBody>
      </p:sp>
      <p:sp>
        <p:nvSpPr>
          <p:cNvPr id="9" name="Shape 7"/>
          <p:cNvSpPr/>
          <p:nvPr/>
        </p:nvSpPr>
        <p:spPr>
          <a:xfrm>
            <a:off x="7677768" y="1591056"/>
            <a:ext cx="0" cy="3479292"/>
          </a:xfrm>
          <a:prstGeom prst="line">
            <a:avLst/>
          </a:prstGeom>
          <a:noFill/>
          <a:ln w="9525">
            <a:solidFill>
              <a:srgbClr val="E3E9ED"/>
            </a:solidFill>
            <a:prstDash val="solid"/>
          </a:ln>
        </p:spPr>
      </p:sp>
      <p:sp>
        <p:nvSpPr>
          <p:cNvPr id="10" name="Text 8"/>
          <p:cNvSpPr/>
          <p:nvPr/>
        </p:nvSpPr>
        <p:spPr>
          <a:xfrm>
            <a:off x="7705200" y="1371600"/>
            <a:ext cx="731520" cy="219456"/>
          </a:xfrm>
          <a:prstGeom prst="rect">
            <a:avLst/>
          </a:prstGeom>
          <a:noFill/>
          <a:ln/>
        </p:spPr>
        <p:txBody>
          <a:bodyPr wrap="square" rtlCol="0" anchor="ctr"/>
          <a:lstStyle/>
          <a:p>
            <a:pPr indent="0" marL="0">
              <a:buNone/>
            </a:pPr>
            <a:r>
              <a:rPr lang="en-US" sz="1050" dirty="0">
                <a:solidFill>
                  <a:srgbClr val="6B7280"/>
                </a:solidFill>
                <a:latin typeface="Helvetica" pitchFamily="34" charset="0"/>
                <a:ea typeface="Helvetica" pitchFamily="34" charset="-122"/>
                <a:cs typeface="Helvetica" pitchFamily="34" charset="-120"/>
              </a:rPr>
              <a:t>Nov</a:t>
            </a:r>
            <a:endParaRPr lang="en-US" sz="1050" dirty="0"/>
          </a:p>
        </p:txBody>
      </p:sp>
      <p:sp>
        <p:nvSpPr>
          <p:cNvPr id="11" name="Shape 9"/>
          <p:cNvSpPr/>
          <p:nvPr/>
        </p:nvSpPr>
        <p:spPr>
          <a:xfrm>
            <a:off x="10107829" y="1591056"/>
            <a:ext cx="0" cy="3479292"/>
          </a:xfrm>
          <a:prstGeom prst="line">
            <a:avLst/>
          </a:prstGeom>
          <a:noFill/>
          <a:ln w="9525">
            <a:solidFill>
              <a:srgbClr val="E3E9ED"/>
            </a:solidFill>
            <a:prstDash val="solid"/>
          </a:ln>
        </p:spPr>
      </p:sp>
      <p:sp>
        <p:nvSpPr>
          <p:cNvPr id="12" name="Text 10"/>
          <p:cNvSpPr/>
          <p:nvPr/>
        </p:nvSpPr>
        <p:spPr>
          <a:xfrm>
            <a:off x="10135261" y="1371600"/>
            <a:ext cx="731520" cy="219456"/>
          </a:xfrm>
          <a:prstGeom prst="rect">
            <a:avLst/>
          </a:prstGeom>
          <a:noFill/>
          <a:ln/>
        </p:spPr>
        <p:txBody>
          <a:bodyPr wrap="square" rtlCol="0" anchor="ctr"/>
          <a:lstStyle/>
          <a:p>
            <a:pPr indent="0" marL="0">
              <a:buNone/>
            </a:pPr>
            <a:r>
              <a:rPr lang="en-US" sz="1050" dirty="0">
                <a:solidFill>
                  <a:srgbClr val="6B7280"/>
                </a:solidFill>
                <a:latin typeface="Helvetica" pitchFamily="34" charset="0"/>
                <a:ea typeface="Helvetica" pitchFamily="34" charset="-122"/>
                <a:cs typeface="Helvetica" pitchFamily="34" charset="-120"/>
              </a:rPr>
              <a:t>Dec</a:t>
            </a:r>
            <a:endParaRPr lang="en-US" sz="1050" dirty="0"/>
          </a:p>
        </p:txBody>
      </p:sp>
      <p:sp>
        <p:nvSpPr>
          <p:cNvPr id="13" name="Shape 11"/>
          <p:cNvSpPr/>
          <p:nvPr/>
        </p:nvSpPr>
        <p:spPr>
          <a:xfrm>
            <a:off x="11484864" y="1591056"/>
            <a:ext cx="0" cy="3479292"/>
          </a:xfrm>
          <a:prstGeom prst="line">
            <a:avLst/>
          </a:prstGeom>
          <a:noFill/>
          <a:ln w="9525">
            <a:solidFill>
              <a:srgbClr val="E3E9ED"/>
            </a:solidFill>
            <a:prstDash val="solid"/>
          </a:ln>
        </p:spPr>
      </p:sp>
      <p:sp>
        <p:nvSpPr>
          <p:cNvPr id="14" name="Text 12"/>
          <p:cNvSpPr/>
          <p:nvPr/>
        </p:nvSpPr>
        <p:spPr>
          <a:xfrm>
            <a:off x="566928" y="1988820"/>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Foundations</a:t>
            </a:r>
            <a:endParaRPr lang="en-US" sz="1050" dirty="0"/>
          </a:p>
        </p:txBody>
      </p:sp>
      <p:sp>
        <p:nvSpPr>
          <p:cNvPr id="15" name="Text 13"/>
          <p:cNvSpPr/>
          <p:nvPr/>
        </p:nvSpPr>
        <p:spPr>
          <a:xfrm>
            <a:off x="566928" y="2144268"/>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all three</a:t>
            </a:r>
            <a:endParaRPr lang="en-US" sz="850" dirty="0"/>
          </a:p>
        </p:txBody>
      </p:sp>
      <p:sp>
        <p:nvSpPr>
          <p:cNvPr id="16" name="Shape 14"/>
          <p:cNvSpPr/>
          <p:nvPr/>
        </p:nvSpPr>
        <p:spPr>
          <a:xfrm>
            <a:off x="3060652" y="2016252"/>
            <a:ext cx="1539039" cy="224028"/>
          </a:xfrm>
          <a:prstGeom prst="roundRect">
            <a:avLst>
              <a:gd name="adj" fmla="val 12245"/>
            </a:avLst>
          </a:prstGeom>
          <a:solidFill>
            <a:srgbClr val="15803D"/>
          </a:solidFill>
          <a:ln w="12700">
            <a:solidFill>
              <a:srgbClr val="15803D"/>
            </a:solidFill>
            <a:prstDash val="solid"/>
          </a:ln>
        </p:spPr>
      </p:sp>
      <p:sp>
        <p:nvSpPr>
          <p:cNvPr id="17" name="Text 15"/>
          <p:cNvSpPr/>
          <p:nvPr/>
        </p:nvSpPr>
        <p:spPr>
          <a:xfrm>
            <a:off x="3115516" y="2029968"/>
            <a:ext cx="914400" cy="201168"/>
          </a:xfrm>
          <a:prstGeom prst="rect">
            <a:avLst/>
          </a:prstGeom>
          <a:noFill/>
          <a:ln/>
        </p:spPr>
        <p:txBody>
          <a:bodyPr wrap="square" rtlCol="0" anchor="ctr"/>
          <a:lstStyle/>
          <a:p>
            <a:pPr indent="0" marL="0">
              <a:buNone/>
            </a:pPr>
            <a:r>
              <a:rPr lang="en-US" sz="850" b="1" dirty="0">
                <a:solidFill>
                  <a:srgbClr val="FFFFFF"/>
                </a:solidFill>
                <a:latin typeface="Helvetica" pitchFamily="34" charset="0"/>
                <a:ea typeface="Helvetica" pitchFamily="34" charset="-122"/>
                <a:cs typeface="Helvetica" pitchFamily="34" charset="-120"/>
              </a:rPr>
              <a:t>done</a:t>
            </a:r>
            <a:endParaRPr lang="en-US" sz="850" dirty="0"/>
          </a:p>
        </p:txBody>
      </p:sp>
      <p:sp>
        <p:nvSpPr>
          <p:cNvPr id="18" name="Text 16"/>
          <p:cNvSpPr/>
          <p:nvPr/>
        </p:nvSpPr>
        <p:spPr>
          <a:xfrm>
            <a:off x="566928" y="2322576"/>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Engine — parallel starts</a:t>
            </a:r>
            <a:endParaRPr lang="en-US" sz="1050" dirty="0"/>
          </a:p>
        </p:txBody>
      </p:sp>
      <p:sp>
        <p:nvSpPr>
          <p:cNvPr id="19" name="Text 17"/>
          <p:cNvSpPr/>
          <p:nvPr/>
        </p:nvSpPr>
        <p:spPr>
          <a:xfrm>
            <a:off x="566928" y="2478024"/>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R-01 · R-02 · R-11 · R-12</a:t>
            </a:r>
            <a:endParaRPr lang="en-US" sz="850" dirty="0"/>
          </a:p>
        </p:txBody>
      </p:sp>
      <p:sp>
        <p:nvSpPr>
          <p:cNvPr id="20" name="Shape 18"/>
          <p:cNvSpPr/>
          <p:nvPr/>
        </p:nvSpPr>
        <p:spPr>
          <a:xfrm>
            <a:off x="4437687" y="2350008"/>
            <a:ext cx="1296033" cy="224028"/>
          </a:xfrm>
          <a:prstGeom prst="roundRect">
            <a:avLst>
              <a:gd name="adj" fmla="val 12245"/>
            </a:avLst>
          </a:prstGeom>
          <a:solidFill>
            <a:srgbClr val="489FB5"/>
          </a:solidFill>
          <a:ln w="12700">
            <a:solidFill>
              <a:srgbClr val="489FB5"/>
            </a:solidFill>
            <a:prstDash val="solid"/>
          </a:ln>
        </p:spPr>
      </p:sp>
      <p:sp>
        <p:nvSpPr>
          <p:cNvPr id="21" name="Text 19"/>
          <p:cNvSpPr/>
          <p:nvPr/>
        </p:nvSpPr>
        <p:spPr>
          <a:xfrm>
            <a:off x="566928" y="2656332"/>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Engine — the serial chain</a:t>
            </a:r>
            <a:endParaRPr lang="en-US" sz="1050" dirty="0"/>
          </a:p>
        </p:txBody>
      </p:sp>
      <p:sp>
        <p:nvSpPr>
          <p:cNvPr id="22" name="Text 20"/>
          <p:cNvSpPr/>
          <p:nvPr/>
        </p:nvSpPr>
        <p:spPr>
          <a:xfrm>
            <a:off x="566928" y="2811780"/>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R-04→R-06→R-07→R-08→R-14→R-15</a:t>
            </a:r>
            <a:endParaRPr lang="en-US" sz="850" dirty="0"/>
          </a:p>
        </p:txBody>
      </p:sp>
      <p:sp>
        <p:nvSpPr>
          <p:cNvPr id="23" name="Shape 21"/>
          <p:cNvSpPr/>
          <p:nvPr/>
        </p:nvSpPr>
        <p:spPr>
          <a:xfrm>
            <a:off x="5085703" y="2683764"/>
            <a:ext cx="2511063" cy="224028"/>
          </a:xfrm>
          <a:prstGeom prst="roundRect">
            <a:avLst>
              <a:gd name="adj" fmla="val 12245"/>
            </a:avLst>
          </a:prstGeom>
          <a:solidFill>
            <a:srgbClr val="16697A"/>
          </a:solidFill>
          <a:ln w="12700">
            <a:solidFill>
              <a:srgbClr val="16697A"/>
            </a:solidFill>
            <a:prstDash val="solid"/>
          </a:ln>
        </p:spPr>
      </p:sp>
      <p:sp>
        <p:nvSpPr>
          <p:cNvPr id="24" name="Text 22"/>
          <p:cNvSpPr/>
          <p:nvPr/>
        </p:nvSpPr>
        <p:spPr>
          <a:xfrm>
            <a:off x="5158855" y="2697480"/>
            <a:ext cx="3108960" cy="201168"/>
          </a:xfrm>
          <a:prstGeom prst="rect">
            <a:avLst/>
          </a:prstGeom>
          <a:noFill/>
          <a:ln/>
        </p:spPr>
        <p:txBody>
          <a:bodyPr wrap="square" rtlCol="0" anchor="ctr"/>
          <a:lstStyle/>
          <a:p>
            <a:pPr indent="0" marL="0">
              <a:buNone/>
            </a:pPr>
            <a:r>
              <a:rPr lang="en-US" sz="850" b="1" dirty="0">
                <a:solidFill>
                  <a:srgbClr val="FFFFFF"/>
                </a:solidFill>
                <a:latin typeface="Helvetica" pitchFamily="34" charset="0"/>
                <a:ea typeface="Helvetica" pitchFamily="34" charset="-122"/>
                <a:cs typeface="Helvetica" pitchFamily="34" charset="-120"/>
              </a:rPr>
              <a:t>critical chain — sets the finish date</a:t>
            </a:r>
            <a:endParaRPr lang="en-US" sz="850" dirty="0"/>
          </a:p>
        </p:txBody>
      </p:sp>
      <p:sp>
        <p:nvSpPr>
          <p:cNvPr id="25" name="Text 23"/>
          <p:cNvSpPr/>
          <p:nvPr/>
        </p:nvSpPr>
        <p:spPr>
          <a:xfrm>
            <a:off x="566928" y="2990088"/>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Engine — off-chain work</a:t>
            </a:r>
            <a:endParaRPr lang="en-US" sz="1050" dirty="0"/>
          </a:p>
        </p:txBody>
      </p:sp>
      <p:sp>
        <p:nvSpPr>
          <p:cNvPr id="26" name="Text 24"/>
          <p:cNvSpPr/>
          <p:nvPr/>
        </p:nvSpPr>
        <p:spPr>
          <a:xfrm>
            <a:off x="566928" y="3145536"/>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R-03 · R-05 · R-09 · R-10 · R-13</a:t>
            </a:r>
            <a:endParaRPr lang="en-US" sz="850" dirty="0"/>
          </a:p>
        </p:txBody>
      </p:sp>
      <p:sp>
        <p:nvSpPr>
          <p:cNvPr id="27" name="Shape 25"/>
          <p:cNvSpPr/>
          <p:nvPr/>
        </p:nvSpPr>
        <p:spPr>
          <a:xfrm>
            <a:off x="5490713" y="3017520"/>
            <a:ext cx="1782045" cy="224028"/>
          </a:xfrm>
          <a:prstGeom prst="roundRect">
            <a:avLst>
              <a:gd name="adj" fmla="val 12245"/>
            </a:avLst>
          </a:prstGeom>
          <a:solidFill>
            <a:srgbClr val="489FB5"/>
          </a:solidFill>
          <a:ln w="12700">
            <a:solidFill>
              <a:srgbClr val="489FB5"/>
            </a:solidFill>
            <a:prstDash val="solid"/>
          </a:ln>
        </p:spPr>
      </p:sp>
      <p:sp>
        <p:nvSpPr>
          <p:cNvPr id="28" name="Text 26"/>
          <p:cNvSpPr/>
          <p:nvPr/>
        </p:nvSpPr>
        <p:spPr>
          <a:xfrm>
            <a:off x="566928" y="3323844"/>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Thin capture thread</a:t>
            </a:r>
            <a:endParaRPr lang="en-US" sz="1050" dirty="0"/>
          </a:p>
        </p:txBody>
      </p:sp>
      <p:sp>
        <p:nvSpPr>
          <p:cNvPr id="29" name="Text 27"/>
          <p:cNvSpPr/>
          <p:nvPr/>
        </p:nvSpPr>
        <p:spPr>
          <a:xfrm>
            <a:off x="566928" y="3479292"/>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C-01→C-03, in spare time</a:t>
            </a:r>
            <a:endParaRPr lang="en-US" sz="850" dirty="0"/>
          </a:p>
        </p:txBody>
      </p:sp>
      <p:sp>
        <p:nvSpPr>
          <p:cNvPr id="30" name="Shape 28"/>
          <p:cNvSpPr/>
          <p:nvPr/>
        </p:nvSpPr>
        <p:spPr>
          <a:xfrm>
            <a:off x="5490713" y="3351276"/>
            <a:ext cx="972024" cy="224028"/>
          </a:xfrm>
          <a:prstGeom prst="roundRect">
            <a:avLst>
              <a:gd name="adj" fmla="val 12245"/>
            </a:avLst>
          </a:prstGeom>
          <a:solidFill>
            <a:srgbClr val="94A3B8"/>
          </a:solidFill>
          <a:ln w="12700">
            <a:solidFill>
              <a:srgbClr val="94A3B8"/>
            </a:solidFill>
            <a:prstDash val="solid"/>
          </a:ln>
        </p:spPr>
      </p:sp>
      <p:sp>
        <p:nvSpPr>
          <p:cNvPr id="31" name="Text 29"/>
          <p:cNvSpPr/>
          <p:nvPr/>
        </p:nvSpPr>
        <p:spPr>
          <a:xfrm>
            <a:off x="566928" y="3657600"/>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Capture app</a:t>
            </a:r>
            <a:endParaRPr lang="en-US" sz="1050" dirty="0"/>
          </a:p>
        </p:txBody>
      </p:sp>
      <p:sp>
        <p:nvSpPr>
          <p:cNvPr id="32" name="Text 30"/>
          <p:cNvSpPr/>
          <p:nvPr/>
        </p:nvSpPr>
        <p:spPr>
          <a:xfrm>
            <a:off x="566928" y="3813048"/>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C-04→C-12</a:t>
            </a:r>
            <a:endParaRPr lang="en-US" sz="850" dirty="0"/>
          </a:p>
        </p:txBody>
      </p:sp>
      <p:sp>
        <p:nvSpPr>
          <p:cNvPr id="33" name="Shape 31"/>
          <p:cNvSpPr/>
          <p:nvPr/>
        </p:nvSpPr>
        <p:spPr>
          <a:xfrm>
            <a:off x="7353760" y="3685032"/>
            <a:ext cx="2268057" cy="224028"/>
          </a:xfrm>
          <a:prstGeom prst="roundRect">
            <a:avLst>
              <a:gd name="adj" fmla="val 12245"/>
            </a:avLst>
          </a:prstGeom>
          <a:solidFill>
            <a:srgbClr val="489FB5"/>
          </a:solidFill>
          <a:ln w="12700">
            <a:solidFill>
              <a:srgbClr val="489FB5"/>
            </a:solidFill>
            <a:prstDash val="solid"/>
          </a:ln>
        </p:spPr>
      </p:sp>
      <p:sp>
        <p:nvSpPr>
          <p:cNvPr id="34" name="Text 32"/>
          <p:cNvSpPr/>
          <p:nvPr/>
        </p:nvSpPr>
        <p:spPr>
          <a:xfrm>
            <a:off x="566928" y="3991356"/>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Inspection</a:t>
            </a:r>
            <a:endParaRPr lang="en-US" sz="1050" dirty="0"/>
          </a:p>
        </p:txBody>
      </p:sp>
      <p:sp>
        <p:nvSpPr>
          <p:cNvPr id="35" name="Text 33"/>
          <p:cNvSpPr/>
          <p:nvPr/>
        </p:nvSpPr>
        <p:spPr>
          <a:xfrm>
            <a:off x="566928" y="4146804"/>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I-01→I-10</a:t>
            </a:r>
            <a:endParaRPr lang="en-US" sz="850" dirty="0"/>
          </a:p>
        </p:txBody>
      </p:sp>
      <p:sp>
        <p:nvSpPr>
          <p:cNvPr id="36" name="Shape 34"/>
          <p:cNvSpPr/>
          <p:nvPr/>
        </p:nvSpPr>
        <p:spPr>
          <a:xfrm>
            <a:off x="7839772" y="4018788"/>
            <a:ext cx="2349059" cy="224028"/>
          </a:xfrm>
          <a:prstGeom prst="roundRect">
            <a:avLst>
              <a:gd name="adj" fmla="val 12245"/>
            </a:avLst>
          </a:prstGeom>
          <a:solidFill>
            <a:srgbClr val="489FB5"/>
          </a:solidFill>
          <a:ln w="12700">
            <a:solidFill>
              <a:srgbClr val="489FB5"/>
            </a:solidFill>
            <a:prstDash val="solid"/>
          </a:ln>
        </p:spPr>
      </p:sp>
      <p:sp>
        <p:nvSpPr>
          <p:cNvPr id="37" name="Text 35"/>
          <p:cNvSpPr/>
          <p:nvPr/>
        </p:nvSpPr>
        <p:spPr>
          <a:xfrm>
            <a:off x="566928" y="4325112"/>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Generative AI</a:t>
            </a:r>
            <a:endParaRPr lang="en-US" sz="1050" dirty="0"/>
          </a:p>
        </p:txBody>
      </p:sp>
      <p:sp>
        <p:nvSpPr>
          <p:cNvPr id="38" name="Text 36"/>
          <p:cNvSpPr/>
          <p:nvPr/>
        </p:nvSpPr>
        <p:spPr>
          <a:xfrm>
            <a:off x="566928" y="4480560"/>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A-01→A-09 · never cut</a:t>
            </a:r>
            <a:endParaRPr lang="en-US" sz="850" dirty="0"/>
          </a:p>
        </p:txBody>
      </p:sp>
      <p:sp>
        <p:nvSpPr>
          <p:cNvPr id="39" name="Shape 37"/>
          <p:cNvSpPr/>
          <p:nvPr/>
        </p:nvSpPr>
        <p:spPr>
          <a:xfrm>
            <a:off x="7191756" y="4352544"/>
            <a:ext cx="2997075" cy="224028"/>
          </a:xfrm>
          <a:prstGeom prst="roundRect">
            <a:avLst>
              <a:gd name="adj" fmla="val 12245"/>
            </a:avLst>
          </a:prstGeom>
          <a:solidFill>
            <a:srgbClr val="7C3AED"/>
          </a:solidFill>
          <a:ln w="12700">
            <a:solidFill>
              <a:srgbClr val="7C3AED"/>
            </a:solidFill>
            <a:prstDash val="solid"/>
          </a:ln>
        </p:spPr>
      </p:sp>
      <p:sp>
        <p:nvSpPr>
          <p:cNvPr id="40" name="Text 38"/>
          <p:cNvSpPr/>
          <p:nvPr/>
        </p:nvSpPr>
        <p:spPr>
          <a:xfrm>
            <a:off x="566928" y="4658868"/>
            <a:ext cx="2286000" cy="182880"/>
          </a:xfrm>
          <a:prstGeom prst="rect">
            <a:avLst/>
          </a:prstGeom>
          <a:noFill/>
          <a:ln/>
        </p:spPr>
        <p:txBody>
          <a:bodyPr wrap="square" rtlCol="0" anchor="ctr"/>
          <a:lstStyle/>
          <a:p>
            <a:pPr indent="0" marL="0">
              <a:buNone/>
            </a:pPr>
            <a:r>
              <a:rPr lang="en-US" sz="1050" b="1" dirty="0">
                <a:solidFill>
                  <a:srgbClr val="1B1B1F"/>
                </a:solidFill>
                <a:latin typeface="Helvetica" pitchFamily="34" charset="0"/>
                <a:ea typeface="Helvetica" pitchFamily="34" charset="-122"/>
                <a:cs typeface="Helvetica" pitchFamily="34" charset="-120"/>
              </a:rPr>
              <a:t>Integration · demo · defence</a:t>
            </a:r>
            <a:endParaRPr lang="en-US" sz="1050" dirty="0"/>
          </a:p>
        </p:txBody>
      </p:sp>
      <p:sp>
        <p:nvSpPr>
          <p:cNvPr id="41" name="Text 39"/>
          <p:cNvSpPr/>
          <p:nvPr/>
        </p:nvSpPr>
        <p:spPr>
          <a:xfrm>
            <a:off x="566928" y="4814316"/>
            <a:ext cx="2286000" cy="164592"/>
          </a:xfrm>
          <a:prstGeom prst="rect">
            <a:avLst/>
          </a:prstGeom>
          <a:noFill/>
          <a:ln/>
        </p:spPr>
        <p:txBody>
          <a:bodyPr wrap="square" rtlCol="0" anchor="ctr"/>
          <a:lstStyle/>
          <a:p>
            <a:pPr indent="0" marL="0">
              <a:buNone/>
            </a:pPr>
            <a:r>
              <a:rPr lang="en-US" sz="850" dirty="0">
                <a:solidFill>
                  <a:srgbClr val="6B7280"/>
                </a:solidFill>
                <a:latin typeface="Helvetica" pitchFamily="34" charset="0"/>
                <a:ea typeface="Helvetica" pitchFamily="34" charset="-122"/>
                <a:cs typeface="Helvetica" pitchFamily="34" charset="-120"/>
              </a:rPr>
              <a:t>I1–I4, recorded backup</a:t>
            </a:r>
            <a:endParaRPr lang="en-US" sz="850" dirty="0"/>
          </a:p>
        </p:txBody>
      </p:sp>
      <p:sp>
        <p:nvSpPr>
          <p:cNvPr id="42" name="Shape 40"/>
          <p:cNvSpPr/>
          <p:nvPr/>
        </p:nvSpPr>
        <p:spPr>
          <a:xfrm>
            <a:off x="10188831" y="4686300"/>
            <a:ext cx="1296033" cy="224028"/>
          </a:xfrm>
          <a:prstGeom prst="roundRect">
            <a:avLst>
              <a:gd name="adj" fmla="val 12245"/>
            </a:avLst>
          </a:prstGeom>
          <a:solidFill>
            <a:srgbClr val="475569"/>
          </a:solidFill>
          <a:ln w="12700">
            <a:solidFill>
              <a:srgbClr val="475569"/>
            </a:solidFill>
            <a:prstDash val="solid"/>
          </a:ln>
        </p:spPr>
      </p:sp>
      <p:sp>
        <p:nvSpPr>
          <p:cNvPr id="43" name="Shape 41"/>
          <p:cNvSpPr/>
          <p:nvPr/>
        </p:nvSpPr>
        <p:spPr>
          <a:xfrm>
            <a:off x="4621257" y="5052060"/>
            <a:ext cx="118872" cy="155448"/>
          </a:xfrm>
          <a:prstGeom prst="diamond">
            <a:avLst/>
          </a:prstGeom>
          <a:solidFill>
            <a:srgbClr val="1B1B1F"/>
          </a:solidFill>
          <a:ln w="12700">
            <a:solidFill>
              <a:srgbClr val="1B1B1F"/>
            </a:solidFill>
            <a:prstDash val="solid"/>
          </a:ln>
        </p:spPr>
      </p:sp>
      <p:sp>
        <p:nvSpPr>
          <p:cNvPr id="44" name="Text 42"/>
          <p:cNvSpPr/>
          <p:nvPr/>
        </p:nvSpPr>
        <p:spPr>
          <a:xfrm>
            <a:off x="4424661"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M1</a:t>
            </a:r>
            <a:endParaRPr lang="en-US" sz="850" dirty="0"/>
          </a:p>
        </p:txBody>
      </p:sp>
      <p:sp>
        <p:nvSpPr>
          <p:cNvPr id="45" name="Shape 43"/>
          <p:cNvSpPr/>
          <p:nvPr/>
        </p:nvSpPr>
        <p:spPr>
          <a:xfrm>
            <a:off x="5755285" y="5052060"/>
            <a:ext cx="118872" cy="155448"/>
          </a:xfrm>
          <a:prstGeom prst="diamond">
            <a:avLst/>
          </a:prstGeom>
          <a:solidFill>
            <a:srgbClr val="1B1B1F"/>
          </a:solidFill>
          <a:ln w="12700">
            <a:solidFill>
              <a:srgbClr val="1B1B1F"/>
            </a:solidFill>
            <a:prstDash val="solid"/>
          </a:ln>
        </p:spPr>
      </p:sp>
      <p:sp>
        <p:nvSpPr>
          <p:cNvPr id="46" name="Text 44"/>
          <p:cNvSpPr/>
          <p:nvPr/>
        </p:nvSpPr>
        <p:spPr>
          <a:xfrm>
            <a:off x="5558689"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M2</a:t>
            </a:r>
            <a:endParaRPr lang="en-US" sz="850" dirty="0"/>
          </a:p>
        </p:txBody>
      </p:sp>
      <p:sp>
        <p:nvSpPr>
          <p:cNvPr id="47" name="Shape 45"/>
          <p:cNvSpPr/>
          <p:nvPr/>
        </p:nvSpPr>
        <p:spPr>
          <a:xfrm>
            <a:off x="6322300" y="5052060"/>
            <a:ext cx="118872" cy="155448"/>
          </a:xfrm>
          <a:prstGeom prst="diamond">
            <a:avLst/>
          </a:prstGeom>
          <a:solidFill>
            <a:srgbClr val="1B1B1F"/>
          </a:solidFill>
          <a:ln w="12700">
            <a:solidFill>
              <a:srgbClr val="1B1B1F"/>
            </a:solidFill>
            <a:prstDash val="solid"/>
          </a:ln>
        </p:spPr>
      </p:sp>
      <p:sp>
        <p:nvSpPr>
          <p:cNvPr id="48" name="Text 46"/>
          <p:cNvSpPr/>
          <p:nvPr/>
        </p:nvSpPr>
        <p:spPr>
          <a:xfrm>
            <a:off x="6125704"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M3</a:t>
            </a:r>
            <a:endParaRPr lang="en-US" sz="850" dirty="0"/>
          </a:p>
        </p:txBody>
      </p:sp>
      <p:sp>
        <p:nvSpPr>
          <p:cNvPr id="49" name="Shape 47"/>
          <p:cNvSpPr/>
          <p:nvPr/>
        </p:nvSpPr>
        <p:spPr>
          <a:xfrm>
            <a:off x="7456328" y="5052060"/>
            <a:ext cx="118872" cy="155448"/>
          </a:xfrm>
          <a:prstGeom prst="diamond">
            <a:avLst/>
          </a:prstGeom>
          <a:solidFill>
            <a:srgbClr val="1B1B1F"/>
          </a:solidFill>
          <a:ln w="12700">
            <a:solidFill>
              <a:srgbClr val="1B1B1F"/>
            </a:solidFill>
            <a:prstDash val="solid"/>
          </a:ln>
        </p:spPr>
      </p:sp>
      <p:sp>
        <p:nvSpPr>
          <p:cNvPr id="50" name="Text 48"/>
          <p:cNvSpPr/>
          <p:nvPr/>
        </p:nvSpPr>
        <p:spPr>
          <a:xfrm>
            <a:off x="7259732"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M4</a:t>
            </a:r>
            <a:endParaRPr lang="en-US" sz="850" dirty="0"/>
          </a:p>
        </p:txBody>
      </p:sp>
      <p:sp>
        <p:nvSpPr>
          <p:cNvPr id="51" name="Shape 49"/>
          <p:cNvSpPr/>
          <p:nvPr/>
        </p:nvSpPr>
        <p:spPr>
          <a:xfrm>
            <a:off x="8590357" y="5052060"/>
            <a:ext cx="118872" cy="155448"/>
          </a:xfrm>
          <a:prstGeom prst="diamond">
            <a:avLst/>
          </a:prstGeom>
          <a:solidFill>
            <a:srgbClr val="1B1B1F"/>
          </a:solidFill>
          <a:ln w="12700">
            <a:solidFill>
              <a:srgbClr val="1B1B1F"/>
            </a:solidFill>
            <a:prstDash val="solid"/>
          </a:ln>
        </p:spPr>
      </p:sp>
      <p:sp>
        <p:nvSpPr>
          <p:cNvPr id="52" name="Text 50"/>
          <p:cNvSpPr/>
          <p:nvPr/>
        </p:nvSpPr>
        <p:spPr>
          <a:xfrm>
            <a:off x="8393761"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M5</a:t>
            </a:r>
            <a:endParaRPr lang="en-US" sz="850" dirty="0"/>
          </a:p>
        </p:txBody>
      </p:sp>
      <p:sp>
        <p:nvSpPr>
          <p:cNvPr id="53" name="Shape 51"/>
          <p:cNvSpPr/>
          <p:nvPr/>
        </p:nvSpPr>
        <p:spPr>
          <a:xfrm>
            <a:off x="10291399" y="5052060"/>
            <a:ext cx="118872" cy="155448"/>
          </a:xfrm>
          <a:prstGeom prst="diamond">
            <a:avLst/>
          </a:prstGeom>
          <a:solidFill>
            <a:srgbClr val="1B1B1F"/>
          </a:solidFill>
          <a:ln w="12700">
            <a:solidFill>
              <a:srgbClr val="1B1B1F"/>
            </a:solidFill>
            <a:prstDash val="solid"/>
          </a:ln>
        </p:spPr>
      </p:sp>
      <p:sp>
        <p:nvSpPr>
          <p:cNvPr id="54" name="Text 52"/>
          <p:cNvSpPr/>
          <p:nvPr/>
        </p:nvSpPr>
        <p:spPr>
          <a:xfrm>
            <a:off x="10094803"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M7</a:t>
            </a:r>
            <a:endParaRPr lang="en-US" sz="850" dirty="0"/>
          </a:p>
        </p:txBody>
      </p:sp>
      <p:sp>
        <p:nvSpPr>
          <p:cNvPr id="55" name="Shape 53"/>
          <p:cNvSpPr/>
          <p:nvPr/>
        </p:nvSpPr>
        <p:spPr>
          <a:xfrm>
            <a:off x="11425428" y="5052060"/>
            <a:ext cx="118872" cy="155448"/>
          </a:xfrm>
          <a:prstGeom prst="diamond">
            <a:avLst/>
          </a:prstGeom>
          <a:solidFill>
            <a:srgbClr val="1B1B1F"/>
          </a:solidFill>
          <a:ln w="12700">
            <a:solidFill>
              <a:srgbClr val="1B1B1F"/>
            </a:solidFill>
            <a:prstDash val="solid"/>
          </a:ln>
        </p:spPr>
      </p:sp>
      <p:sp>
        <p:nvSpPr>
          <p:cNvPr id="56" name="Text 54"/>
          <p:cNvSpPr/>
          <p:nvPr/>
        </p:nvSpPr>
        <p:spPr>
          <a:xfrm>
            <a:off x="11228832" y="5216652"/>
            <a:ext cx="512064" cy="182880"/>
          </a:xfrm>
          <a:prstGeom prst="rect">
            <a:avLst/>
          </a:prstGeom>
          <a:noFill/>
          <a:ln/>
        </p:spPr>
        <p:txBody>
          <a:bodyPr wrap="square" rtlCol="0" anchor="ctr"/>
          <a:lstStyle/>
          <a:p>
            <a:pPr algn="ctr" indent="0" marL="0">
              <a:buNone/>
            </a:pPr>
            <a:r>
              <a:rPr lang="en-US" sz="850" dirty="0">
                <a:solidFill>
                  <a:srgbClr val="1B1B1F"/>
                </a:solidFill>
                <a:latin typeface="Helvetica" pitchFamily="34" charset="0"/>
                <a:ea typeface="Helvetica" pitchFamily="34" charset="-122"/>
                <a:cs typeface="Helvetica" pitchFamily="34" charset="-120"/>
              </a:rPr>
              <a:t>M8</a:t>
            </a:r>
            <a:endParaRPr lang="en-US" sz="850" dirty="0"/>
          </a:p>
        </p:txBody>
      </p:sp>
      <p:sp>
        <p:nvSpPr>
          <p:cNvPr id="57" name="Shape 55"/>
          <p:cNvSpPr/>
          <p:nvPr/>
        </p:nvSpPr>
        <p:spPr>
          <a:xfrm>
            <a:off x="4113679" y="1591056"/>
            <a:ext cx="0" cy="3479292"/>
          </a:xfrm>
          <a:prstGeom prst="line">
            <a:avLst/>
          </a:prstGeom>
          <a:noFill/>
          <a:ln w="19050">
            <a:solidFill>
              <a:srgbClr val="B91C1C"/>
            </a:solidFill>
            <a:prstDash val="dash"/>
          </a:ln>
        </p:spPr>
      </p:sp>
      <p:sp>
        <p:nvSpPr>
          <p:cNvPr id="58" name="Text 56"/>
          <p:cNvSpPr/>
          <p:nvPr/>
        </p:nvSpPr>
        <p:spPr>
          <a:xfrm>
            <a:off x="3821071" y="1353312"/>
            <a:ext cx="640080" cy="201168"/>
          </a:xfrm>
          <a:prstGeom prst="rect">
            <a:avLst/>
          </a:prstGeom>
          <a:noFill/>
          <a:ln/>
        </p:spPr>
        <p:txBody>
          <a:bodyPr wrap="square" rtlCol="0" anchor="ctr"/>
          <a:lstStyle/>
          <a:p>
            <a:pPr algn="ctr" indent="0" marL="0">
              <a:buNone/>
            </a:pPr>
            <a:r>
              <a:rPr lang="en-US" sz="900" b="1" dirty="0">
                <a:solidFill>
                  <a:srgbClr val="B91C1C"/>
                </a:solidFill>
                <a:latin typeface="Helvetica" pitchFamily="34" charset="0"/>
                <a:ea typeface="Helvetica" pitchFamily="34" charset="-122"/>
                <a:cs typeface="Helvetica" pitchFamily="34" charset="-120"/>
              </a:rPr>
              <a:t>today</a:t>
            </a:r>
            <a:endParaRPr lang="en-US" sz="900" dirty="0"/>
          </a:p>
        </p:txBody>
      </p:sp>
      <p:sp>
        <p:nvSpPr>
          <p:cNvPr id="59" name="Text 57"/>
          <p:cNvSpPr/>
          <p:nvPr/>
        </p:nvSpPr>
        <p:spPr>
          <a:xfrm>
            <a:off x="566928" y="5687568"/>
            <a:ext cx="11055096" cy="457200"/>
          </a:xfrm>
          <a:prstGeom prst="rect">
            <a:avLst/>
          </a:prstGeom>
          <a:noFill/>
          <a:ln/>
        </p:spPr>
        <p:txBody>
          <a:bodyPr wrap="square" rtlCol="0" anchor="ctr"/>
          <a:lstStyle/>
          <a:p>
            <a:pPr indent="0" marL="0">
              <a:buNone/>
            </a:pPr>
            <a:r>
              <a:rPr lang="en-US" sz="1200" dirty="0">
                <a:solidFill>
                  <a:srgbClr val="B45309"/>
                </a:solidFill>
                <a:latin typeface="Helvetica" pitchFamily="34" charset="0"/>
                <a:ea typeface="Helvetica" pitchFamily="34" charset="-122"/>
                <a:cs typeface="Helvetica" pitchFamily="34" charset="-120"/>
              </a:rPr>
              <a:t>M1 (25 Sept) is at risk. The chain needs ~40 hours to reach a working endpoint — about four and a half weeks from a 3 Sept start, which lands in early October, not late September. We are flagging it now rather than at the gate.</a:t>
            </a:r>
            <a:endParaRPr lang="en-US" sz="1200" dirty="0"/>
          </a:p>
        </p:txBody>
      </p:sp>
      <p:sp>
        <p:nvSpPr>
          <p:cNvPr id="60" name="Text 58"/>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61" name="Text 59"/>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3</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What slipped, and why</a:t>
            </a:r>
            <a:endParaRPr lang="en-US" sz="3000" dirty="0"/>
          </a:p>
        </p:txBody>
      </p:sp>
      <p:sp>
        <p:nvSpPr>
          <p:cNvPr id="4" name="Shape 2"/>
          <p:cNvSpPr/>
          <p:nvPr/>
        </p:nvSpPr>
        <p:spPr>
          <a:xfrm>
            <a:off x="566928" y="1188720"/>
            <a:ext cx="1371600" cy="41148"/>
          </a:xfrm>
          <a:prstGeom prst="rect">
            <a:avLst/>
          </a:prstGeom>
          <a:solidFill>
            <a:srgbClr val="16697A"/>
          </a:solidFill>
          <a:ln/>
        </p:spPr>
      </p:sp>
      <p:sp>
        <p:nvSpPr>
          <p:cNvPr id="5" name="Text 3"/>
          <p:cNvSpPr/>
          <p:nvPr/>
        </p:nvSpPr>
        <p:spPr>
          <a:xfrm>
            <a:off x="566928" y="1536192"/>
            <a:ext cx="11055096" cy="4572000"/>
          </a:xfrm>
          <a:prstGeom prst="rect">
            <a:avLst/>
          </a:prstGeom>
          <a:noFill/>
          <a:ln/>
        </p:spPr>
        <p:txBody>
          <a:bodyPr wrap="square" rtlCol="0" anchor="ctr"/>
          <a:lstStyle/>
          <a:p>
            <a:pPr marL="342900" indent="-342900">
              <a:lnSpc>
                <a:spcPct val="135000"/>
              </a:lnSpc>
              <a:buSzPct val="100000"/>
              <a:buChar char="•"/>
            </a:pPr>
            <a:r>
              <a:rPr lang="en-US" sz="1300" b="1" dirty="0">
                <a:solidFill>
                  <a:srgbClr val="B45309"/>
                </a:solidFill>
                <a:latin typeface="Helvetica" pitchFamily="34" charset="0"/>
                <a:ea typeface="Helvetica" pitchFamily="34" charset="-122"/>
                <a:cs typeface="Helvetica" pitchFamily="34" charset="-120"/>
              </a:rPr>
              <a:t>No runnable reconstruction pipeline yet.</a:t>
            </a:r>
            <a:endParaRPr lang="en-US" sz="1300" dirty="0"/>
          </a:p>
          <a:p>
            <a:pPr lvl="1" marL="508000" indent="-2540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Two weeks went into foundations and process. That was deliberate — but it means nothing reconstructs a part today.</a:t>
            </a:r>
            <a:endParaRPr lang="en-US" sz="1300" dirty="0"/>
          </a:p>
          <a:p>
            <a:pPr marL="342900" indent="-342900">
              <a:lnSpc>
                <a:spcPct val="135000"/>
              </a:lnSpc>
              <a:buSzPct val="100000"/>
              <a:buChar char="•"/>
            </a:pPr>
            <a:r>
              <a:rPr lang="en-US" sz="1300" b="1" dirty="0">
                <a:solidFill>
                  <a:srgbClr val="B45309"/>
                </a:solidFill>
                <a:latin typeface="Helvetica" pitchFamily="34" charset="0"/>
                <a:ea typeface="Helvetica" pitchFamily="34" charset="-122"/>
                <a:cs typeface="Helvetica" pitchFamily="34" charset="-120"/>
              </a:rPr>
              <a:t>M1 (25 Sept) will not be met as scheduled.</a:t>
            </a:r>
            <a:endParaRPr lang="en-US" sz="1300" dirty="0"/>
          </a:p>
          <a:p>
            <a:pPr lvl="1" marL="508000" indent="-2540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The critical-chain arithmetic says early October. We are saying so now, a week before the gate, rather than at it.</a:t>
            </a:r>
            <a:endParaRPr lang="en-US" sz="1300" dirty="0"/>
          </a:p>
          <a:p>
            <a:pPr marL="342900" indent="-342900">
              <a:lnSpc>
                <a:spcPct val="135000"/>
              </a:lnSpc>
              <a:buSzPct val="100000"/>
              <a:buChar char="•"/>
            </a:pPr>
            <a:r>
              <a:rPr lang="en-US" sz="1300" b="1" dirty="0">
                <a:solidFill>
                  <a:srgbClr val="1B1B1F"/>
                </a:solidFill>
                <a:latin typeface="Helvetica" pitchFamily="34" charset="0"/>
                <a:ea typeface="Helvetica" pitchFamily="34" charset="-122"/>
                <a:cs typeface="Helvetica" pitchFamily="34" charset="-120"/>
              </a:rPr>
              <a:t>F-03 took 4.5 hours against a 3-hour estimate.</a:t>
            </a:r>
            <a:endParaRPr lang="en-US" sz="1300" dirty="0"/>
          </a:p>
          <a:p>
            <a:pPr lvl="1" marL="508000" indent="-2540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Five API operations, ten worked examples, six tests and a new contributing rule. Recorded as the real number — that is how the next estimate gets less wrong.</a:t>
            </a:r>
            <a:endParaRPr lang="en-US" sz="1300" dirty="0"/>
          </a:p>
          <a:p>
            <a:pPr marL="342900" indent="-342900">
              <a:lnSpc>
                <a:spcPct val="135000"/>
              </a:lnSpc>
              <a:buSzPct val="100000"/>
              <a:buChar char="•"/>
            </a:pPr>
            <a:r>
              <a:rPr lang="en-US" sz="1300" b="1" dirty="0">
                <a:solidFill>
                  <a:srgbClr val="1B1B1F"/>
                </a:solidFill>
                <a:latin typeface="Helvetica" pitchFamily="34" charset="0"/>
                <a:ea typeface="Helvetica" pitchFamily="34" charset="-122"/>
                <a:cs typeface="Helvetica" pitchFamily="34" charset="-120"/>
              </a:rPr>
              <a:t>Two completed stories have no actual hours recorded at all.</a:t>
            </a:r>
            <a:endParaRPr lang="en-US" sz="1300" dirty="0"/>
          </a:p>
          <a:p>
            <a:pPr lvl="1" marL="508000" indent="-2540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Caught in review. Now a written rule: measured number, or visibly blank — never the estimate copied across, which looks identical to a real measurement.</a:t>
            </a:r>
            <a:endParaRPr lang="en-US" sz="1300" dirty="0"/>
          </a:p>
          <a:p>
            <a:pPr marL="342900" indent="-342900">
              <a:lnSpc>
                <a:spcPct val="135000"/>
              </a:lnSpc>
              <a:buSzPct val="100000"/>
              <a:buChar char="•"/>
            </a:pPr>
            <a:r>
              <a:rPr lang="en-US" sz="1300" b="1" dirty="0">
                <a:solidFill>
                  <a:srgbClr val="1B1B1F"/>
                </a:solidFill>
                <a:latin typeface="Helvetica" pitchFamily="34" charset="0"/>
                <a:ea typeface="Helvetica" pitchFamily="34" charset="-122"/>
                <a:cs typeface="Helvetica" pitchFamily="34" charset="-120"/>
              </a:rPr>
              <a:t>Golden capture needed three attempts.</a:t>
            </a:r>
            <a:endParaRPr lang="en-US" sz="1300" dirty="0"/>
          </a:p>
          <a:p>
            <a:pPr lvl="1" marL="508000" indent="-254000">
              <a:lnSpc>
                <a:spcPct val="135000"/>
              </a:lnSpc>
              <a:buSzPct val="100000"/>
              <a:buChar char="▪"/>
            </a:pPr>
            <a:r>
              <a:rPr lang="en-US" sz="1300" dirty="0">
                <a:solidFill>
                  <a:srgbClr val="1B1B1F"/>
                </a:solidFill>
                <a:latin typeface="Helvetica" pitchFamily="34" charset="0"/>
                <a:ea typeface="Helvetica" pitchFamily="34" charset="-122"/>
                <a:cs typeface="Helvetica" pitchFamily="34" charset="-120"/>
              </a:rPr>
              <a:t>First set framed the part too small; the retake caught the phone silently switching lenses mid-session, which would have invalidated the camera calibration.</a:t>
            </a:r>
            <a:endParaRPr lang="en-US" sz="1300" dirty="0"/>
          </a:p>
        </p:txBody>
      </p:sp>
      <p:sp>
        <p:nvSpPr>
          <p:cNvPr id="6" name="Text 4"/>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7" name="Text 5"/>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rtlCol="0" anchor="ctr"/>
          <a:lstStyle/>
          <a:p>
            <a:pPr indent="0" marL="0">
              <a:buNone/>
            </a:pPr>
            <a:r>
              <a:rPr lang="en-US" sz="1100" b="1" spc="160" kern="0" dirty="0">
                <a:solidFill>
                  <a:srgbClr val="16697A"/>
                </a:solidFill>
                <a:latin typeface="Helvetica" pitchFamily="34" charset="0"/>
                <a:ea typeface="Helvetica" pitchFamily="34" charset="-122"/>
                <a:cs typeface="Helvetica" pitchFamily="34" charset="-120"/>
              </a:rPr>
              <a:t>QUESTION 4 · BY 2 OCTOBER</a:t>
            </a:r>
            <a:endParaRPr lang="en-US" sz="1100" dirty="0"/>
          </a:p>
        </p:txBody>
      </p:sp>
      <p:sp>
        <p:nvSpPr>
          <p:cNvPr id="3" name="Text 1"/>
          <p:cNvSpPr/>
          <p:nvPr/>
        </p:nvSpPr>
        <p:spPr>
          <a:xfrm>
            <a:off x="566928" y="566928"/>
            <a:ext cx="11055096" cy="566928"/>
          </a:xfrm>
          <a:prstGeom prst="rect">
            <a:avLst/>
          </a:prstGeom>
          <a:noFill/>
          <a:ln/>
        </p:spPr>
        <p:txBody>
          <a:bodyPr wrap="square" rtlCol="0" anchor="ctr"/>
          <a:lstStyle/>
          <a:p>
            <a:pPr indent="0" marL="0">
              <a:buNone/>
            </a:pPr>
            <a:r>
              <a:rPr lang="en-US" sz="3000" b="1" dirty="0">
                <a:solidFill>
                  <a:srgbClr val="1B1B1F"/>
                </a:solidFill>
                <a:latin typeface="Helvetica" pitchFamily="34" charset="0"/>
                <a:ea typeface="Helvetica" pitchFamily="34" charset="-122"/>
                <a:cs typeface="Helvetica" pitchFamily="34" charset="-120"/>
              </a:rPr>
              <a:t>What we will have by the next review</a:t>
            </a:r>
            <a:endParaRPr lang="en-US" sz="3000" dirty="0"/>
          </a:p>
        </p:txBody>
      </p:sp>
      <p:sp>
        <p:nvSpPr>
          <p:cNvPr id="4" name="Shape 2"/>
          <p:cNvSpPr/>
          <p:nvPr/>
        </p:nvSpPr>
        <p:spPr>
          <a:xfrm>
            <a:off x="566928" y="1188720"/>
            <a:ext cx="1371600" cy="41148"/>
          </a:xfrm>
          <a:prstGeom prst="rect">
            <a:avLst/>
          </a:prstGeom>
          <a:solidFill>
            <a:srgbClr val="16697A"/>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914400"/>
        </p:xfrm>
        <a:graphic>
          <a:graphicData uri="http://schemas.openxmlformats.org/drawingml/2006/table">
            <a:tbl>
              <a:tblPr/>
              <a:tblGrid>
                <a:gridCol w="1005840"/>
                <a:gridCol w="7772400"/>
                <a:gridCol w="2276856"/>
              </a:tblGrid>
              <a:tr h="402336">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Story</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What it delivers</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c>
                  <a:txBody>
                    <a:bodyPr/>
                    <a:lstStyle/>
                    <a:p>
                      <a:pPr indent="0" marL="0">
                        <a:buNone/>
                      </a:pPr>
                      <a:r>
                        <a:rPr lang="en-US" sz="1250" b="1" dirty="0">
                          <a:solidFill>
                            <a:srgbClr val="FFFFFF"/>
                          </a:solidFill>
                          <a:latin typeface="Helvetica" pitchFamily="34" charset="0"/>
                          <a:ea typeface="Helvetica" pitchFamily="34" charset="-122"/>
                          <a:cs typeface="Helvetica" pitchFamily="34" charset="-120"/>
                        </a:rPr>
                        <a:t>Owner</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6697A"/>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F-05</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GPU pod provisioned, all three members able to connect and run a smoke test</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@mbj1994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F-06</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Golden capture set complete — third object, CAD model, download script + checksum</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@mbj1994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F-07</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Reproducible environment — one command, same result on laptop and pod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unclaimed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R-02</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ChArUco board detected, metric camera pose per frame</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unclaimed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R-01</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The reconstruction model run on the golden capture, end to end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unclaimed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R-04</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Metric alignment — the bottleneck the whole chain waits on</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250" dirty="0">
                          <a:solidFill>
                            <a:srgbClr val="1B1B1F"/>
                          </a:solidFill>
                          <a:latin typeface="Helvetica" pitchFamily="34" charset="0"/>
                          <a:ea typeface="Helvetica" pitchFamily="34" charset="-122"/>
                          <a:cs typeface="Helvetica" pitchFamily="34" charset="-120"/>
                        </a:rPr>
                        <a:t>unclaimed</a:t>
                      </a:r>
                      <a:endParaRPr lang="en-US" sz="1250" dirty="0">
                        <a:latin typeface="Helvetica" charset="0"/>
                        <a:ea typeface="Helvetica" charset="0"/>
                        <a:cs typeface="Helvetica" charset="0"/>
                      </a:endParaRPr>
                    </a:p>
                  </a:txBody>
                  <a:tcPr marL="91440" marR="9144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4617720"/>
            <a:ext cx="5486400" cy="310896"/>
          </a:xfrm>
          <a:prstGeom prst="rect">
            <a:avLst/>
          </a:prstGeom>
          <a:noFill/>
          <a:ln/>
        </p:spPr>
        <p:txBody>
          <a:bodyPr wrap="square" rtlCol="0" anchor="ctr"/>
          <a:lstStyle/>
          <a:p>
            <a:pPr indent="0" marL="0">
              <a:buNone/>
            </a:pPr>
            <a:r>
              <a:rPr lang="en-US" sz="1600" b="1" dirty="0">
                <a:solidFill>
                  <a:srgbClr val="16697A"/>
                </a:solidFill>
                <a:latin typeface="Helvetica" pitchFamily="34" charset="0"/>
                <a:ea typeface="Helvetica" pitchFamily="34" charset="-122"/>
                <a:cs typeface="Helvetica" pitchFamily="34" charset="-120"/>
              </a:rPr>
              <a:t>The commitment</a:t>
            </a:r>
            <a:endParaRPr lang="en-US" sz="1600" dirty="0"/>
          </a:p>
        </p:txBody>
      </p:sp>
      <p:sp>
        <p:nvSpPr>
          <p:cNvPr id="7" name="Text 4"/>
          <p:cNvSpPr/>
          <p:nvPr/>
        </p:nvSpPr>
        <p:spPr>
          <a:xfrm>
            <a:off x="566928" y="4956048"/>
            <a:ext cx="11055096" cy="640080"/>
          </a:xfrm>
          <a:prstGeom prst="rect">
            <a:avLst/>
          </a:prstGeom>
          <a:noFill/>
          <a:ln/>
        </p:spPr>
        <p:txBody>
          <a:bodyPr wrap="square" rtlCol="0" anchor="ctr"/>
          <a:lstStyle/>
          <a:p>
            <a:pPr indent="0" marL="0">
              <a:buNone/>
            </a:pPr>
            <a:r>
              <a:rPr lang="en-US" sz="1500" dirty="0">
                <a:solidFill>
                  <a:srgbClr val="1B1B1F"/>
                </a:solidFill>
                <a:latin typeface="Helvetica" pitchFamily="34" charset="0"/>
                <a:ea typeface="Helvetica" pitchFamily="34" charset="-122"/>
                <a:cs typeface="Helvetica" pitchFamily="34" charset="-120"/>
              </a:rPr>
              <a:t>By the next review we will show the golden capture going into the reconstruction model and a metric point cloud coming out — a running pipeline, not slides. If the chain stalls, that is the first thing we will say.</a:t>
            </a:r>
            <a:endParaRPr lang="en-US" sz="1500" dirty="0"/>
          </a:p>
        </p:txBody>
      </p:sp>
      <p:sp>
        <p:nvSpPr>
          <p:cNvPr id="8" name="Text 5"/>
          <p:cNvSpPr/>
          <p:nvPr/>
        </p:nvSpPr>
        <p:spPr>
          <a:xfrm>
            <a:off x="566928" y="6400800"/>
            <a:ext cx="5486400" cy="274320"/>
          </a:xfrm>
          <a:prstGeom prst="rect">
            <a:avLst/>
          </a:prstGeom>
          <a:noFill/>
          <a:ln/>
        </p:spPr>
        <p:txBody>
          <a:bodyPr wrap="square" rtlCol="0" anchor="ctr"/>
          <a:lstStyle/>
          <a:p>
            <a:pPr indent="0" marL="0">
              <a:buNone/>
            </a:pPr>
            <a:r>
              <a:rPr lang="en-US" sz="950" dirty="0">
                <a:solidFill>
                  <a:srgbClr val="6B7280"/>
                </a:solidFill>
                <a:latin typeface="Helvetica" pitchFamily="34" charset="0"/>
                <a:ea typeface="Helvetica" pitchFamily="34" charset="-122"/>
                <a:cs typeface="Helvetica" pitchFamily="34" charset="-120"/>
              </a:rPr>
              <a:t>ProofShape · CS595 · 18 Sept 2026</a:t>
            </a:r>
            <a:endParaRPr lang="en-US" sz="950" dirty="0"/>
          </a:p>
        </p:txBody>
      </p:sp>
      <p:sp>
        <p:nvSpPr>
          <p:cNvPr id="9" name="Text 6"/>
          <p:cNvSpPr/>
          <p:nvPr/>
        </p:nvSpPr>
        <p:spPr>
          <a:xfrm>
            <a:off x="11073384" y="6400800"/>
            <a:ext cx="548640" cy="274320"/>
          </a:xfrm>
          <a:prstGeom prst="rect">
            <a:avLst/>
          </a:prstGeom>
          <a:noFill/>
          <a:ln/>
        </p:spPr>
        <p:txBody>
          <a:bodyPr wrap="square" rtlCol="0" anchor="ctr"/>
          <a:lstStyle/>
          <a:p>
            <a:pPr algn="r" indent="0" marL="0">
              <a:buNone/>
            </a:pPr>
            <a:r>
              <a:rPr lang="en-US" sz="950" dirty="0">
                <a:solidFill>
                  <a:srgbClr val="6B7280"/>
                </a:solidFill>
                <a:latin typeface="Helvetica" pitchFamily="34" charset="0"/>
                <a:ea typeface="Helvetica" pitchFamily="34" charset="-122"/>
                <a:cs typeface="Helvetica"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6697A"/>
          </a:solidFill>
          <a:ln/>
        </p:spPr>
      </p:sp>
      <p:sp>
        <p:nvSpPr>
          <p:cNvPr id="3" name="Text 1"/>
          <p:cNvSpPr/>
          <p:nvPr/>
        </p:nvSpPr>
        <p:spPr>
          <a:xfrm>
            <a:off x="1005840" y="1371600"/>
            <a:ext cx="10058400" cy="640080"/>
          </a:xfrm>
          <a:prstGeom prst="rect">
            <a:avLst/>
          </a:prstGeom>
          <a:noFill/>
          <a:ln/>
        </p:spPr>
        <p:txBody>
          <a:bodyPr wrap="square" rtlCol="0" anchor="ctr"/>
          <a:lstStyle/>
          <a:p>
            <a:pPr indent="0" marL="0">
              <a:buNone/>
            </a:pPr>
            <a:r>
              <a:rPr lang="en-US" sz="3800" b="1" dirty="0">
                <a:solidFill>
                  <a:srgbClr val="1B1B1F"/>
                </a:solidFill>
                <a:latin typeface="Helvetica" pitchFamily="34" charset="0"/>
                <a:ea typeface="Helvetica" pitchFamily="34" charset="-122"/>
                <a:cs typeface="Helvetica" pitchFamily="34" charset="-120"/>
              </a:rPr>
              <a:t>Where we are</a:t>
            </a:r>
            <a:endParaRPr lang="en-US" sz="3800" dirty="0"/>
          </a:p>
        </p:txBody>
      </p:sp>
      <p:sp>
        <p:nvSpPr>
          <p:cNvPr id="4" name="Shape 2"/>
          <p:cNvSpPr/>
          <p:nvPr/>
        </p:nvSpPr>
        <p:spPr>
          <a:xfrm>
            <a:off x="1005840" y="2103120"/>
            <a:ext cx="1371600" cy="41148"/>
          </a:xfrm>
          <a:prstGeom prst="rect">
            <a:avLst/>
          </a:prstGeom>
          <a:solidFill>
            <a:srgbClr val="16697A"/>
          </a:solidFill>
          <a:ln/>
        </p:spPr>
      </p:sp>
      <p:sp>
        <p:nvSpPr>
          <p:cNvPr id="5" name="Text 3"/>
          <p:cNvSpPr/>
          <p:nvPr/>
        </p:nvSpPr>
        <p:spPr>
          <a:xfrm>
            <a:off x="1005840" y="2514600"/>
            <a:ext cx="10058400" cy="2377440"/>
          </a:xfrm>
          <a:prstGeom prst="rect">
            <a:avLst/>
          </a:prstGeom>
          <a:noFill/>
          <a:ln/>
        </p:spPr>
        <p:txBody>
          <a:bodyPr wrap="square" rtlCol="0" anchor="ctr"/>
          <a:lstStyle/>
          <a:p>
            <a:pPr marL="342900" indent="-342900">
              <a:lnSpc>
                <a:spcPct val="135000"/>
              </a:lnSpc>
              <a:buSzPct val="100000"/>
              <a:buChar char="•"/>
            </a:pPr>
            <a:r>
              <a:rPr lang="en-US" sz="1700" b="1" dirty="0">
                <a:solidFill>
                  <a:srgbClr val="1B1B1F"/>
                </a:solidFill>
                <a:latin typeface="Helvetica" pitchFamily="34" charset="0"/>
                <a:ea typeface="Helvetica" pitchFamily="34" charset="-122"/>
                <a:cs typeface="Helvetica" pitchFamily="34" charset="-120"/>
              </a:rPr>
              <a:t>The scaffolding is finished and proven — repository, contract, CI, review process.</a:t>
            </a:r>
            <a:endParaRPr lang="en-US" sz="1700" dirty="0"/>
          </a:p>
          <a:p>
            <a:pPr marL="342900" indent="-342900">
              <a:lnSpc>
                <a:spcPct val="135000"/>
              </a:lnSpc>
              <a:buSzPct val="100000"/>
              <a:buChar char="•"/>
            </a:pPr>
            <a:r>
              <a:rPr lang="en-US" sz="1700" dirty="0">
                <a:solidFill>
                  <a:srgbClr val="1B1B1F"/>
                </a:solidFill>
                <a:latin typeface="Helvetica" pitchFamily="34" charset="0"/>
                <a:ea typeface="Helvetica" pitchFamily="34" charset="-122"/>
                <a:cs typeface="Helvetica" pitchFamily="34" charset="-120"/>
              </a:rPr>
              <a:t>All three of us are now on the reconstruction engine, because that is the risk worth retiring first.</a:t>
            </a:r>
            <a:endParaRPr lang="en-US" sz="1700" dirty="0"/>
          </a:p>
          <a:p>
            <a:pPr marL="342900" indent="-342900">
              <a:lnSpc>
                <a:spcPct val="135000"/>
              </a:lnSpc>
              <a:buSzPct val="100000"/>
              <a:buChar char="•"/>
            </a:pPr>
            <a:r>
              <a:rPr lang="en-US" sz="1700" dirty="0">
                <a:solidFill>
                  <a:srgbClr val="1B1B1F"/>
                </a:solidFill>
                <a:latin typeface="Helvetica" pitchFamily="34" charset="0"/>
                <a:ea typeface="Helvetica" pitchFamily="34" charset="-122"/>
                <a:cs typeface="Helvetica" pitchFamily="34" charset="-120"/>
              </a:rPr>
              <a:t>The interface is frozen, so capture and inspection can be built against it without waiting.</a:t>
            </a:r>
            <a:endParaRPr lang="en-US" sz="1700" dirty="0"/>
          </a:p>
          <a:p>
            <a:pPr marL="342900" indent="-342900">
              <a:lnSpc>
                <a:spcPct val="135000"/>
              </a:lnSpc>
              <a:buSzPct val="100000"/>
              <a:buChar char="•"/>
            </a:pPr>
            <a:r>
              <a:rPr lang="en-US" sz="1700" dirty="0">
                <a:solidFill>
                  <a:srgbClr val="1B1B1F"/>
                </a:solidFill>
                <a:latin typeface="Helvetica" pitchFamily="34" charset="0"/>
                <a:ea typeface="Helvetica" pitchFamily="34" charset="-122"/>
                <a:cs typeface="Helvetica" pitchFamily="34" charset="-120"/>
              </a:rPr>
              <a:t>M1 will slip by roughly a week. We would rather say that now than at the gate.</a:t>
            </a:r>
            <a:endParaRPr lang="en-US" sz="1700" dirty="0"/>
          </a:p>
        </p:txBody>
      </p:sp>
      <p:sp>
        <p:nvSpPr>
          <p:cNvPr id="6" name="Text 4"/>
          <p:cNvSpPr/>
          <p:nvPr/>
        </p:nvSpPr>
        <p:spPr>
          <a:xfrm>
            <a:off x="1005840" y="5212080"/>
            <a:ext cx="10058400" cy="365760"/>
          </a:xfrm>
          <a:prstGeom prst="rect">
            <a:avLst/>
          </a:prstGeom>
          <a:noFill/>
          <a:ln/>
        </p:spPr>
        <p:txBody>
          <a:bodyPr wrap="square" rtlCol="0" anchor="ctr"/>
          <a:lstStyle/>
          <a:p>
            <a:pPr indent="0" marL="0">
              <a:buNone/>
            </a:pPr>
            <a:r>
              <a:rPr lang="en-US" sz="1500" b="1" dirty="0">
                <a:solidFill>
                  <a:srgbClr val="16697A"/>
                </a:solidFill>
                <a:latin typeface="Helvetica" pitchFamily="34" charset="0"/>
                <a:ea typeface="Helvetica" pitchFamily="34" charset="-122"/>
                <a:cs typeface="Helvetica" pitchFamily="34" charset="-120"/>
              </a:rPr>
              <a:t>github.com/proofshape/proofshape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ProofShape — Progress Review, 18 Sept 2026</dc:title>
  <dc:subject>PptxGenJS Presentation</dc:subject>
  <dc:creator>ProofShape team</dc:creator>
  <cp:lastModifiedBy>ProofShape team</cp:lastModifiedBy>
  <cp:revision>1</cp:revision>
  <dcterms:created xsi:type="dcterms:W3CDTF">2026-09-17T23:34:21Z</dcterms:created>
  <dcterms:modified xsi:type="dcterms:W3CDTF">2026-09-17T23:34:21Z</dcterms:modified>
</cp:coreProperties>
</file>